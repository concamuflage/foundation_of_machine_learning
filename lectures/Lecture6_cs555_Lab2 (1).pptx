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9"/>
  </p:notesMasterIdLst>
  <p:handoutMasterIdLst>
    <p:handoutMasterId r:id="rId10"/>
  </p:handoutMasterIdLst>
  <p:sldIdLst>
    <p:sldId id="630" r:id="rId6"/>
    <p:sldId id="631" r:id="rId7"/>
    <p:sldId id="633" r:id="rId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00" autoAdjust="0"/>
    <p:restoredTop sz="77619" autoAdjust="0"/>
  </p:normalViewPr>
  <p:slideViewPr>
    <p:cSldViewPr snapToGrid="0" snapToObjects="1">
      <p:cViewPr varScale="1">
        <p:scale>
          <a:sx n="98" d="100"/>
          <a:sy n="98" d="100"/>
        </p:scale>
        <p:origin x="1800" y="184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2/26/25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F24F4-3247-2B4F-AACD-C457ED29B7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3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760301"/>
            <a:chOff x="-3" y="6179278"/>
            <a:chExt cx="9158706" cy="760301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12229" y="6314023"/>
              <a:ext cx="4461482" cy="62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 userDrawn="1"/>
        </p:nvSpPr>
        <p:spPr>
          <a:xfrm>
            <a:off x="493229" y="6314023"/>
            <a:ext cx="4461482" cy="44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0BAA5-DBB9-7A4B-A9FE-B89B27DAD475}"/>
              </a:ext>
            </a:extLst>
          </p:cNvPr>
          <p:cNvSpPr txBox="1"/>
          <p:nvPr userDrawn="1"/>
        </p:nvSpPr>
        <p:spPr>
          <a:xfrm>
            <a:off x="2097157" y="651013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26AB9-E969-B14D-AB5F-12B30E87F44D}"/>
              </a:ext>
            </a:extLst>
          </p:cNvPr>
          <p:cNvSpPr txBox="1"/>
          <p:nvPr userDrawn="1"/>
        </p:nvSpPr>
        <p:spPr>
          <a:xfrm>
            <a:off x="2892287" y="653994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70CF7-CB2B-D341-85D1-DA8995C8F78B}"/>
              </a:ext>
            </a:extLst>
          </p:cNvPr>
          <p:cNvSpPr txBox="1"/>
          <p:nvPr userDrawn="1"/>
        </p:nvSpPr>
        <p:spPr>
          <a:xfrm>
            <a:off x="1828800" y="654988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B4D20-55F7-304C-B1B1-0E28EE1C7B7E}"/>
              </a:ext>
            </a:extLst>
          </p:cNvPr>
          <p:cNvSpPr txBox="1"/>
          <p:nvPr userDrawn="1"/>
        </p:nvSpPr>
        <p:spPr>
          <a:xfrm>
            <a:off x="1967948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8CC00E-C97E-7E4C-B48E-34F403E52B28}"/>
              </a:ext>
            </a:extLst>
          </p:cNvPr>
          <p:cNvSpPr txBox="1"/>
          <p:nvPr userDrawn="1"/>
        </p:nvSpPr>
        <p:spPr>
          <a:xfrm>
            <a:off x="1858617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>
          <a:xfrm>
            <a:off x="647141" y="6436314"/>
            <a:ext cx="8384305" cy="288628"/>
            <a:chOff x="647141" y="6436314"/>
            <a:chExt cx="8384305" cy="288628"/>
          </a:xfrm>
        </p:grpSpPr>
        <p:pic>
          <p:nvPicPr>
            <p:cNvPr id="16" name="Picture 15" descr="logo-2.png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 userDrawn="1"/>
          </p:nvSpPr>
          <p:spPr>
            <a:xfrm>
              <a:off x="64714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740898" cy="1470394"/>
          </a:xfrm>
        </p:spPr>
        <p:txBody>
          <a:bodyPr>
            <a:normAutofit fontScale="90000"/>
          </a:bodyPr>
          <a:lstStyle/>
          <a:p>
            <a:r>
              <a:rPr lang="en-US" dirty="0"/>
              <a:t>Multi Linear Regression - </a:t>
            </a:r>
            <a:br>
              <a:rPr lang="en-US" dirty="0"/>
            </a:br>
            <a:r>
              <a:rPr lang="en-US" dirty="0"/>
              <a:t>Foundation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Spring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5D72C-45F9-FB4B-9F32-769A6721A690}"/>
              </a:ext>
            </a:extLst>
          </p:cNvPr>
          <p:cNvSpPr txBox="1"/>
          <p:nvPr/>
        </p:nvSpPr>
        <p:spPr>
          <a:xfrm>
            <a:off x="2379785" y="667043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0967C-8E3D-172D-E371-ECEEA7AEAECD}"/>
              </a:ext>
            </a:extLst>
          </p:cNvPr>
          <p:cNvSpPr txBox="1"/>
          <p:nvPr/>
        </p:nvSpPr>
        <p:spPr>
          <a:xfrm>
            <a:off x="-512618" y="569421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5E19F-E33D-7F18-830C-718D19A66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Read/load “Students” data. You can find it on black board.</a:t>
            </a:r>
          </a:p>
          <a:p>
            <a:r>
              <a:rPr lang="en-US" dirty="0"/>
              <a:t>Predict score as a function of everything else, by running following command:</a:t>
            </a:r>
          </a:p>
          <a:p>
            <a:pPr lvl="1"/>
            <a:r>
              <a:rPr lang="en-US" dirty="0" err="1"/>
              <a:t>Lm</a:t>
            </a:r>
            <a:r>
              <a:rPr lang="en-US" dirty="0"/>
              <a:t>(</a:t>
            </a:r>
            <a:r>
              <a:rPr lang="en-US" dirty="0" err="1"/>
              <a:t>students$score</a:t>
            </a:r>
            <a:r>
              <a:rPr lang="en-US" dirty="0"/>
              <a:t> ~ . , data = students)</a:t>
            </a:r>
          </a:p>
          <a:p>
            <a:pPr lvl="1"/>
            <a:r>
              <a:rPr lang="en-US" dirty="0"/>
              <a:t>Notice R2 is one</a:t>
            </a:r>
          </a:p>
          <a:p>
            <a:r>
              <a:rPr lang="en-US" dirty="0"/>
              <a:t>Explain how you got to perfect prediction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202C43-33A9-3270-1B11-A8E03F63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Question 4</a:t>
            </a:r>
          </a:p>
        </p:txBody>
      </p:sp>
    </p:spTree>
    <p:extLst>
      <p:ext uri="{BB962C8B-B14F-4D97-AF65-F5344CB8AC3E}">
        <p14:creationId xmlns:p14="http://schemas.microsoft.com/office/powerpoint/2010/main" val="142182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D1B9EC-110E-0858-7400-300278C38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 Boston Housing data, which is called “Boston” part of MASS library.</a:t>
            </a:r>
          </a:p>
          <a:p>
            <a:pPr lvl="1"/>
            <a:r>
              <a:rPr lang="en-US" dirty="0"/>
              <a:t>library(MASS)</a:t>
            </a:r>
          </a:p>
          <a:p>
            <a:r>
              <a:rPr lang="en-US" dirty="0"/>
              <a:t>Have a linear model for predicting median value of a house (</a:t>
            </a:r>
            <a:r>
              <a:rPr lang="en-US" dirty="0" err="1"/>
              <a:t>medv</a:t>
            </a:r>
            <a:r>
              <a:rPr lang="en-US" dirty="0"/>
              <a:t>) as a function of the following parameters:</a:t>
            </a:r>
          </a:p>
          <a:p>
            <a:pPr lvl="1"/>
            <a:r>
              <a:rPr lang="en-US" dirty="0" err="1"/>
              <a:t>crim</a:t>
            </a:r>
            <a:r>
              <a:rPr lang="en-US" dirty="0"/>
              <a:t> , </a:t>
            </a:r>
            <a:r>
              <a:rPr lang="en-US" dirty="0" err="1"/>
              <a:t>zn</a:t>
            </a:r>
            <a:r>
              <a:rPr lang="en-US" dirty="0"/>
              <a:t> , </a:t>
            </a:r>
            <a:r>
              <a:rPr lang="en-US" dirty="0" err="1"/>
              <a:t>chas</a:t>
            </a:r>
            <a:r>
              <a:rPr lang="en-US" dirty="0"/>
              <a:t> , </a:t>
            </a:r>
            <a:r>
              <a:rPr lang="en-US" dirty="0" err="1"/>
              <a:t>nox</a:t>
            </a:r>
            <a:r>
              <a:rPr lang="en-US" dirty="0"/>
              <a:t> , rm , age , </a:t>
            </a:r>
            <a:r>
              <a:rPr lang="en-US" dirty="0" err="1"/>
              <a:t>lstat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And also summation of rm and </a:t>
            </a:r>
            <a:r>
              <a:rPr lang="en-US" dirty="0" err="1"/>
              <a:t>lstat</a:t>
            </a:r>
            <a:r>
              <a:rPr lang="en-US" dirty="0"/>
              <a:t>. In order to create a new column of (</a:t>
            </a:r>
            <a:r>
              <a:rPr lang="en-US" dirty="0" err="1"/>
              <a:t>rm+lstat</a:t>
            </a:r>
            <a:r>
              <a:rPr lang="en-US" dirty="0"/>
              <a:t>), you can use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/>
              <a:t>() function, like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slope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/>
              <a:t>(</a:t>
            </a:r>
            <a:r>
              <a:rPr lang="en-US" dirty="0" err="1"/>
              <a:t>rm+lstat</a:t>
            </a:r>
            <a:r>
              <a:rPr lang="en-US" dirty="0"/>
              <a:t>) is “NA”. Why?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08D6186-1555-D53A-8C9D-6B911E4F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Question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A9141-8F8C-8111-39A9-C2BC4F86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16" y="4789832"/>
            <a:ext cx="8507967" cy="3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52264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8608</TotalTime>
  <Words>173</Words>
  <Application>Microsoft Macintosh PowerPoint</Application>
  <PresentationFormat>On-screen Show (4:3)</PresentationFormat>
  <Paragraphs>22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Calibri</vt:lpstr>
      <vt:lpstr>Source Sans Pro</vt:lpstr>
      <vt:lpstr>Source Sans Pro Light</vt:lpstr>
      <vt:lpstr>Times New Roman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Multi Linear Regression -  Foundation of Machine Learning</vt:lpstr>
      <vt:lpstr>Question 4</vt:lpstr>
      <vt:lpstr>Question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Data Analysis and Visualization</dc:title>
  <dc:creator>Farshid Alizadeh Shabdiz</dc:creator>
  <cp:lastModifiedBy>Farshid Alizadeh</cp:lastModifiedBy>
  <cp:revision>140</cp:revision>
  <cp:lastPrinted>2022-02-10T22:35:58Z</cp:lastPrinted>
  <dcterms:created xsi:type="dcterms:W3CDTF">2021-01-23T20:53:28Z</dcterms:created>
  <dcterms:modified xsi:type="dcterms:W3CDTF">2025-02-26T16:10:04Z</dcterms:modified>
</cp:coreProperties>
</file>