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  <p:sldMasterId id="2147483703" r:id="rId3"/>
    <p:sldMasterId id="2147483672" r:id="rId4"/>
    <p:sldMasterId id="2147483718" r:id="rId5"/>
  </p:sldMasterIdLst>
  <p:notesMasterIdLst>
    <p:notesMasterId r:id="rId9"/>
  </p:notesMasterIdLst>
  <p:handoutMasterIdLst>
    <p:handoutMasterId r:id="rId10"/>
  </p:handoutMasterIdLst>
  <p:sldIdLst>
    <p:sldId id="630" r:id="rId6"/>
    <p:sldId id="750" r:id="rId7"/>
    <p:sldId id="751" r:id="rId8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2DA5C"/>
    <a:srgbClr val="D1FF6B"/>
    <a:srgbClr val="597B0D"/>
    <a:srgbClr val="0F7AAD"/>
    <a:srgbClr val="094876"/>
    <a:srgbClr val="14A1E5"/>
    <a:srgbClr val="77E2FF"/>
    <a:srgbClr val="AE4A13"/>
    <a:srgbClr val="9AD519"/>
    <a:srgbClr val="164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 autoAdjust="0"/>
    <p:restoredTop sz="86054" autoAdjust="0"/>
  </p:normalViewPr>
  <p:slideViewPr>
    <p:cSldViewPr snapToGrid="0" snapToObjects="1">
      <p:cViewPr varScale="1">
        <p:scale>
          <a:sx n="109" d="100"/>
          <a:sy n="109" d="100"/>
        </p:scale>
        <p:origin x="2136" y="192"/>
      </p:cViewPr>
      <p:guideLst>
        <p:guide orient="horz" pos="4319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7416"/>
    </p:cViewPr>
  </p:sorterViewPr>
  <p:notesViewPr>
    <p:cSldViewPr snapToGrid="0" snapToObjects="1">
      <p:cViewPr varScale="1">
        <p:scale>
          <a:sx n="114" d="100"/>
          <a:sy n="114" d="100"/>
        </p:scale>
        <p:origin x="-5152" y="-10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FD5D00-21F7-954C-B79D-A429ED413661}" type="datetime1">
              <a:rPr lang="en-US" smtClean="0"/>
              <a:pPr/>
              <a:t>4/4/24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48B806-29CE-7A46-9841-57A57AA4D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65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DDAA38-C52A-B740-83E8-BA3BE7700129}" type="datetime1">
              <a:rPr lang="en-US" smtClean="0"/>
              <a:pPr/>
              <a:t>4/4/24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F24F4-3247-2B4F-AACD-C457ED29B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40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" y="6179278"/>
            <a:ext cx="9158706" cy="690806"/>
            <a:chOff x="-3" y="6179278"/>
            <a:chExt cx="9158706" cy="690806"/>
          </a:xfrm>
        </p:grpSpPr>
        <p:sp>
          <p:nvSpPr>
            <p:cNvPr id="11" name="TextBox 10"/>
            <p:cNvSpPr txBox="1"/>
            <p:nvPr/>
          </p:nvSpPr>
          <p:spPr>
            <a:xfrm>
              <a:off x="333969" y="6603992"/>
              <a:ext cx="4864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Verdana"/>
                  <a:cs typeface="Verdana"/>
                </a:rPr>
                <a:t>©2013 Skyhook Wireless Inc.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 rot="16200000">
              <a:off x="4233947" y="1945328"/>
              <a:ext cx="690806" cy="9158706"/>
              <a:chOff x="4856713" y="308981"/>
              <a:chExt cx="1551428" cy="726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858508" y="5615975"/>
                <a:ext cx="1470438" cy="1953546"/>
              </a:xfrm>
              <a:prstGeom prst="rect">
                <a:avLst/>
              </a:prstGeom>
              <a:solidFill>
                <a:srgbClr val="00418C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856713" y="326033"/>
                <a:ext cx="1472242" cy="4197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35901" y="308981"/>
                <a:ext cx="1472240" cy="41212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A1E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856716" y="3993078"/>
                <a:ext cx="1472240" cy="61289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56714" y="4605977"/>
                <a:ext cx="1472245" cy="1473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56715" y="4753290"/>
                <a:ext cx="1472247" cy="87014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83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rgbClr val="326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449760" cy="1470394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240" y="3429001"/>
            <a:ext cx="6497280" cy="175266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7839" y="6539726"/>
            <a:ext cx="336960" cy="222176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CB934-E044-4302-ADC1-76B15BC7977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 rot="5400000">
            <a:off x="-128291" y="3429000"/>
            <a:ext cx="2488581" cy="144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 rot="5400000">
            <a:off x="358389" y="6642351"/>
            <a:ext cx="207382" cy="1440"/>
          </a:xfrm>
          <a:prstGeom prst="line">
            <a:avLst/>
          </a:prstGeom>
          <a:solidFill>
            <a:srgbClr val="00CC99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133298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7216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E7F03-D07B-7543-BB39-D0631503D827}"/>
              </a:ext>
            </a:extLst>
          </p:cNvPr>
          <p:cNvSpPr txBox="1"/>
          <p:nvPr userDrawn="1"/>
        </p:nvSpPr>
        <p:spPr>
          <a:xfrm>
            <a:off x="2335696" y="6609522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49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9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6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8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53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09038" y="2967831"/>
            <a:ext cx="7544740" cy="91281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solidFill>
                  <a:srgbClr val="004A74"/>
                </a:solidFill>
              </a:defRPr>
            </a:lvl1pPr>
          </a:lstStyle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78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665597" y="-2923823"/>
            <a:ext cx="2057400" cy="8316152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440472" y="358422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 startAt="6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15983" y="2963332"/>
            <a:ext cx="4457700" cy="403755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Today’s agenda: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5983" y="358610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430592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128537" y="2954338"/>
            <a:ext cx="6105525" cy="949736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004A74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004A74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tx2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229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1196" y="2948987"/>
            <a:ext cx="6942137" cy="950619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Source Sans Pro"/>
                <a:cs typeface="Source Sans Pro"/>
              </a:defRPr>
            </a:lvl1pPr>
            <a:lvl2pPr>
              <a:defRPr>
                <a:latin typeface="Source Sans Pro"/>
                <a:cs typeface="Source Sans Pro"/>
              </a:defRPr>
            </a:lvl2pPr>
            <a:lvl3pPr>
              <a:defRPr>
                <a:latin typeface="Source Sans Pro"/>
                <a:cs typeface="Source Sans Pro"/>
              </a:defRPr>
            </a:lvl3pPr>
            <a:lvl4pPr>
              <a:defRPr>
                <a:latin typeface="Source Sans Pro"/>
                <a:cs typeface="Source Sans Pro"/>
              </a:defRPr>
            </a:lvl4pPr>
            <a:lvl5pPr>
              <a:defRPr>
                <a:latin typeface="Source Sans Pro"/>
                <a:cs typeface="Source Sans Pro"/>
              </a:defRPr>
            </a:lvl5pPr>
          </a:lstStyle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• Proprietary and Confidential</a:t>
            </a: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322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84396" y="2926027"/>
            <a:ext cx="5832475" cy="977723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50" dirty="0">
                <a:solidFill>
                  <a:schemeClr val="accent4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accent4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accent4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6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87794" y="2887760"/>
            <a:ext cx="6784975" cy="1058862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72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©2014 CMOS</a:t>
            </a:r>
            <a:r>
              <a:rPr lang="en-US" sz="900" baseline="0" dirty="0">
                <a:solidFill>
                  <a:srgbClr val="FFFFFF"/>
                </a:solidFill>
                <a:latin typeface="Verdana"/>
                <a:cs typeface="Verdana"/>
              </a:rPr>
              <a:t> PA</a:t>
            </a:r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  • Proprietary and Confidential</a:t>
            </a: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5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8" name="Group 7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9" name="Rectangle 8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accent6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32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solidFill>
            <a:schemeClr val="accent1">
              <a:lumMod val="25000"/>
            </a:schemeClr>
          </a:solidFill>
          <a:latin typeface="Source Sans Pro Light"/>
          <a:ea typeface="+mj-ea"/>
          <a:cs typeface="Source Sans Pro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3200" kern="1200">
          <a:solidFill>
            <a:schemeClr val="tx1"/>
          </a:solidFill>
          <a:latin typeface="Source Sans Pro Light"/>
          <a:ea typeface="+mn-ea"/>
          <a:cs typeface="Source Sans Pro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800" kern="1200">
          <a:solidFill>
            <a:schemeClr val="tx1"/>
          </a:solidFill>
          <a:latin typeface="Source Sans Pro Light"/>
          <a:ea typeface="+mn-ea"/>
          <a:cs typeface="Source Sans Pro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400" kern="1200">
          <a:solidFill>
            <a:schemeClr val="tx1"/>
          </a:solidFill>
          <a:latin typeface="Source Sans Pro Light"/>
          <a:ea typeface="+mn-ea"/>
          <a:cs typeface="Source Sans Pro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1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522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I am thoroughly </a:t>
            </a: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disruptive.</a:t>
            </a:r>
            <a:endParaRPr kumimoji="0" lang="en-US" sz="32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702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342900" marR="0" indent="-342900" algn="ctr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28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"/>
            <a:ext cx="9153407" cy="2479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274" y="3367855"/>
            <a:ext cx="3174059" cy="260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1.   Introduction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2.   Setup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3.   Meat of the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4.   Black Sabbath track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5.   Something 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10" name="Rectangle 9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2821" y="6436314"/>
            <a:ext cx="8928625" cy="288628"/>
            <a:chOff x="102821" y="6436314"/>
            <a:chExt cx="8928625" cy="288628"/>
          </a:xfrm>
        </p:grpSpPr>
        <p:pic>
          <p:nvPicPr>
            <p:cNvPr id="17" name="Picture 16" descr="logo-2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2821" y="6436314"/>
              <a:ext cx="5856105" cy="2723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©2014 CMOS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PA</a:t>
              </a: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 • Proprietary and Confidential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69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22" r:id="rId3"/>
    <p:sldLayoutId id="2147483721" r:id="rId4"/>
    <p:sldLayoutId id="2147483724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– Polynomial Regression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Dr. Farshid Alizadeh-</a:t>
            </a:r>
            <a:r>
              <a:rPr lang="en-US" dirty="0" err="1"/>
              <a:t>Shabdiz</a:t>
            </a:r>
            <a:endParaRPr lang="en-US" dirty="0"/>
          </a:p>
          <a:p>
            <a:r>
              <a:rPr lang="en-US" dirty="0"/>
              <a:t>Spring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CB934-E044-4302-ADC1-76B15BC7977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680E87-BA7A-B742-9AB8-70309AB02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76178"/>
            <a:ext cx="8229600" cy="534998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Use “Wage” data and predict Wage as a function of polynomial function of Age</a:t>
            </a:r>
          </a:p>
          <a:p>
            <a:pPr lvl="1"/>
            <a:r>
              <a:rPr lang="en-US" dirty="0"/>
              <a:t>library(ISLR)</a:t>
            </a:r>
          </a:p>
          <a:p>
            <a:pPr lvl="1"/>
            <a:r>
              <a:rPr lang="en-US" dirty="0"/>
              <a:t>Data is called “Wage”</a:t>
            </a:r>
          </a:p>
          <a:p>
            <a:r>
              <a:rPr lang="en-US" u="sng" dirty="0"/>
              <a:t>Question one:</a:t>
            </a:r>
          </a:p>
          <a:p>
            <a:pPr lvl="1"/>
            <a:r>
              <a:rPr lang="en-US" dirty="0">
                <a:latin typeface="Times" pitchFamily="2" charset="0"/>
              </a:rPr>
              <a:t>Predict “wage” as a function of quadratic function of age</a:t>
            </a:r>
          </a:p>
          <a:p>
            <a:pPr lvl="1"/>
            <a:r>
              <a:rPr lang="en-US" dirty="0">
                <a:latin typeface="Times" pitchFamily="2" charset="0"/>
              </a:rPr>
              <a:t>Is quadratic function better </a:t>
            </a:r>
            <a:r>
              <a:rPr lang="en-US">
                <a:latin typeface="Times" pitchFamily="2" charset="0"/>
              </a:rPr>
              <a:t>than linear?</a:t>
            </a:r>
            <a:endParaRPr lang="en-US" dirty="0">
              <a:latin typeface="Times" pitchFamily="2" charset="0"/>
            </a:endParaRPr>
          </a:p>
          <a:p>
            <a:pPr lvl="1"/>
            <a:endParaRPr lang="en-US" dirty="0">
              <a:latin typeface="Times" pitchFamily="2" charset="0"/>
            </a:endParaRPr>
          </a:p>
          <a:p>
            <a:r>
              <a:rPr lang="en-US" u="sng" dirty="0"/>
              <a:t>Question 2:</a:t>
            </a:r>
          </a:p>
          <a:p>
            <a:pPr lvl="1"/>
            <a:r>
              <a:rPr lang="en-US" dirty="0">
                <a:latin typeface="Times" pitchFamily="2" charset="0"/>
              </a:rPr>
              <a:t>It seems like the wages are from two distinct populations: high earners group earning more than $250,000, and a low earners group. </a:t>
            </a:r>
          </a:p>
          <a:p>
            <a:pPr lvl="1"/>
            <a:r>
              <a:rPr lang="en-US" dirty="0">
                <a:latin typeface="Times" pitchFamily="2" charset="0"/>
              </a:rPr>
              <a:t>Treat wage as a binary variable by splitting it into these two groups. </a:t>
            </a:r>
          </a:p>
          <a:p>
            <a:pPr lvl="1"/>
            <a:r>
              <a:rPr lang="en-US" dirty="0">
                <a:latin typeface="Times" pitchFamily="2" charset="0"/>
              </a:rPr>
              <a:t>Use Logistic regression to predict this binary response, using quadratic functions of age as predictors. </a:t>
            </a:r>
          </a:p>
        </p:txBody>
      </p:sp>
    </p:spTree>
    <p:extLst>
      <p:ext uri="{BB962C8B-B14F-4D97-AF65-F5344CB8AC3E}">
        <p14:creationId xmlns:p14="http://schemas.microsoft.com/office/powerpoint/2010/main" val="420629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680E87-BA7A-B742-9AB8-70309AB02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76178"/>
            <a:ext cx="8229600" cy="53499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Use “Wage” data and predict Wage as a function of polynomial function of Age</a:t>
            </a:r>
          </a:p>
          <a:p>
            <a:pPr lvl="1"/>
            <a:r>
              <a:rPr lang="en-US" dirty="0"/>
              <a:t>library(ISLR)</a:t>
            </a:r>
          </a:p>
          <a:p>
            <a:pPr lvl="1"/>
            <a:r>
              <a:rPr lang="en-US" dirty="0"/>
              <a:t>Data is called “Wage”</a:t>
            </a:r>
          </a:p>
          <a:p>
            <a:r>
              <a:rPr lang="en-US" u="sng" dirty="0"/>
              <a:t>Question:</a:t>
            </a:r>
          </a:p>
          <a:p>
            <a:pPr lvl="1"/>
            <a:r>
              <a:rPr lang="en-US" dirty="0">
                <a:latin typeface="Times" pitchFamily="2" charset="0"/>
              </a:rPr>
              <a:t>Predict wage as a function of polynomial function of age</a:t>
            </a:r>
          </a:p>
          <a:p>
            <a:pPr lvl="1"/>
            <a:r>
              <a:rPr lang="en-US" dirty="0">
                <a:latin typeface="Times" pitchFamily="2" charset="0"/>
              </a:rPr>
              <a:t>Decide the best degree of polynomial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089507"/>
      </p:ext>
    </p:extLst>
  </p:cSld>
  <p:clrMapOvr>
    <a:masterClrMapping/>
  </p:clrMapOvr>
</p:sld>
</file>

<file path=ppt/theme/theme1.xml><?xml version="1.0" encoding="utf-8"?>
<a:theme xmlns:a="http://schemas.openxmlformats.org/drawingml/2006/main" name="PPT-Template_1-10-2014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PPT-Template_1-10-2014.potx</Template>
  <TotalTime>36269</TotalTime>
  <Words>163</Words>
  <Application>Microsoft Macintosh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Arial</vt:lpstr>
      <vt:lpstr>Calibri</vt:lpstr>
      <vt:lpstr>Source Sans Pro</vt:lpstr>
      <vt:lpstr>Source Sans Pro Light</vt:lpstr>
      <vt:lpstr>Times</vt:lpstr>
      <vt:lpstr>Verdana</vt:lpstr>
      <vt:lpstr>PPT-Template_1-10-2014</vt:lpstr>
      <vt:lpstr>4_Office Theme</vt:lpstr>
      <vt:lpstr>3_Office Theme</vt:lpstr>
      <vt:lpstr>2_Office Theme</vt:lpstr>
      <vt:lpstr>5_Office Theme</vt:lpstr>
      <vt:lpstr>Lab – Polynomial Regression </vt:lpstr>
      <vt:lpstr>PowerPoint Presentation</vt:lpstr>
      <vt:lpstr>PowerPoint Presentation</vt:lpstr>
    </vt:vector>
  </TitlesOfParts>
  <Company>Skyhook Wireless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Boris Savic</dc:creator>
  <cp:lastModifiedBy>Alizadeh-Shabdiz, Farshid</cp:lastModifiedBy>
  <cp:revision>999</cp:revision>
  <cp:lastPrinted>2020-09-14T18:03:49Z</cp:lastPrinted>
  <dcterms:created xsi:type="dcterms:W3CDTF">2013-11-04T15:09:51Z</dcterms:created>
  <dcterms:modified xsi:type="dcterms:W3CDTF">2024-04-04T15:20:04Z</dcterms:modified>
</cp:coreProperties>
</file>