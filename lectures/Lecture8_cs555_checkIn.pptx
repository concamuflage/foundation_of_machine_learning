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5" r:id="rId2"/>
    <p:sldMasterId id="2147483703" r:id="rId3"/>
    <p:sldMasterId id="2147483672" r:id="rId4"/>
    <p:sldMasterId id="2147483718" r:id="rId5"/>
  </p:sldMasterIdLst>
  <p:notesMasterIdLst>
    <p:notesMasterId r:id="rId10"/>
  </p:notesMasterIdLst>
  <p:handoutMasterIdLst>
    <p:handoutMasterId r:id="rId11"/>
  </p:handoutMasterIdLst>
  <p:sldIdLst>
    <p:sldId id="630" r:id="rId6"/>
    <p:sldId id="632" r:id="rId7"/>
    <p:sldId id="635" r:id="rId8"/>
    <p:sldId id="636" r:id="rId9"/>
  </p:sldIdLst>
  <p:sldSz cx="9144000" cy="6858000" type="screen4x3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B2DA5C"/>
    <a:srgbClr val="D1FF6B"/>
    <a:srgbClr val="597B0D"/>
    <a:srgbClr val="0F7AAD"/>
    <a:srgbClr val="094876"/>
    <a:srgbClr val="14A1E5"/>
    <a:srgbClr val="77E2FF"/>
    <a:srgbClr val="AE4A13"/>
    <a:srgbClr val="9AD519"/>
    <a:srgbClr val="1641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00" autoAdjust="0"/>
    <p:restoredTop sz="77622" autoAdjust="0"/>
  </p:normalViewPr>
  <p:slideViewPr>
    <p:cSldViewPr snapToGrid="0" snapToObjects="1">
      <p:cViewPr varScale="1">
        <p:scale>
          <a:sx n="95" d="100"/>
          <a:sy n="95" d="100"/>
        </p:scale>
        <p:origin x="768" y="176"/>
      </p:cViewPr>
      <p:guideLst>
        <p:guide orient="horz" pos="4319"/>
        <p:guide pos="3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8" d="100"/>
        <a:sy n="158" d="100"/>
      </p:scale>
      <p:origin x="0" y="27416"/>
    </p:cViewPr>
  </p:sorterViewPr>
  <p:notesViewPr>
    <p:cSldViewPr snapToGrid="0" snapToObjects="1">
      <p:cViewPr varScale="1">
        <p:scale>
          <a:sx n="114" d="100"/>
          <a:sy n="114" d="100"/>
        </p:scale>
        <p:origin x="-5152" y="-104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EFD5D00-21F7-954C-B79D-A429ED413661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648B806-29CE-7A46-9841-57A57AA4D1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0365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DDDAA38-C52A-B740-83E8-BA3BE7700129}" type="datetime1">
              <a:rPr lang="en-US" smtClean="0"/>
              <a:pPr/>
              <a:t>3/19/25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F24F4-3247-2B4F-AACD-C457ED29B7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0405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24F4-3247-2B4F-AACD-C457ED29B7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633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 userDrawn="1"/>
        </p:nvGrpSpPr>
        <p:grpSpPr>
          <a:xfrm>
            <a:off x="-3" y="6179278"/>
            <a:ext cx="9158706" cy="760301"/>
            <a:chOff x="-3" y="6179278"/>
            <a:chExt cx="9158706" cy="760301"/>
          </a:xfrm>
        </p:grpSpPr>
        <p:sp>
          <p:nvSpPr>
            <p:cNvPr id="11" name="TextBox 10"/>
            <p:cNvSpPr txBox="1"/>
            <p:nvPr/>
          </p:nvSpPr>
          <p:spPr>
            <a:xfrm>
              <a:off x="333969" y="6603992"/>
              <a:ext cx="486470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solidFill>
                    <a:srgbClr val="FFFFFF"/>
                  </a:solidFill>
                  <a:latin typeface="Verdana"/>
                  <a:cs typeface="Verdana"/>
                </a:rPr>
                <a:t>©2013 Skyhook Wireless Inc.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 rot="16200000">
              <a:off x="4233947" y="1945328"/>
              <a:ext cx="690806" cy="9158706"/>
              <a:chOff x="4856713" y="308981"/>
              <a:chExt cx="1551428" cy="726054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858508" y="5615975"/>
                <a:ext cx="1470438" cy="1953546"/>
              </a:xfrm>
              <a:prstGeom prst="rect">
                <a:avLst/>
              </a:prstGeom>
              <a:solidFill>
                <a:srgbClr val="00418C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856713" y="326033"/>
                <a:ext cx="1472242" cy="41970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4935901" y="308981"/>
                <a:ext cx="1472240" cy="4121238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A1E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4856716" y="3993078"/>
                <a:ext cx="1472240" cy="612898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856714" y="4605977"/>
                <a:ext cx="1472245" cy="147311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4856715" y="4753290"/>
                <a:ext cx="1472247" cy="870143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112229" y="6314023"/>
              <a:ext cx="4461482" cy="6255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  <a:p>
              <a:pPr>
                <a:lnSpc>
                  <a:spcPct val="130000"/>
                </a:lnSpc>
              </a:pP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832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solidFill>
          <a:srgbClr val="326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449760" cy="1470394"/>
          </a:xfrm>
        </p:spPr>
        <p:txBody>
          <a:bodyPr anchor="b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4240" y="3429001"/>
            <a:ext cx="6497280" cy="1752664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7839" y="6539726"/>
            <a:ext cx="336960" cy="222176"/>
          </a:xfrm>
          <a:prstGeom prst="rect">
            <a:avLst/>
          </a:prstGeom>
        </p:spPr>
        <p:txBody>
          <a:bodyPr lIns="82945" tIns="41473" rIns="82945" bIns="41473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41CB934-E044-4302-ADC1-76B15BC7977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 bwMode="auto">
          <a:xfrm rot="5400000">
            <a:off x="-128291" y="3429000"/>
            <a:ext cx="2488581" cy="1440"/>
          </a:xfrm>
          <a:prstGeom prst="line">
            <a:avLst/>
          </a:prstGeom>
          <a:solidFill>
            <a:srgbClr val="00CC99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 userDrawn="1"/>
        </p:nvCxnSpPr>
        <p:spPr bwMode="auto">
          <a:xfrm rot="5400000">
            <a:off x="358389" y="6642351"/>
            <a:ext cx="207382" cy="1440"/>
          </a:xfrm>
          <a:prstGeom prst="line">
            <a:avLst/>
          </a:prstGeom>
          <a:solidFill>
            <a:srgbClr val="00CC99"/>
          </a:solidFill>
          <a:ln w="317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 userDrawn="1"/>
        </p:nvSpPr>
        <p:spPr>
          <a:xfrm>
            <a:off x="493229" y="6314023"/>
            <a:ext cx="4461482" cy="445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13329813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0BAA5-DBB9-7A4B-A9FE-B89B27DAD475}"/>
              </a:ext>
            </a:extLst>
          </p:cNvPr>
          <p:cNvSpPr txBox="1"/>
          <p:nvPr userDrawn="1"/>
        </p:nvSpPr>
        <p:spPr>
          <a:xfrm>
            <a:off x="2097157" y="6510130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326AB9-E969-B14D-AB5F-12B30E87F44D}"/>
              </a:ext>
            </a:extLst>
          </p:cNvPr>
          <p:cNvSpPr txBox="1"/>
          <p:nvPr userDrawn="1"/>
        </p:nvSpPr>
        <p:spPr>
          <a:xfrm>
            <a:off x="2892287" y="653994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E70CF7-CB2B-D341-85D1-DA8995C8F78B}"/>
              </a:ext>
            </a:extLst>
          </p:cNvPr>
          <p:cNvSpPr txBox="1"/>
          <p:nvPr userDrawn="1"/>
        </p:nvSpPr>
        <p:spPr>
          <a:xfrm>
            <a:off x="1828800" y="6549887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AB4D20-55F7-304C-B1B1-0E28EE1C7B7E}"/>
              </a:ext>
            </a:extLst>
          </p:cNvPr>
          <p:cNvSpPr txBox="1"/>
          <p:nvPr userDrawn="1"/>
        </p:nvSpPr>
        <p:spPr>
          <a:xfrm>
            <a:off x="1967948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216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8CC00E-C97E-7E4C-B48E-34F403E52B28}"/>
              </a:ext>
            </a:extLst>
          </p:cNvPr>
          <p:cNvSpPr txBox="1"/>
          <p:nvPr userDrawn="1"/>
        </p:nvSpPr>
        <p:spPr>
          <a:xfrm>
            <a:off x="1858617" y="6569765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34969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993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2062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solidFill>
                  <a:schemeClr val="accent1">
                    <a:lumMod val="25000"/>
                  </a:schemeClr>
                </a:solidFill>
                <a:latin typeface="Source Sans Pro"/>
                <a:cs typeface="Source Sans Pro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28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none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3538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61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531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809038" y="2967831"/>
            <a:ext cx="7544740" cy="91281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>
                <a:solidFill>
                  <a:srgbClr val="004A74"/>
                </a:solidFill>
              </a:defRPr>
            </a:lvl1pPr>
          </a:lstStyle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4137868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 rot="16200000">
            <a:off x="3665597" y="-2923823"/>
            <a:ext cx="2057400" cy="8316152"/>
          </a:xfrm>
        </p:spPr>
        <p:txBody>
          <a:bodyPr vert="eaVert"/>
          <a:lstStyle>
            <a:lvl1pPr>
              <a:defRPr sz="4400"/>
            </a:lvl1pPr>
          </a:lstStyle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 hasCustomPrompt="1"/>
          </p:nvPr>
        </p:nvSpPr>
        <p:spPr>
          <a:xfrm>
            <a:off x="4440472" y="358422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 startAt="6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15983" y="2963332"/>
            <a:ext cx="4457700" cy="403755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Today’s agenda: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12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415983" y="3586101"/>
            <a:ext cx="3785616" cy="2475549"/>
          </a:xfrm>
        </p:spPr>
        <p:txBody>
          <a:bodyPr/>
          <a:lstStyle>
            <a:lvl1pPr marL="457200" indent="-457200">
              <a:lnSpc>
                <a:spcPct val="130000"/>
              </a:lnSpc>
              <a:buFont typeface="+mj-lt"/>
              <a:buAutoNum type="arabicPeriod"/>
              <a:defRPr sz="3200"/>
            </a:lvl1pPr>
          </a:lstStyle>
          <a:p>
            <a:pPr>
              <a:lnSpc>
                <a:spcPct val="130000"/>
              </a:lnSpc>
            </a:pPr>
            <a:r>
              <a:rPr lang="en-US" sz="2000" dirty="0" err="1">
                <a:latin typeface="Source Sans Pro Light"/>
                <a:cs typeface="Source Sans Pro Light"/>
              </a:rPr>
              <a:t>Teslafying</a:t>
            </a:r>
            <a:r>
              <a:rPr lang="en-US" sz="2000" dirty="0">
                <a:latin typeface="Source Sans Pro Light"/>
                <a:cs typeface="Source Sans Pro Light"/>
              </a:rPr>
              <a:t> the presentation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Rock steady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Conclusion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Questions?</a:t>
            </a:r>
          </a:p>
          <a:p>
            <a:pPr>
              <a:lnSpc>
                <a:spcPct val="130000"/>
              </a:lnSpc>
            </a:pPr>
            <a:r>
              <a:rPr lang="en-US" sz="2000" dirty="0">
                <a:latin typeface="Source Sans Pro Light"/>
                <a:cs typeface="Source Sans Pro Light"/>
              </a:rPr>
              <a:t>Signoff and contact info</a:t>
            </a:r>
          </a:p>
        </p:txBody>
      </p:sp>
    </p:spTree>
    <p:extLst>
      <p:ext uri="{BB962C8B-B14F-4D97-AF65-F5344CB8AC3E}">
        <p14:creationId xmlns:p14="http://schemas.microsoft.com/office/powerpoint/2010/main" val="3430592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128537" y="2954338"/>
            <a:ext cx="6105525" cy="949736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rgbClr val="FFFFFF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rgbClr val="FFFFFF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tx2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1942292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1101196" y="2948987"/>
            <a:ext cx="6942137" cy="950619"/>
          </a:xfrm>
          <a:prstGeom prst="rect">
            <a:avLst/>
          </a:prstGeom>
        </p:spPr>
        <p:txBody>
          <a:bodyPr vert="horz"/>
          <a:lstStyle>
            <a:lvl1pPr>
              <a:defRPr>
                <a:latin typeface="Source Sans Pro"/>
                <a:cs typeface="Source Sans Pro"/>
              </a:defRPr>
            </a:lvl1pPr>
            <a:lvl2pPr>
              <a:defRPr>
                <a:latin typeface="Source Sans Pro"/>
                <a:cs typeface="Source Sans Pro"/>
              </a:defRPr>
            </a:lvl2pPr>
            <a:lvl3pPr>
              <a:defRPr>
                <a:latin typeface="Source Sans Pro"/>
                <a:cs typeface="Source Sans Pro"/>
              </a:defRPr>
            </a:lvl3pPr>
            <a:lvl4pPr>
              <a:defRPr>
                <a:latin typeface="Source Sans Pro"/>
                <a:cs typeface="Source Sans Pro"/>
              </a:defRPr>
            </a:lvl4pPr>
            <a:lvl5pPr>
              <a:defRPr>
                <a:latin typeface="Source Sans Pro"/>
                <a:cs typeface="Source Sans Pro"/>
              </a:defRPr>
            </a:lvl5pPr>
          </a:lstStyle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7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1583225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684396" y="2926027"/>
            <a:ext cx="5832475" cy="977723"/>
          </a:xfrm>
          <a:prstGeom prst="rect">
            <a:avLst/>
          </a:prstGeom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spc="50" dirty="0">
                <a:solidFill>
                  <a:schemeClr val="accent4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accent4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accent4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6198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187794" y="2887760"/>
            <a:ext cx="6784975" cy="1058862"/>
          </a:xfrm>
          <a:prstGeom prst="rect">
            <a:avLst/>
          </a:prstGeom>
        </p:spPr>
        <p:txBody>
          <a:bodyPr vert="horz"/>
          <a:lstStyle/>
          <a:p>
            <a:pPr algn="ctr"/>
            <a:r>
              <a:rPr lang="en-US" sz="3200" b="1" spc="50" dirty="0">
                <a:solidFill>
                  <a:schemeClr val="tx2"/>
                </a:solidFill>
                <a:latin typeface="Source Sans Pro Light"/>
                <a:cs typeface="Source Sans Pro Light"/>
              </a:rPr>
              <a:t>I am thoroughly </a:t>
            </a:r>
            <a:r>
              <a:rPr lang="en-US" sz="3200" b="1" spc="50" dirty="0">
                <a:solidFill>
                  <a:schemeClr val="tx2"/>
                </a:solidFill>
                <a:latin typeface="Source Sans Pro"/>
                <a:cs typeface="Source Sans Pro"/>
              </a:rPr>
              <a:t>disruptive.</a:t>
            </a:r>
            <a:endParaRPr lang="en-US" sz="3200" b="1" spc="50" dirty="0">
              <a:solidFill>
                <a:schemeClr val="tx2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  <p:sp>
        <p:nvSpPr>
          <p:cNvPr id="6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rgbClr val="FFFFFF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rgbClr val="FFFFFF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78059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305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8" name="Group 7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9" name="Rectangle 8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 userDrawn="1"/>
        </p:nvGrpSpPr>
        <p:grpSpPr>
          <a:xfrm>
            <a:off x="647141" y="6436314"/>
            <a:ext cx="8384305" cy="288628"/>
            <a:chOff x="647141" y="6436314"/>
            <a:chExt cx="8384305" cy="288628"/>
          </a:xfrm>
        </p:grpSpPr>
        <p:pic>
          <p:nvPicPr>
            <p:cNvPr id="16" name="Picture 15" descr="logo-2.png"/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 userDrawn="1"/>
          </p:nvSpPr>
          <p:spPr>
            <a:xfrm>
              <a:off x="64714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  <p:sp>
        <p:nvSpPr>
          <p:cNvPr id="19" name="Slide Number Placeholder 4"/>
          <p:cNvSpPr txBox="1">
            <a:spLocks/>
          </p:cNvSpPr>
          <p:nvPr userDrawn="1"/>
        </p:nvSpPr>
        <p:spPr bwMode="auto">
          <a:xfrm>
            <a:off x="272639" y="6400800"/>
            <a:ext cx="371475" cy="455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0" tIns="45706" rIns="91410" bIns="45706"/>
          <a:lstStyle>
            <a:defPPr>
              <a:defRPr lang="en-US"/>
            </a:defPPr>
            <a:lvl1pPr marL="0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742411" indent="-285543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114216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599039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2055907" indent="-228435" algn="l" defTabSz="457200" rtl="0" eaLnBrk="0" latinLnBrk="0" hangingPunct="0"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512777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969644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426515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883381" indent="-228435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FFFFFF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ctr"/>
            <a:fld id="{8DA07FD4-9989-114B-8795-A0896A13FFB7}" type="slidenum">
              <a:rPr lang="en-US" sz="1400" smtClean="0">
                <a:solidFill>
                  <a:schemeClr val="accent6"/>
                </a:solidFill>
                <a:latin typeface="Source Sans Pro Light"/>
                <a:cs typeface="Source Sans Pro Light"/>
              </a:rPr>
              <a:pPr algn="ctr"/>
              <a:t>‹#›</a:t>
            </a:fld>
            <a:endParaRPr lang="en-US" sz="1400" dirty="0">
              <a:solidFill>
                <a:schemeClr val="accent6"/>
              </a:solidFill>
              <a:latin typeface="Source Sans Pro Light"/>
              <a:cs typeface="Source Sans Pro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089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32" r:id="rId2"/>
    <p:sldLayoutId id="2147483684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solidFill>
            <a:schemeClr val="accent1">
              <a:lumMod val="25000"/>
            </a:schemeClr>
          </a:solidFill>
          <a:latin typeface="Source Sans Pro Light"/>
          <a:ea typeface="+mj-ea"/>
          <a:cs typeface="Source Sans Pro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3200" kern="1200">
          <a:solidFill>
            <a:schemeClr val="tx1"/>
          </a:solidFill>
          <a:latin typeface="Source Sans Pro Light"/>
          <a:ea typeface="+mn-ea"/>
          <a:cs typeface="Source Sans Pro Light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800" kern="1200">
          <a:solidFill>
            <a:schemeClr val="tx1"/>
          </a:solidFill>
          <a:latin typeface="Source Sans Pro Light"/>
          <a:ea typeface="+mn-ea"/>
          <a:cs typeface="Source Sans Pro Light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400" kern="1200">
          <a:solidFill>
            <a:schemeClr val="tx1"/>
          </a:solidFill>
          <a:latin typeface="Source Sans Pro Light"/>
          <a:ea typeface="+mn-ea"/>
          <a:cs typeface="Source Sans Pro Light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accent4"/>
        </a:buClr>
        <a:buSzPct val="75000"/>
        <a:buFontTx/>
        <a:buBlip>
          <a:blip r:embed="rId12"/>
        </a:buBlip>
        <a:defRPr sz="2000" kern="1200">
          <a:solidFill>
            <a:schemeClr val="tx1"/>
          </a:solidFill>
          <a:latin typeface="Source Sans Pro Light"/>
          <a:ea typeface="+mn-ea"/>
          <a:cs typeface="Source Sans Pro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8522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I am thoroughly </a:t>
            </a:r>
            <a:r>
              <a:rPr kumimoji="0" lang="en-US" sz="3200" b="1" i="0" u="none" strike="noStrike" kern="1200" cap="none" spc="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+mn-ea"/>
                <a:cs typeface="Source Sans Pro"/>
              </a:rPr>
              <a:t>disruptive.</a:t>
            </a:r>
            <a:endParaRPr kumimoji="0" lang="en-US" sz="3200" b="1" i="0" u="none" strike="noStrike" kern="1200" cap="none" spc="5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Light"/>
              <a:ea typeface="+mn-ea"/>
              <a:cs typeface="Source Sans Pro Light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702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</p:sldLayoutIdLst>
  <p:hf hdr="0" ftr="0" dt="0"/>
  <p:txStyles>
    <p:titleStyle>
      <a:lvl1pPr marL="342900" marR="0" indent="-342900" algn="ctr" defTabSz="4572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Tx/>
        <a:buFontTx/>
        <a:buNone/>
        <a:tabLst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47141" y="6436314"/>
            <a:ext cx="5856105" cy="25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Boston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University </a:t>
            </a:r>
            <a:r>
              <a:rPr lang="mr-IN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–</a:t>
            </a:r>
            <a:r>
              <a:rPr lang="en-US" sz="900" baseline="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 CS555, Data Analysis, F. Alizadeh-</a:t>
            </a:r>
            <a:r>
              <a:rPr lang="en-US" sz="900" baseline="0" dirty="0" err="1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rPr>
              <a:t>Shabdiz</a:t>
            </a:r>
            <a:endParaRPr lang="en-US" sz="900" dirty="0">
              <a:solidFill>
                <a:schemeClr val="accent1">
                  <a:lumMod val="25000"/>
                </a:schemeClr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84285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"/>
            <a:ext cx="9153407" cy="24795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One simple lead statement. Use </a:t>
            </a:r>
            <a:r>
              <a:rPr lang="en-US" sz="3200" b="1" spc="50" dirty="0">
                <a:solidFill>
                  <a:schemeClr val="accent6"/>
                </a:solidFill>
                <a:latin typeface="Source Sans Pro"/>
                <a:cs typeface="Source Sans Pro"/>
              </a:rPr>
              <a:t>bold for emphasis</a:t>
            </a:r>
            <a:r>
              <a:rPr lang="en-US" sz="3200" b="1" spc="50" dirty="0">
                <a:solidFill>
                  <a:schemeClr val="accent6"/>
                </a:solidFill>
                <a:latin typeface="Source Sans Pro Light"/>
                <a:cs typeface="Source Sans Pro Light"/>
              </a:rPr>
              <a:t>, but please do it sparingly.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5274" y="3367855"/>
            <a:ext cx="3174059" cy="2607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1.   Introduction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2.   Setup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3.   Meat of the presentation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4.   Black Sabbath track</a:t>
            </a:r>
          </a:p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/>
                <a:ea typeface="+mn-ea"/>
                <a:cs typeface="Source Sans Pro Light"/>
              </a:rPr>
              <a:t>5.   Something cool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562" y="6603992"/>
            <a:ext cx="48647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FF"/>
                </a:solidFill>
                <a:latin typeface="Verdana"/>
                <a:cs typeface="Verdana"/>
              </a:rPr>
              <a:t>©2013 Skyhook Wireless Inc.</a:t>
            </a:r>
          </a:p>
        </p:txBody>
      </p:sp>
      <p:grpSp>
        <p:nvGrpSpPr>
          <p:cNvPr id="9" name="Group 8"/>
          <p:cNvGrpSpPr/>
          <p:nvPr/>
        </p:nvGrpSpPr>
        <p:grpSpPr>
          <a:xfrm rot="16200000">
            <a:off x="4502079" y="2222868"/>
            <a:ext cx="145142" cy="9149290"/>
            <a:chOff x="4856713" y="316444"/>
            <a:chExt cx="1472249" cy="7253076"/>
          </a:xfrm>
        </p:grpSpPr>
        <p:sp>
          <p:nvSpPr>
            <p:cNvPr id="10" name="Rectangle 9"/>
            <p:cNvSpPr/>
            <p:nvPr/>
          </p:nvSpPr>
          <p:spPr>
            <a:xfrm>
              <a:off x="4858508" y="5893765"/>
              <a:ext cx="1470438" cy="1675755"/>
            </a:xfrm>
            <a:prstGeom prst="rect">
              <a:avLst/>
            </a:prstGeom>
            <a:solidFill>
              <a:srgbClr val="00418C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856713" y="326033"/>
              <a:ext cx="1472242" cy="41970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856715" y="316444"/>
              <a:ext cx="1472241" cy="411377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1E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856714" y="4430221"/>
              <a:ext cx="1472241" cy="49730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856713" y="4915427"/>
              <a:ext cx="1472244" cy="147311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856718" y="5031080"/>
              <a:ext cx="1472244" cy="86268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102821" y="6436314"/>
            <a:ext cx="8928625" cy="288628"/>
            <a:chOff x="102821" y="6436314"/>
            <a:chExt cx="8928625" cy="288628"/>
          </a:xfrm>
        </p:grpSpPr>
        <p:pic>
          <p:nvPicPr>
            <p:cNvPr id="17" name="Picture 16" descr="logo-2.png"/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88346" y="6460338"/>
              <a:ext cx="1943100" cy="264604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2821" y="6436314"/>
              <a:ext cx="5856105" cy="2512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4572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90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Boston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University </a:t>
              </a:r>
              <a:r>
                <a:rPr lang="mr-IN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–</a:t>
              </a:r>
              <a:r>
                <a:rPr lang="en-US" sz="900" baseline="0" dirty="0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 CS555, Data Analysis, F. Alizadeh-</a:t>
              </a:r>
              <a:r>
                <a:rPr lang="en-US" sz="900" baseline="0" dirty="0" err="1">
                  <a:solidFill>
                    <a:schemeClr val="accent1">
                      <a:lumMod val="25000"/>
                    </a:schemeClr>
                  </a:solidFill>
                  <a:latin typeface="Verdana"/>
                  <a:cs typeface="Verdana"/>
                </a:rPr>
                <a:t>Shabdiz</a:t>
              </a:r>
              <a:endParaRPr lang="en-US" sz="900" dirty="0">
                <a:solidFill>
                  <a:schemeClr val="accent1">
                    <a:lumMod val="25000"/>
                  </a:schemeClr>
                </a:solidFill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692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506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9" r:id="rId2"/>
    <p:sldLayoutId id="2147483722" r:id="rId3"/>
    <p:sldLayoutId id="2147483721" r:id="rId4"/>
    <p:sldLayoutId id="2147483724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457200" rtl="0" eaLnBrk="1" fontAlgn="auto" latinLnBrk="0" hangingPunct="1">
        <a:lnSpc>
          <a:spcPct val="13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4240" y="1880838"/>
            <a:ext cx="6740898" cy="1470394"/>
          </a:xfrm>
        </p:spPr>
        <p:txBody>
          <a:bodyPr>
            <a:normAutofit/>
          </a:bodyPr>
          <a:lstStyle/>
          <a:p>
            <a:r>
              <a:rPr lang="en-US" dirty="0"/>
              <a:t>Foundation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Dr. Farshid Alizadeh-</a:t>
            </a:r>
            <a:r>
              <a:rPr lang="en-US" dirty="0" err="1"/>
              <a:t>Shabdiz</a:t>
            </a:r>
            <a:endParaRPr lang="en-US" dirty="0"/>
          </a:p>
          <a:p>
            <a:r>
              <a:rPr lang="en-US" dirty="0"/>
              <a:t>Spring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1CB934-E044-4302-ADC1-76B15BC7977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D5D72C-45F9-FB4B-9F32-769A6721A690}"/>
              </a:ext>
            </a:extLst>
          </p:cNvPr>
          <p:cNvSpPr txBox="1"/>
          <p:nvPr/>
        </p:nvSpPr>
        <p:spPr>
          <a:xfrm>
            <a:off x="2379785" y="6670431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967C-8E3D-172D-E371-ECEEA7AEAECD}"/>
              </a:ext>
            </a:extLst>
          </p:cNvPr>
          <p:cNvSpPr txBox="1"/>
          <p:nvPr/>
        </p:nvSpPr>
        <p:spPr>
          <a:xfrm>
            <a:off x="-512618" y="5694218"/>
            <a:ext cx="0" cy="0"/>
          </a:xfrm>
          <a:prstGeom prst="rect">
            <a:avLst/>
          </a:prstGeom>
        </p:spPr>
        <p:txBody>
          <a:bodyPr vert="horz" wrap="none" lIns="91440" tIns="45720" rIns="91440" bIns="45720" rtlCol="0">
            <a:normAutofit fontScale="25000" lnSpcReduction="20000"/>
          </a:bodyPr>
          <a:lstStyle/>
          <a:p>
            <a:endParaRPr lang="en-US" sz="2000" dirty="0">
              <a:solidFill>
                <a:prstClr val="black"/>
              </a:solidFill>
              <a:latin typeface="Source Sans Pro Light"/>
              <a:cs typeface="Source Sans Pro Ligh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F03B56-41EB-4FC9-40B6-72534D115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324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are building a model to predict stock value using three parameters, </a:t>
            </a:r>
          </a:p>
          <a:p>
            <a:pPr lvl="1"/>
            <a:r>
              <a:rPr lang="en-US" dirty="0"/>
              <a:t>Beta: </a:t>
            </a:r>
            <a:r>
              <a:rPr lang="en-US" b="0" i="0" u="none" strike="noStrike" dirty="0">
                <a:solidFill>
                  <a:srgbClr val="374151"/>
                </a:solidFill>
                <a:effectLst/>
                <a:latin typeface="Inter"/>
              </a:rPr>
              <a:t>The volatility of returns for an investment, relative to the market.</a:t>
            </a:r>
            <a:endParaRPr lang="en-US" dirty="0"/>
          </a:p>
          <a:p>
            <a:pPr lvl="1"/>
            <a:r>
              <a:rPr lang="en-US" dirty="0"/>
              <a:t>Revenue</a:t>
            </a:r>
          </a:p>
          <a:p>
            <a:pPr lvl="1"/>
            <a:r>
              <a:rPr lang="en-US" dirty="0"/>
              <a:t>P/E ratio: profit to earning</a:t>
            </a:r>
          </a:p>
          <a:p>
            <a:r>
              <a:rPr lang="en-US" dirty="0"/>
              <a:t> You have used 30 days of the stock price of the company.</a:t>
            </a:r>
          </a:p>
          <a:p>
            <a:r>
              <a:rPr lang="en-US" dirty="0"/>
              <a:t>Total standard deviation of the prices is 12.4</a:t>
            </a:r>
          </a:p>
          <a:p>
            <a:r>
              <a:rPr lang="en-US" dirty="0"/>
              <a:t>Residual standard deviation of your model is 9.2.</a:t>
            </a:r>
          </a:p>
          <a:p>
            <a:r>
              <a:rPr lang="en-US" dirty="0"/>
              <a:t>Test the significance of this solution with confidence interval of 95%.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7CBB581F-28E1-C99A-DE4F-9C21F6FD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2213185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775E32-09A0-D339-1EE3-5D999FEB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48691"/>
          </a:xfrm>
        </p:spPr>
        <p:txBody>
          <a:bodyPr>
            <a:normAutofit fontScale="92500" lnSpcReduction="10000"/>
          </a:bodyPr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Test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if miles per gallon (</a:t>
            </a:r>
            <a:r>
              <a:rPr lang="en-US" dirty="0"/>
              <a:t>mpg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 varies across different numbers of cylinders (</a:t>
            </a:r>
            <a:r>
              <a:rPr lang="en-US" dirty="0" err="1"/>
              <a:t>cyl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),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using “</a:t>
            </a:r>
            <a:r>
              <a:rPr lang="en-US" b="0" i="0" u="none" strike="noStrike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mtcars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” dataset available in R.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Confidence interval of 90%</a:t>
            </a:r>
          </a:p>
          <a:p>
            <a:pPr lvl="1"/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If you don’t see the data run following command:</a:t>
            </a:r>
          </a:p>
          <a:p>
            <a:pPr marL="457200" lvl="1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endParaRPr lang="en-US" b="0" i="0" u="none" strike="noStrike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Important note: number of cylinders has to be considered as a categorical variable.</a:t>
            </a:r>
          </a:p>
          <a:p>
            <a:endParaRPr lang="en-US" dirty="0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2C1E38F7-B2DE-F06F-40CA-B0EACFBB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algn="l"/>
            <a:r>
              <a:rPr lang="en-US" dirty="0"/>
              <a:t>Question 2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D5BFA51-192F-735D-FC82-9DC128D9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C3CAE44-79D0-649E-E57F-03DB37183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465EE586-7EE2-BB21-9F97-0113AFB50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37EF725-EF11-E9C8-684B-6F373DDED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F47964CA-B512-AD03-6E7C-0563FF997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C3A56A0-A3E8-8080-B0FA-8FFCE3E27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>
            <a:extLst>
              <a:ext uri="{FF2B5EF4-FFF2-40B4-BE49-F238E27FC236}">
                <a16:creationId xmlns:a16="http://schemas.microsoft.com/office/drawing/2014/main" id="{AD7E948F-A07F-543C-D7B2-3B890ECF6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E7C74C4-9E38-FE03-3904-29BBEB9A9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>
            <a:extLst>
              <a:ext uri="{FF2B5EF4-FFF2-40B4-BE49-F238E27FC236}">
                <a16:creationId xmlns:a16="http://schemas.microsoft.com/office/drawing/2014/main" id="{2B84C2F3-2477-F1B8-309B-A9FBB548B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F4388A74-0666-AC40-F61A-C8109633C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BD332906-ABD2-F932-AEBC-C30FC9D206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D70A7B7-D71E-36C5-7DF9-AF5761820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extLst>
              <a:ext uri="{FF2B5EF4-FFF2-40B4-BE49-F238E27FC236}">
                <a16:creationId xmlns:a16="http://schemas.microsoft.com/office/drawing/2014/main" id="{075D11D3-92BE-5DD9-4784-4F49A3F7A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E5FD55D-A0AD-0D18-8127-EF454A112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>
            <a:extLst>
              <a:ext uri="{FF2B5EF4-FFF2-40B4-BE49-F238E27FC236}">
                <a16:creationId xmlns:a16="http://schemas.microsoft.com/office/drawing/2014/main" id="{074A1B8E-545D-A509-C00B-55DCE4F93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20F4F2B1-70FD-89D1-6154-7A31A3AD6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>
            <a:extLst>
              <a:ext uri="{FF2B5EF4-FFF2-40B4-BE49-F238E27FC236}">
                <a16:creationId xmlns:a16="http://schemas.microsoft.com/office/drawing/2014/main" id="{73017C24-791A-31C4-D917-5BC046008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08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A0475B37-C25D-D900-6021-44D316F7B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7000" cy="1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F99DC02-ECBE-45A0-80BD-DB625D3B5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4121523"/>
            <a:ext cx="7783486" cy="58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7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11A2F5-8F22-8AC5-DEA9-E34F21A68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Calculate P value corresponding to question 2.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878AE387-7323-C77F-E92D-8C0E8DFD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3649340895"/>
      </p:ext>
    </p:extLst>
  </p:cSld>
  <p:clrMapOvr>
    <a:masterClrMapping/>
  </p:clrMapOvr>
</p:sld>
</file>

<file path=ppt/theme/theme1.xml><?xml version="1.0" encoding="utf-8"?>
<a:theme xmlns:a="http://schemas.openxmlformats.org/drawingml/2006/main" name="PPT-Template_1-10-2014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>
          <a:defRPr sz="2000" dirty="0" smtClean="0">
            <a:solidFill>
              <a:prstClr val="black"/>
            </a:solidFill>
            <a:latin typeface="Source Sans Pro Light"/>
            <a:cs typeface="Source Sans Pro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5_Office Theme">
  <a:themeElements>
    <a:clrScheme name="Custom 4">
      <a:dk1>
        <a:sysClr val="windowText" lastClr="000000"/>
      </a:dk1>
      <a:lt1>
        <a:sysClr val="window" lastClr="FFFFFF"/>
      </a:lt1>
      <a:dk2>
        <a:srgbClr val="004A74"/>
      </a:dk2>
      <a:lt2>
        <a:srgbClr val="FED292"/>
      </a:lt2>
      <a:accent1>
        <a:srgbClr val="E5E0DB"/>
      </a:accent1>
      <a:accent2>
        <a:srgbClr val="887F79"/>
      </a:accent2>
      <a:accent3>
        <a:srgbClr val="C2BDB9"/>
      </a:accent3>
      <a:accent4>
        <a:srgbClr val="00A1E1"/>
      </a:accent4>
      <a:accent5>
        <a:srgbClr val="F69386"/>
      </a:accent5>
      <a:accent6>
        <a:srgbClr val="FF6B00"/>
      </a:accent6>
      <a:hlink>
        <a:srgbClr val="FF6B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8676</TotalTime>
  <Words>162</Words>
  <Application>Microsoft Macintosh PowerPoint</Application>
  <PresentationFormat>On-screen Show (4:3)</PresentationFormat>
  <Paragraphs>25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-webkit-standard</vt:lpstr>
      <vt:lpstr>Arial</vt:lpstr>
      <vt:lpstr>Calibri</vt:lpstr>
      <vt:lpstr>Inter</vt:lpstr>
      <vt:lpstr>Source Sans Pro</vt:lpstr>
      <vt:lpstr>Source Sans Pro Light</vt:lpstr>
      <vt:lpstr>Verdana</vt:lpstr>
      <vt:lpstr>Verdana</vt:lpstr>
      <vt:lpstr>PPT-Template_1-10-2014</vt:lpstr>
      <vt:lpstr>4_Office Theme</vt:lpstr>
      <vt:lpstr>3_Office Theme</vt:lpstr>
      <vt:lpstr>2_Office Theme</vt:lpstr>
      <vt:lpstr>5_Office Theme</vt:lpstr>
      <vt:lpstr>Foundation of Machine Learning</vt:lpstr>
      <vt:lpstr>Question 1</vt:lpstr>
      <vt:lpstr>Question 2</vt:lpstr>
      <vt:lpstr>Question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Data Analysis and Visualization</dc:title>
  <dc:creator>Farshid Alizadeh Shabdiz</dc:creator>
  <cp:lastModifiedBy>Farshid Alizadeh</cp:lastModifiedBy>
  <cp:revision>141</cp:revision>
  <cp:lastPrinted>2022-02-10T22:35:58Z</cp:lastPrinted>
  <dcterms:created xsi:type="dcterms:W3CDTF">2021-01-23T20:53:28Z</dcterms:created>
  <dcterms:modified xsi:type="dcterms:W3CDTF">2025-03-19T13:54:00Z</dcterms:modified>
</cp:coreProperties>
</file>