
<file path=[Content_Types].xml><?xml version="1.0" encoding="utf-8"?>
<Types xmlns="http://schemas.openxmlformats.org/package/2006/content-types">
  <Default Extension="bin" ContentType="application/vnd.openxmlformats-officedocument.oleObject"/>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slideLayouts/slideLayout11.xml" ContentType="application/vnd.openxmlformats-officedocument.presentationml.slideLayout+xml"/>
  <Override PartName="/ppt/theme/theme3.xml" ContentType="application/vnd.openxmlformats-officedocument.theme+xml"/>
  <Override PartName="/ppt/slideLayouts/slideLayout12.xml" ContentType="application/vnd.openxmlformats-officedocument.presentationml.slideLayout+xml"/>
  <Override PartName="/ppt/theme/theme4.xml" ContentType="application/vnd.openxmlformats-officedocument.them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705" r:id="rId2"/>
    <p:sldMasterId id="2147483703" r:id="rId3"/>
    <p:sldMasterId id="2147483672" r:id="rId4"/>
    <p:sldMasterId id="2147483718" r:id="rId5"/>
  </p:sldMasterIdLst>
  <p:notesMasterIdLst>
    <p:notesMasterId r:id="rId113"/>
  </p:notesMasterIdLst>
  <p:handoutMasterIdLst>
    <p:handoutMasterId r:id="rId114"/>
  </p:handoutMasterIdLst>
  <p:sldIdLst>
    <p:sldId id="630" r:id="rId6"/>
    <p:sldId id="777" r:id="rId7"/>
    <p:sldId id="756" r:id="rId8"/>
    <p:sldId id="932" r:id="rId9"/>
    <p:sldId id="929" r:id="rId10"/>
    <p:sldId id="754" r:id="rId11"/>
    <p:sldId id="933" r:id="rId12"/>
    <p:sldId id="934" r:id="rId13"/>
    <p:sldId id="936" r:id="rId14"/>
    <p:sldId id="779" r:id="rId15"/>
    <p:sldId id="937" r:id="rId16"/>
    <p:sldId id="782" r:id="rId17"/>
    <p:sldId id="931" r:id="rId18"/>
    <p:sldId id="938" r:id="rId19"/>
    <p:sldId id="939" r:id="rId20"/>
    <p:sldId id="786" r:id="rId21"/>
    <p:sldId id="935" r:id="rId22"/>
    <p:sldId id="809" r:id="rId23"/>
    <p:sldId id="959" r:id="rId24"/>
    <p:sldId id="792" r:id="rId25"/>
    <p:sldId id="950" r:id="rId26"/>
    <p:sldId id="833" r:id="rId27"/>
    <p:sldId id="834" r:id="rId28"/>
    <p:sldId id="840" r:id="rId29"/>
    <p:sldId id="958" r:id="rId30"/>
    <p:sldId id="873" r:id="rId31"/>
    <p:sldId id="874" r:id="rId32"/>
    <p:sldId id="876" r:id="rId33"/>
    <p:sldId id="944" r:id="rId34"/>
    <p:sldId id="911" r:id="rId35"/>
    <p:sldId id="902" r:id="rId36"/>
    <p:sldId id="961" r:id="rId37"/>
    <p:sldId id="945" r:id="rId38"/>
    <p:sldId id="895" r:id="rId39"/>
    <p:sldId id="896" r:id="rId40"/>
    <p:sldId id="897" r:id="rId41"/>
    <p:sldId id="903" r:id="rId42"/>
    <p:sldId id="947" r:id="rId43"/>
    <p:sldId id="948" r:id="rId44"/>
    <p:sldId id="925" r:id="rId45"/>
    <p:sldId id="926" r:id="rId46"/>
    <p:sldId id="952" r:id="rId47"/>
    <p:sldId id="927" r:id="rId48"/>
    <p:sldId id="928" r:id="rId49"/>
    <p:sldId id="946" r:id="rId50"/>
    <p:sldId id="949" r:id="rId51"/>
    <p:sldId id="881" r:id="rId52"/>
    <p:sldId id="887" r:id="rId53"/>
    <p:sldId id="880" r:id="rId54"/>
    <p:sldId id="888" r:id="rId55"/>
    <p:sldId id="889" r:id="rId56"/>
    <p:sldId id="890" r:id="rId57"/>
    <p:sldId id="891" r:id="rId58"/>
    <p:sldId id="906" r:id="rId59"/>
    <p:sldId id="919" r:id="rId60"/>
    <p:sldId id="964" r:id="rId61"/>
    <p:sldId id="912" r:id="rId62"/>
    <p:sldId id="941" r:id="rId63"/>
    <p:sldId id="908" r:id="rId64"/>
    <p:sldId id="910" r:id="rId65"/>
    <p:sldId id="951" r:id="rId66"/>
    <p:sldId id="956" r:id="rId67"/>
    <p:sldId id="954" r:id="rId68"/>
    <p:sldId id="953" r:id="rId69"/>
    <p:sldId id="955" r:id="rId70"/>
    <p:sldId id="957" r:id="rId71"/>
    <p:sldId id="977" r:id="rId72"/>
    <p:sldId id="962" r:id="rId73"/>
    <p:sldId id="963" r:id="rId74"/>
    <p:sldId id="978" r:id="rId75"/>
    <p:sldId id="980" r:id="rId76"/>
    <p:sldId id="979" r:id="rId77"/>
    <p:sldId id="632" r:id="rId78"/>
    <p:sldId id="635" r:id="rId79"/>
    <p:sldId id="637" r:id="rId80"/>
    <p:sldId id="652" r:id="rId81"/>
    <p:sldId id="654" r:id="rId82"/>
    <p:sldId id="981" r:id="rId83"/>
    <p:sldId id="660" r:id="rId84"/>
    <p:sldId id="664" r:id="rId85"/>
    <p:sldId id="665" r:id="rId86"/>
    <p:sldId id="982" r:id="rId87"/>
    <p:sldId id="983" r:id="rId88"/>
    <p:sldId id="984" r:id="rId89"/>
    <p:sldId id="985" r:id="rId90"/>
    <p:sldId id="986" r:id="rId91"/>
    <p:sldId id="987" r:id="rId92"/>
    <p:sldId id="988" r:id="rId93"/>
    <p:sldId id="989" r:id="rId94"/>
    <p:sldId id="990" r:id="rId95"/>
    <p:sldId id="992" r:id="rId96"/>
    <p:sldId id="993" r:id="rId97"/>
    <p:sldId id="994" r:id="rId98"/>
    <p:sldId id="642" r:id="rId99"/>
    <p:sldId id="646" r:id="rId100"/>
    <p:sldId id="648" r:id="rId101"/>
    <p:sldId id="633" r:id="rId102"/>
    <p:sldId id="631" r:id="rId103"/>
    <p:sldId id="996" r:id="rId104"/>
    <p:sldId id="995" r:id="rId105"/>
    <p:sldId id="998" r:id="rId106"/>
    <p:sldId id="1000" r:id="rId107"/>
    <p:sldId id="1001" r:id="rId108"/>
    <p:sldId id="1003" r:id="rId109"/>
    <p:sldId id="1002" r:id="rId110"/>
    <p:sldId id="960" r:id="rId111"/>
    <p:sldId id="1004" r:id="rId112"/>
  </p:sldIdLst>
  <p:sldSz cx="9144000" cy="6858000" type="screen4x3"/>
  <p:notesSz cx="7010400" cy="92964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319">
          <p15:clr>
            <a:srgbClr val="A4A3A4"/>
          </p15:clr>
        </p15:guide>
        <p15:guide id="2" pos="340">
          <p15:clr>
            <a:srgbClr val="A4A3A4"/>
          </p15:clr>
        </p15:guide>
      </p15:sldGuideLst>
    </p:ext>
    <p:ext uri="{2D200454-40CA-4A62-9FC3-DE9A4176ACB9}">
      <p15:notesGuideLst xmlns:p15="http://schemas.microsoft.com/office/powerpoint/2012/main">
        <p15:guide id="1" orient="horz" pos="2928">
          <p15:clr>
            <a:srgbClr val="A4A3A4"/>
          </p15:clr>
        </p15:guide>
        <p15:guide id="2" pos="2208">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clrMru>
    <a:srgbClr val="B2DA5C"/>
    <a:srgbClr val="D1FF6B"/>
    <a:srgbClr val="597B0D"/>
    <a:srgbClr val="0F7AAD"/>
    <a:srgbClr val="094876"/>
    <a:srgbClr val="14A1E5"/>
    <a:srgbClr val="77E2FF"/>
    <a:srgbClr val="AE4A13"/>
    <a:srgbClr val="9AD519"/>
    <a:srgbClr val="164119"/>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6223" autoAdjust="0"/>
    <p:restoredTop sz="86395" autoAdjust="0"/>
  </p:normalViewPr>
  <p:slideViewPr>
    <p:cSldViewPr snapToGrid="0" snapToObjects="1">
      <p:cViewPr varScale="1">
        <p:scale>
          <a:sx n="110" d="100"/>
          <a:sy n="110" d="100"/>
        </p:scale>
        <p:origin x="1544" y="168"/>
      </p:cViewPr>
      <p:guideLst>
        <p:guide orient="horz" pos="4319"/>
        <p:guide pos="3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58" d="100"/>
        <a:sy n="158" d="100"/>
      </p:scale>
      <p:origin x="0" y="27416"/>
    </p:cViewPr>
  </p:sorterViewPr>
  <p:notesViewPr>
    <p:cSldViewPr snapToGrid="0" snapToObjects="1">
      <p:cViewPr varScale="1">
        <p:scale>
          <a:sx n="114" d="100"/>
          <a:sy n="114" d="100"/>
        </p:scale>
        <p:origin x="-5152" y="-104"/>
      </p:cViewPr>
      <p:guideLst>
        <p:guide orient="horz" pos="2928"/>
        <p:guide pos="2208"/>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117" Type="http://schemas.openxmlformats.org/officeDocument/2006/relationships/theme" Target="theme/theme1.xml"/><Relationship Id="rId21" Type="http://schemas.openxmlformats.org/officeDocument/2006/relationships/slide" Target="slides/slide16.xml"/><Relationship Id="rId42" Type="http://schemas.openxmlformats.org/officeDocument/2006/relationships/slide" Target="slides/slide37.xml"/><Relationship Id="rId47" Type="http://schemas.openxmlformats.org/officeDocument/2006/relationships/slide" Target="slides/slide42.xml"/><Relationship Id="rId63" Type="http://schemas.openxmlformats.org/officeDocument/2006/relationships/slide" Target="slides/slide58.xml"/><Relationship Id="rId68" Type="http://schemas.openxmlformats.org/officeDocument/2006/relationships/slide" Target="slides/slide63.xml"/><Relationship Id="rId84" Type="http://schemas.openxmlformats.org/officeDocument/2006/relationships/slide" Target="slides/slide79.xml"/><Relationship Id="rId89" Type="http://schemas.openxmlformats.org/officeDocument/2006/relationships/slide" Target="slides/slide84.xml"/><Relationship Id="rId112" Type="http://schemas.openxmlformats.org/officeDocument/2006/relationships/slide" Target="slides/slide107.xml"/><Relationship Id="rId16" Type="http://schemas.openxmlformats.org/officeDocument/2006/relationships/slide" Target="slides/slide11.xml"/><Relationship Id="rId107" Type="http://schemas.openxmlformats.org/officeDocument/2006/relationships/slide" Target="slides/slide102.xml"/><Relationship Id="rId11" Type="http://schemas.openxmlformats.org/officeDocument/2006/relationships/slide" Target="slides/slide6.xml"/><Relationship Id="rId32" Type="http://schemas.openxmlformats.org/officeDocument/2006/relationships/slide" Target="slides/slide27.xml"/><Relationship Id="rId37" Type="http://schemas.openxmlformats.org/officeDocument/2006/relationships/slide" Target="slides/slide32.xml"/><Relationship Id="rId53" Type="http://schemas.openxmlformats.org/officeDocument/2006/relationships/slide" Target="slides/slide48.xml"/><Relationship Id="rId58" Type="http://schemas.openxmlformats.org/officeDocument/2006/relationships/slide" Target="slides/slide53.xml"/><Relationship Id="rId74" Type="http://schemas.openxmlformats.org/officeDocument/2006/relationships/slide" Target="slides/slide69.xml"/><Relationship Id="rId79" Type="http://schemas.openxmlformats.org/officeDocument/2006/relationships/slide" Target="slides/slide74.xml"/><Relationship Id="rId102" Type="http://schemas.openxmlformats.org/officeDocument/2006/relationships/slide" Target="slides/slide97.xml"/><Relationship Id="rId5" Type="http://schemas.openxmlformats.org/officeDocument/2006/relationships/slideMaster" Target="slideMasters/slideMaster5.xml"/><Relationship Id="rId90" Type="http://schemas.openxmlformats.org/officeDocument/2006/relationships/slide" Target="slides/slide85.xml"/><Relationship Id="rId95" Type="http://schemas.openxmlformats.org/officeDocument/2006/relationships/slide" Target="slides/slide90.xml"/><Relationship Id="rId22" Type="http://schemas.openxmlformats.org/officeDocument/2006/relationships/slide" Target="slides/slide17.xml"/><Relationship Id="rId27" Type="http://schemas.openxmlformats.org/officeDocument/2006/relationships/slide" Target="slides/slide22.xml"/><Relationship Id="rId43" Type="http://schemas.openxmlformats.org/officeDocument/2006/relationships/slide" Target="slides/slide38.xml"/><Relationship Id="rId48" Type="http://schemas.openxmlformats.org/officeDocument/2006/relationships/slide" Target="slides/slide43.xml"/><Relationship Id="rId64" Type="http://schemas.openxmlformats.org/officeDocument/2006/relationships/slide" Target="slides/slide59.xml"/><Relationship Id="rId69" Type="http://schemas.openxmlformats.org/officeDocument/2006/relationships/slide" Target="slides/slide64.xml"/><Relationship Id="rId113" Type="http://schemas.openxmlformats.org/officeDocument/2006/relationships/notesMaster" Target="notesMasters/notesMaster1.xml"/><Relationship Id="rId118" Type="http://schemas.openxmlformats.org/officeDocument/2006/relationships/tableStyles" Target="tableStyles.xml"/><Relationship Id="rId80" Type="http://schemas.openxmlformats.org/officeDocument/2006/relationships/slide" Target="slides/slide75.xml"/><Relationship Id="rId85" Type="http://schemas.openxmlformats.org/officeDocument/2006/relationships/slide" Target="slides/slide80.xml"/><Relationship Id="rId12" Type="http://schemas.openxmlformats.org/officeDocument/2006/relationships/slide" Target="slides/slide7.xml"/><Relationship Id="rId17" Type="http://schemas.openxmlformats.org/officeDocument/2006/relationships/slide" Target="slides/slide12.xml"/><Relationship Id="rId33" Type="http://schemas.openxmlformats.org/officeDocument/2006/relationships/slide" Target="slides/slide28.xml"/><Relationship Id="rId38" Type="http://schemas.openxmlformats.org/officeDocument/2006/relationships/slide" Target="slides/slide33.xml"/><Relationship Id="rId59" Type="http://schemas.openxmlformats.org/officeDocument/2006/relationships/slide" Target="slides/slide54.xml"/><Relationship Id="rId103" Type="http://schemas.openxmlformats.org/officeDocument/2006/relationships/slide" Target="slides/slide98.xml"/><Relationship Id="rId108" Type="http://schemas.openxmlformats.org/officeDocument/2006/relationships/slide" Target="slides/slide103.xml"/><Relationship Id="rId54" Type="http://schemas.openxmlformats.org/officeDocument/2006/relationships/slide" Target="slides/slide49.xml"/><Relationship Id="rId70" Type="http://schemas.openxmlformats.org/officeDocument/2006/relationships/slide" Target="slides/slide65.xml"/><Relationship Id="rId75" Type="http://schemas.openxmlformats.org/officeDocument/2006/relationships/slide" Target="slides/slide70.xml"/><Relationship Id="rId91" Type="http://schemas.openxmlformats.org/officeDocument/2006/relationships/slide" Target="slides/slide86.xml"/><Relationship Id="rId96" Type="http://schemas.openxmlformats.org/officeDocument/2006/relationships/slide" Target="slides/slide91.xml"/><Relationship Id="rId1" Type="http://schemas.openxmlformats.org/officeDocument/2006/relationships/slideMaster" Target="slideMasters/slideMaster1.xml"/><Relationship Id="rId6" Type="http://schemas.openxmlformats.org/officeDocument/2006/relationships/slide" Target="slides/slide1.xml"/><Relationship Id="rId23" Type="http://schemas.openxmlformats.org/officeDocument/2006/relationships/slide" Target="slides/slide18.xml"/><Relationship Id="rId28" Type="http://schemas.openxmlformats.org/officeDocument/2006/relationships/slide" Target="slides/slide23.xml"/><Relationship Id="rId49" Type="http://schemas.openxmlformats.org/officeDocument/2006/relationships/slide" Target="slides/slide44.xml"/><Relationship Id="rId114" Type="http://schemas.openxmlformats.org/officeDocument/2006/relationships/handoutMaster" Target="handoutMasters/handoutMaster1.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slide" Target="slides/slide60.xml"/><Relationship Id="rId73" Type="http://schemas.openxmlformats.org/officeDocument/2006/relationships/slide" Target="slides/slide68.xml"/><Relationship Id="rId78" Type="http://schemas.openxmlformats.org/officeDocument/2006/relationships/slide" Target="slides/slide73.xml"/><Relationship Id="rId81" Type="http://schemas.openxmlformats.org/officeDocument/2006/relationships/slide" Target="slides/slide76.xml"/><Relationship Id="rId86" Type="http://schemas.openxmlformats.org/officeDocument/2006/relationships/slide" Target="slides/slide81.xml"/><Relationship Id="rId94" Type="http://schemas.openxmlformats.org/officeDocument/2006/relationships/slide" Target="slides/slide89.xml"/><Relationship Id="rId99" Type="http://schemas.openxmlformats.org/officeDocument/2006/relationships/slide" Target="slides/slide94.xml"/><Relationship Id="rId101" Type="http://schemas.openxmlformats.org/officeDocument/2006/relationships/slide" Target="slides/slide96.xml"/><Relationship Id="rId4" Type="http://schemas.openxmlformats.org/officeDocument/2006/relationships/slideMaster" Target="slideMasters/slideMaster4.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109" Type="http://schemas.openxmlformats.org/officeDocument/2006/relationships/slide" Target="slides/slide104.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slide" Target="slides/slide50.xml"/><Relationship Id="rId76" Type="http://schemas.openxmlformats.org/officeDocument/2006/relationships/slide" Target="slides/slide71.xml"/><Relationship Id="rId97" Type="http://schemas.openxmlformats.org/officeDocument/2006/relationships/slide" Target="slides/slide92.xml"/><Relationship Id="rId104" Type="http://schemas.openxmlformats.org/officeDocument/2006/relationships/slide" Target="slides/slide99.xml"/><Relationship Id="rId7" Type="http://schemas.openxmlformats.org/officeDocument/2006/relationships/slide" Target="slides/slide2.xml"/><Relationship Id="rId71" Type="http://schemas.openxmlformats.org/officeDocument/2006/relationships/slide" Target="slides/slide66.xml"/><Relationship Id="rId92" Type="http://schemas.openxmlformats.org/officeDocument/2006/relationships/slide" Target="slides/slide87.xml"/><Relationship Id="rId2" Type="http://schemas.openxmlformats.org/officeDocument/2006/relationships/slideMaster" Target="slideMasters/slideMaster2.xml"/><Relationship Id="rId29" Type="http://schemas.openxmlformats.org/officeDocument/2006/relationships/slide" Target="slides/slide24.xml"/><Relationship Id="rId24" Type="http://schemas.openxmlformats.org/officeDocument/2006/relationships/slide" Target="slides/slide19.xml"/><Relationship Id="rId40" Type="http://schemas.openxmlformats.org/officeDocument/2006/relationships/slide" Target="slides/slide35.xml"/><Relationship Id="rId45" Type="http://schemas.openxmlformats.org/officeDocument/2006/relationships/slide" Target="slides/slide40.xml"/><Relationship Id="rId66" Type="http://schemas.openxmlformats.org/officeDocument/2006/relationships/slide" Target="slides/slide61.xml"/><Relationship Id="rId87" Type="http://schemas.openxmlformats.org/officeDocument/2006/relationships/slide" Target="slides/slide82.xml"/><Relationship Id="rId110" Type="http://schemas.openxmlformats.org/officeDocument/2006/relationships/slide" Target="slides/slide105.xml"/><Relationship Id="rId115" Type="http://schemas.openxmlformats.org/officeDocument/2006/relationships/presProps" Target="presProps.xml"/><Relationship Id="rId61" Type="http://schemas.openxmlformats.org/officeDocument/2006/relationships/slide" Target="slides/slide56.xml"/><Relationship Id="rId82" Type="http://schemas.openxmlformats.org/officeDocument/2006/relationships/slide" Target="slides/slide77.xml"/><Relationship Id="rId19" Type="http://schemas.openxmlformats.org/officeDocument/2006/relationships/slide" Target="slides/slide14.xml"/><Relationship Id="rId14" Type="http://schemas.openxmlformats.org/officeDocument/2006/relationships/slide" Target="slides/slide9.xml"/><Relationship Id="rId30" Type="http://schemas.openxmlformats.org/officeDocument/2006/relationships/slide" Target="slides/slide25.xml"/><Relationship Id="rId35" Type="http://schemas.openxmlformats.org/officeDocument/2006/relationships/slide" Target="slides/slide30.xml"/><Relationship Id="rId56" Type="http://schemas.openxmlformats.org/officeDocument/2006/relationships/slide" Target="slides/slide51.xml"/><Relationship Id="rId77" Type="http://schemas.openxmlformats.org/officeDocument/2006/relationships/slide" Target="slides/slide72.xml"/><Relationship Id="rId100" Type="http://schemas.openxmlformats.org/officeDocument/2006/relationships/slide" Target="slides/slide95.xml"/><Relationship Id="rId105" Type="http://schemas.openxmlformats.org/officeDocument/2006/relationships/slide" Target="slides/slide100.xml"/><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slide" Target="slides/slide67.xml"/><Relationship Id="rId93" Type="http://schemas.openxmlformats.org/officeDocument/2006/relationships/slide" Target="slides/slide88.xml"/><Relationship Id="rId98" Type="http://schemas.openxmlformats.org/officeDocument/2006/relationships/slide" Target="slides/slide93.xml"/><Relationship Id="rId3" Type="http://schemas.openxmlformats.org/officeDocument/2006/relationships/slideMaster" Target="slideMasters/slideMaster3.xml"/><Relationship Id="rId25" Type="http://schemas.openxmlformats.org/officeDocument/2006/relationships/slide" Target="slides/slide20.xml"/><Relationship Id="rId46" Type="http://schemas.openxmlformats.org/officeDocument/2006/relationships/slide" Target="slides/slide41.xml"/><Relationship Id="rId67" Type="http://schemas.openxmlformats.org/officeDocument/2006/relationships/slide" Target="slides/slide62.xml"/><Relationship Id="rId116" Type="http://schemas.openxmlformats.org/officeDocument/2006/relationships/viewProps" Target="viewProps.xml"/><Relationship Id="rId20" Type="http://schemas.openxmlformats.org/officeDocument/2006/relationships/slide" Target="slides/slide15.xml"/><Relationship Id="rId41" Type="http://schemas.openxmlformats.org/officeDocument/2006/relationships/slide" Target="slides/slide36.xml"/><Relationship Id="rId62" Type="http://schemas.openxmlformats.org/officeDocument/2006/relationships/slide" Target="slides/slide57.xml"/><Relationship Id="rId83" Type="http://schemas.openxmlformats.org/officeDocument/2006/relationships/slide" Target="slides/slide78.xml"/><Relationship Id="rId88" Type="http://schemas.openxmlformats.org/officeDocument/2006/relationships/slide" Target="slides/slide83.xml"/><Relationship Id="rId111" Type="http://schemas.openxmlformats.org/officeDocument/2006/relationships/slide" Target="slides/slide106.xml"/><Relationship Id="rId15" Type="http://schemas.openxmlformats.org/officeDocument/2006/relationships/slide" Target="slides/slide10.xml"/><Relationship Id="rId36" Type="http://schemas.openxmlformats.org/officeDocument/2006/relationships/slide" Target="slides/slide31.xml"/><Relationship Id="rId57" Type="http://schemas.openxmlformats.org/officeDocument/2006/relationships/slide" Target="slides/slide52.xml"/><Relationship Id="rId106" Type="http://schemas.openxmlformats.org/officeDocument/2006/relationships/slide" Target="slides/slide10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sz="quarter" idx="1"/>
          </p:nvPr>
        </p:nvSpPr>
        <p:spPr>
          <a:xfrm>
            <a:off x="3970938" y="0"/>
            <a:ext cx="3037840" cy="464820"/>
          </a:xfrm>
          <a:prstGeom prst="rect">
            <a:avLst/>
          </a:prstGeom>
        </p:spPr>
        <p:txBody>
          <a:bodyPr vert="horz" lIns="93177" tIns="46589" rIns="93177" bIns="46589" rtlCol="0"/>
          <a:lstStyle>
            <a:lvl1pPr algn="r">
              <a:defRPr sz="1200"/>
            </a:lvl1pPr>
          </a:lstStyle>
          <a:p>
            <a:fld id="{1EFD5D00-21F7-954C-B79D-A429ED413661}" type="datetime1">
              <a:rPr lang="en-US" smtClean="0"/>
              <a:pPr/>
              <a:t>4/26/23</a:t>
            </a:fld>
            <a:endParaRPr lang="en-US"/>
          </a:p>
        </p:txBody>
      </p:sp>
      <p:sp>
        <p:nvSpPr>
          <p:cNvPr id="4" name="Footer Placeholder 3"/>
          <p:cNvSpPr>
            <a:spLocks noGrp="1"/>
          </p:cNvSpPr>
          <p:nvPr>
            <p:ph type="ftr" sz="quarter" idx="2"/>
          </p:nvPr>
        </p:nvSpPr>
        <p:spPr>
          <a:xfrm>
            <a:off x="0" y="8829967"/>
            <a:ext cx="3037840" cy="464820"/>
          </a:xfrm>
          <a:prstGeom prst="rect">
            <a:avLst/>
          </a:prstGeom>
        </p:spPr>
        <p:txBody>
          <a:bodyPr vert="horz" lIns="93177" tIns="46589" rIns="93177" bIns="46589" rtlCol="0" anchor="b"/>
          <a:lstStyle>
            <a:lvl1pPr algn="l">
              <a:defRPr sz="1200"/>
            </a:lvl1pPr>
          </a:lstStyle>
          <a:p>
            <a:endParaRPr lang="en-US"/>
          </a:p>
        </p:txBody>
      </p:sp>
      <p:sp>
        <p:nvSpPr>
          <p:cNvPr id="5" name="Slide Number Placeholder 4"/>
          <p:cNvSpPr>
            <a:spLocks noGrp="1"/>
          </p:cNvSpPr>
          <p:nvPr>
            <p:ph type="sldNum" sz="quarter" idx="3"/>
          </p:nvPr>
        </p:nvSpPr>
        <p:spPr>
          <a:xfrm>
            <a:off x="3970938" y="8829967"/>
            <a:ext cx="3037840" cy="464820"/>
          </a:xfrm>
          <a:prstGeom prst="rect">
            <a:avLst/>
          </a:prstGeom>
        </p:spPr>
        <p:txBody>
          <a:bodyPr vert="horz" lIns="93177" tIns="46589" rIns="93177" bIns="46589" rtlCol="0" anchor="b"/>
          <a:lstStyle>
            <a:lvl1pPr algn="r">
              <a:defRPr sz="1200"/>
            </a:lvl1pPr>
          </a:lstStyle>
          <a:p>
            <a:fld id="{2648B806-29CE-7A46-9841-57A57AA4D14C}" type="slidenum">
              <a:rPr lang="en-US" smtClean="0"/>
              <a:pPr/>
              <a:t>‹#›</a:t>
            </a:fld>
            <a:endParaRPr lang="en-US"/>
          </a:p>
        </p:txBody>
      </p:sp>
    </p:spTree>
    <p:extLst>
      <p:ext uri="{BB962C8B-B14F-4D97-AF65-F5344CB8AC3E}">
        <p14:creationId xmlns:p14="http://schemas.microsoft.com/office/powerpoint/2010/main" val="189203658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idx="1"/>
          </p:nvPr>
        </p:nvSpPr>
        <p:spPr>
          <a:xfrm>
            <a:off x="3970938" y="0"/>
            <a:ext cx="3037840" cy="464820"/>
          </a:xfrm>
          <a:prstGeom prst="rect">
            <a:avLst/>
          </a:prstGeom>
        </p:spPr>
        <p:txBody>
          <a:bodyPr vert="horz" lIns="93177" tIns="46589" rIns="93177" bIns="46589" rtlCol="0"/>
          <a:lstStyle>
            <a:lvl1pPr algn="r">
              <a:defRPr sz="1200"/>
            </a:lvl1pPr>
          </a:lstStyle>
          <a:p>
            <a:fld id="{FDDDAA38-C52A-B740-83E8-BA3BE7700129}" type="datetime1">
              <a:rPr lang="en-US" smtClean="0"/>
              <a:pPr/>
              <a:t>4/26/23</a:t>
            </a:fld>
            <a:endParaRPr lang="en-US"/>
          </a:p>
        </p:txBody>
      </p:sp>
      <p:sp>
        <p:nvSpPr>
          <p:cNvPr id="4" name="Slide Image Placeholder 3"/>
          <p:cNvSpPr>
            <a:spLocks noGrp="1" noRot="1" noChangeAspect="1"/>
          </p:cNvSpPr>
          <p:nvPr>
            <p:ph type="sldImg" idx="2"/>
          </p:nvPr>
        </p:nvSpPr>
        <p:spPr>
          <a:xfrm>
            <a:off x="1181100" y="696913"/>
            <a:ext cx="4648200" cy="3486150"/>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3177" tIns="46589" rIns="93177" bIns="4658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4820"/>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4820"/>
          </a:xfrm>
          <a:prstGeom prst="rect">
            <a:avLst/>
          </a:prstGeom>
        </p:spPr>
        <p:txBody>
          <a:bodyPr vert="horz" lIns="93177" tIns="46589" rIns="93177" bIns="46589" rtlCol="0" anchor="b"/>
          <a:lstStyle>
            <a:lvl1pPr algn="r">
              <a:defRPr sz="1200"/>
            </a:lvl1pPr>
          </a:lstStyle>
          <a:p>
            <a:fld id="{4D0F24F4-3247-2B4F-AACD-C457ED29B7FC}" type="slidenum">
              <a:rPr lang="en-US" smtClean="0"/>
              <a:pPr/>
              <a:t>‹#›</a:t>
            </a:fld>
            <a:endParaRPr lang="en-US"/>
          </a:p>
        </p:txBody>
      </p:sp>
    </p:spTree>
    <p:extLst>
      <p:ext uri="{BB962C8B-B14F-4D97-AF65-F5344CB8AC3E}">
        <p14:creationId xmlns:p14="http://schemas.microsoft.com/office/powerpoint/2010/main" val="2570040553"/>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D0F24F4-3247-2B4F-AACD-C457ED29B7FC}" type="slidenum">
              <a:rPr lang="en-US" smtClean="0"/>
              <a:pPr/>
              <a:t>1</a:t>
            </a:fld>
            <a:endParaRPr lang="en-US"/>
          </a:p>
        </p:txBody>
      </p:sp>
    </p:spTree>
    <p:extLst>
      <p:ext uri="{BB962C8B-B14F-4D97-AF65-F5344CB8AC3E}">
        <p14:creationId xmlns:p14="http://schemas.microsoft.com/office/powerpoint/2010/main" val="6236339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number of df increases, T-distribution gets closer to normal distribution.</a:t>
            </a:r>
          </a:p>
          <a:p>
            <a:endParaRPr lang="en-US" dirty="0"/>
          </a:p>
        </p:txBody>
      </p:sp>
      <p:sp>
        <p:nvSpPr>
          <p:cNvPr id="4" name="Slide Number Placeholder 3"/>
          <p:cNvSpPr>
            <a:spLocks noGrp="1"/>
          </p:cNvSpPr>
          <p:nvPr>
            <p:ph type="sldNum" sz="quarter" idx="5"/>
          </p:nvPr>
        </p:nvSpPr>
        <p:spPr/>
        <p:txBody>
          <a:bodyPr/>
          <a:lstStyle/>
          <a:p>
            <a:fld id="{4D0F24F4-3247-2B4F-AACD-C457ED29B7FC}" type="slidenum">
              <a:rPr lang="en-US" smtClean="0"/>
              <a:pPr/>
              <a:t>9</a:t>
            </a:fld>
            <a:endParaRPr lang="en-US"/>
          </a:p>
        </p:txBody>
      </p:sp>
    </p:spTree>
    <p:extLst>
      <p:ext uri="{BB962C8B-B14F-4D97-AF65-F5344CB8AC3E}">
        <p14:creationId xmlns:p14="http://schemas.microsoft.com/office/powerpoint/2010/main" val="266621128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that the above equation is correct, since error and estimate are orthogonal and their covariance is 0 (or they correlation is 0)</a:t>
            </a:r>
          </a:p>
        </p:txBody>
      </p:sp>
      <p:sp>
        <p:nvSpPr>
          <p:cNvPr id="4" name="Slide Number Placeholder 3"/>
          <p:cNvSpPr>
            <a:spLocks noGrp="1"/>
          </p:cNvSpPr>
          <p:nvPr>
            <p:ph type="sldNum" sz="quarter" idx="5"/>
          </p:nvPr>
        </p:nvSpPr>
        <p:spPr/>
        <p:txBody>
          <a:bodyPr/>
          <a:lstStyle/>
          <a:p>
            <a:fld id="{4D0F24F4-3247-2B4F-AACD-C457ED29B7FC}" type="slidenum">
              <a:rPr lang="en-US" smtClean="0"/>
              <a:pPr/>
              <a:t>28</a:t>
            </a:fld>
            <a:endParaRPr lang="en-US"/>
          </a:p>
        </p:txBody>
      </p:sp>
    </p:spTree>
    <p:extLst>
      <p:ext uri="{BB962C8B-B14F-4D97-AF65-F5344CB8AC3E}">
        <p14:creationId xmlns:p14="http://schemas.microsoft.com/office/powerpoint/2010/main" val="26193601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Proof of R^2 = r^2:</a:t>
            </a:r>
          </a:p>
          <a:p>
            <a:r>
              <a:rPr lang="en-US" dirty="0"/>
              <a:t>Note: y=y^ + e</a:t>
            </a:r>
          </a:p>
          <a:p>
            <a:r>
              <a:rPr lang="en-US" dirty="0" err="1"/>
              <a:t>Cov</a:t>
            </a:r>
            <a:r>
              <a:rPr lang="en-US" dirty="0"/>
              <a:t>(y^ , e) =0</a:t>
            </a:r>
          </a:p>
          <a:p>
            <a:r>
              <a:rPr lang="en-US" dirty="0" err="1"/>
              <a:t>Cov</a:t>
            </a:r>
            <a:r>
              <a:rPr lang="en-US" dirty="0"/>
              <a:t>(x , </a:t>
            </a:r>
            <a:r>
              <a:rPr lang="en-US" dirty="0" err="1"/>
              <a:t>y+z</a:t>
            </a:r>
            <a:r>
              <a:rPr lang="en-US" dirty="0"/>
              <a:t>) = </a:t>
            </a:r>
            <a:r>
              <a:rPr lang="en-US" dirty="0" err="1"/>
              <a:t>cov</a:t>
            </a:r>
            <a:r>
              <a:rPr lang="en-US" dirty="0"/>
              <a:t>(x , y) + </a:t>
            </a:r>
            <a:r>
              <a:rPr lang="en-US" dirty="0" err="1"/>
              <a:t>cov</a:t>
            </a:r>
            <a:r>
              <a:rPr lang="en-US" dirty="0"/>
              <a:t>(x , z)</a:t>
            </a:r>
          </a:p>
          <a:p>
            <a:r>
              <a:rPr lang="en-US" dirty="0"/>
              <a:t>r (is correlation between Y and Y^) = </a:t>
            </a:r>
            <a:r>
              <a:rPr lang="en-US" dirty="0" err="1"/>
              <a:t>cov</a:t>
            </a:r>
            <a:r>
              <a:rPr lang="en-US" dirty="0"/>
              <a:t>(y , y^) / [var(y)var(y^)]^(0.5)</a:t>
            </a:r>
          </a:p>
          <a:p>
            <a:r>
              <a:rPr lang="en-US" dirty="0" err="1"/>
              <a:t>cov</a:t>
            </a:r>
            <a:r>
              <a:rPr lang="en-US" dirty="0"/>
              <a:t>(</a:t>
            </a:r>
            <a:r>
              <a:rPr lang="en-US" dirty="0" err="1"/>
              <a:t>y,y</a:t>
            </a:r>
            <a:r>
              <a:rPr lang="en-US" dirty="0"/>
              <a:t>^) = </a:t>
            </a:r>
            <a:r>
              <a:rPr lang="en-US" dirty="0" err="1"/>
              <a:t>cov</a:t>
            </a:r>
            <a:r>
              <a:rPr lang="en-US" dirty="0"/>
              <a:t>(y^+e , y) = </a:t>
            </a:r>
            <a:r>
              <a:rPr lang="en-US" dirty="0" err="1"/>
              <a:t>cov</a:t>
            </a:r>
            <a:r>
              <a:rPr lang="en-US" dirty="0"/>
              <a:t>(</a:t>
            </a:r>
            <a:r>
              <a:rPr lang="en-US" dirty="0" err="1"/>
              <a:t>y^,y</a:t>
            </a:r>
            <a:r>
              <a:rPr lang="en-US" dirty="0"/>
              <a:t>^) + </a:t>
            </a:r>
            <a:r>
              <a:rPr lang="en-US" dirty="0" err="1"/>
              <a:t>cov</a:t>
            </a:r>
            <a:r>
              <a:rPr lang="en-US" dirty="0"/>
              <a:t>(</a:t>
            </a:r>
            <a:r>
              <a:rPr lang="en-US" dirty="0" err="1"/>
              <a:t>e,y</a:t>
            </a:r>
            <a:r>
              <a:rPr lang="en-US" dirty="0"/>
              <a:t>^) = </a:t>
            </a:r>
            <a:r>
              <a:rPr lang="en-US" dirty="0" err="1"/>
              <a:t>cov</a:t>
            </a:r>
            <a:r>
              <a:rPr lang="en-US" dirty="0"/>
              <a:t> (</a:t>
            </a:r>
            <a:r>
              <a:rPr lang="en-US" dirty="0" err="1"/>
              <a:t>y^,y</a:t>
            </a:r>
            <a:r>
              <a:rPr lang="en-US" dirty="0"/>
              <a:t>^) = var(y^)</a:t>
            </a:r>
          </a:p>
          <a:p>
            <a:r>
              <a:rPr lang="en-US" dirty="0"/>
              <a:t>r^2 = var(y^)^2 / var(y) var(y^) = var(y^) / var(y) = R^2</a:t>
            </a:r>
          </a:p>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4D0F24F4-3247-2B4F-AACD-C457ED29B7FC}" type="slidenum">
              <a:rPr lang="en-US" smtClean="0"/>
              <a:pPr/>
              <a:t>29</a:t>
            </a:fld>
            <a:endParaRPr lang="en-US"/>
          </a:p>
        </p:txBody>
      </p:sp>
    </p:spTree>
    <p:extLst>
      <p:ext uri="{BB962C8B-B14F-4D97-AF65-F5344CB8AC3E}">
        <p14:creationId xmlns:p14="http://schemas.microsoft.com/office/powerpoint/2010/main" val="41758828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Adjusted R – to mitigate R2 issue with not being dependent on k.</a:t>
            </a:r>
          </a:p>
        </p:txBody>
      </p:sp>
      <p:sp>
        <p:nvSpPr>
          <p:cNvPr id="4" name="Slide Number Placeholder 3"/>
          <p:cNvSpPr>
            <a:spLocks noGrp="1"/>
          </p:cNvSpPr>
          <p:nvPr>
            <p:ph type="sldNum" sz="quarter" idx="5"/>
          </p:nvPr>
        </p:nvSpPr>
        <p:spPr/>
        <p:txBody>
          <a:bodyPr/>
          <a:lstStyle/>
          <a:p>
            <a:fld id="{4D0F24F4-3247-2B4F-AACD-C457ED29B7FC}" type="slidenum">
              <a:rPr lang="en-US" smtClean="0"/>
              <a:pPr/>
              <a:t>31</a:t>
            </a:fld>
            <a:endParaRPr lang="en-US"/>
          </a:p>
        </p:txBody>
      </p:sp>
    </p:spTree>
    <p:extLst>
      <p:ext uri="{BB962C8B-B14F-4D97-AF65-F5344CB8AC3E}">
        <p14:creationId xmlns:p14="http://schemas.microsoft.com/office/powerpoint/2010/main" val="38963043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R2 = 1- RSS/TSS</a:t>
            </a:r>
          </a:p>
        </p:txBody>
      </p:sp>
      <p:sp>
        <p:nvSpPr>
          <p:cNvPr id="4" name="Slide Number Placeholder 3"/>
          <p:cNvSpPr>
            <a:spLocks noGrp="1"/>
          </p:cNvSpPr>
          <p:nvPr>
            <p:ph type="sldNum" sz="quarter" idx="5"/>
          </p:nvPr>
        </p:nvSpPr>
        <p:spPr/>
        <p:txBody>
          <a:bodyPr/>
          <a:lstStyle/>
          <a:p>
            <a:fld id="{4D0F24F4-3247-2B4F-AACD-C457ED29B7FC}" type="slidenum">
              <a:rPr lang="en-US" smtClean="0"/>
              <a:pPr/>
              <a:t>32</a:t>
            </a:fld>
            <a:endParaRPr lang="en-US"/>
          </a:p>
        </p:txBody>
      </p:sp>
    </p:spTree>
    <p:extLst>
      <p:ext uri="{BB962C8B-B14F-4D97-AF65-F5344CB8AC3E}">
        <p14:creationId xmlns:p14="http://schemas.microsoft.com/office/powerpoint/2010/main" val="77044549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Typo here – this is SE- corrected.</a:t>
            </a:r>
          </a:p>
          <a:p>
            <a:r>
              <a:rPr lang="en-US" dirty="0"/>
              <a:t>Important note: for normalizing x – then applying hypothesis testing for Beta1 which is normalizing beta1 with mean=0.</a:t>
            </a:r>
          </a:p>
          <a:p>
            <a:endParaRPr lang="en-US" dirty="0"/>
          </a:p>
          <a:p>
            <a:r>
              <a:rPr lang="en-US" dirty="0"/>
              <a:t>Why df = n-2 : since we are talking about a linear regression with one parameter. </a:t>
            </a:r>
          </a:p>
          <a:p>
            <a:r>
              <a:rPr lang="en-US" dirty="0"/>
              <a:t>If there were 2 parameters, df will be : df = n-3.</a:t>
            </a:r>
          </a:p>
          <a:p>
            <a:endParaRPr lang="en-US" dirty="0"/>
          </a:p>
          <a:p>
            <a:r>
              <a:rPr lang="en-US" dirty="0"/>
              <a:t>Note: SE is the standard deviation of standardized error.</a:t>
            </a:r>
          </a:p>
          <a:p>
            <a:r>
              <a:rPr lang="en-US" dirty="0"/>
              <a:t>If we consider   (samples-mean)/</a:t>
            </a:r>
            <a:r>
              <a:rPr lang="en-US" dirty="0" err="1"/>
              <a:t>sd</a:t>
            </a:r>
            <a:r>
              <a:rPr lang="en-US" dirty="0"/>
              <a:t> as standardization, then sqrt(n) gets cancels from denominator of the above equation, since the CI already has a sqrt(n) also.</a:t>
            </a:r>
          </a:p>
        </p:txBody>
      </p:sp>
      <p:sp>
        <p:nvSpPr>
          <p:cNvPr id="4" name="Slide Number Placeholder 3"/>
          <p:cNvSpPr>
            <a:spLocks noGrp="1"/>
          </p:cNvSpPr>
          <p:nvPr>
            <p:ph type="sldNum" sz="quarter" idx="5"/>
          </p:nvPr>
        </p:nvSpPr>
        <p:spPr/>
        <p:txBody>
          <a:bodyPr/>
          <a:lstStyle/>
          <a:p>
            <a:fld id="{4D0F24F4-3247-2B4F-AACD-C457ED29B7FC}" type="slidenum">
              <a:rPr lang="en-US" smtClean="0"/>
              <a:pPr/>
              <a:t>35</a:t>
            </a:fld>
            <a:endParaRPr lang="en-US"/>
          </a:p>
        </p:txBody>
      </p:sp>
    </p:spTree>
    <p:extLst>
      <p:ext uri="{BB962C8B-B14F-4D97-AF65-F5344CB8AC3E}">
        <p14:creationId xmlns:p14="http://schemas.microsoft.com/office/powerpoint/2010/main" val="359729030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D0F24F4-3247-2B4F-AACD-C457ED29B7FC}" type="slidenum">
              <a:rPr lang="en-US" smtClean="0"/>
              <a:pPr/>
              <a:t>38</a:t>
            </a:fld>
            <a:endParaRPr lang="en-US"/>
          </a:p>
        </p:txBody>
      </p:sp>
    </p:spTree>
    <p:extLst>
      <p:ext uri="{BB962C8B-B14F-4D97-AF65-F5344CB8AC3E}">
        <p14:creationId xmlns:p14="http://schemas.microsoft.com/office/powerpoint/2010/main" val="294402126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degree of freedom.</a:t>
            </a:r>
          </a:p>
          <a:p>
            <a:r>
              <a:rPr lang="en-US" dirty="0"/>
              <a:t>In case of regression, we have k+1 parameters, but only k of them are changed.</a:t>
            </a:r>
          </a:p>
          <a:p>
            <a:r>
              <a:rPr lang="en-US" dirty="0"/>
              <a:t>In case of residual error, with n number of points we have n degree of freedom minus the model which is K+1 (one is for the interception of mean)</a:t>
            </a:r>
          </a:p>
          <a:p>
            <a:endParaRPr lang="en-US" dirty="0"/>
          </a:p>
        </p:txBody>
      </p:sp>
      <p:sp>
        <p:nvSpPr>
          <p:cNvPr id="4" name="Slide Number Placeholder 3"/>
          <p:cNvSpPr>
            <a:spLocks noGrp="1"/>
          </p:cNvSpPr>
          <p:nvPr>
            <p:ph type="sldNum" sz="quarter" idx="5"/>
          </p:nvPr>
        </p:nvSpPr>
        <p:spPr/>
        <p:txBody>
          <a:bodyPr/>
          <a:lstStyle/>
          <a:p>
            <a:fld id="{4D0F24F4-3247-2B4F-AACD-C457ED29B7FC}" type="slidenum">
              <a:rPr lang="en-US" smtClean="0"/>
              <a:pPr/>
              <a:t>47</a:t>
            </a:fld>
            <a:endParaRPr lang="en-US"/>
          </a:p>
        </p:txBody>
      </p:sp>
    </p:spTree>
    <p:extLst>
      <p:ext uri="{BB962C8B-B14F-4D97-AF65-F5344CB8AC3E}">
        <p14:creationId xmlns:p14="http://schemas.microsoft.com/office/powerpoint/2010/main" val="283253392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degree of freedom.</a:t>
            </a:r>
          </a:p>
          <a:p>
            <a:r>
              <a:rPr lang="en-US" dirty="0"/>
              <a:t>In case of regression, we have k+1 parameters, but only k of them are changed.</a:t>
            </a:r>
          </a:p>
          <a:p>
            <a:r>
              <a:rPr lang="en-US" dirty="0"/>
              <a:t>In case of residual error, with n number of points we have n degree of freedom minus the model which is K+1 (one is for the interception of mean)</a:t>
            </a:r>
          </a:p>
        </p:txBody>
      </p:sp>
      <p:sp>
        <p:nvSpPr>
          <p:cNvPr id="4" name="Slide Number Placeholder 3"/>
          <p:cNvSpPr>
            <a:spLocks noGrp="1"/>
          </p:cNvSpPr>
          <p:nvPr>
            <p:ph type="sldNum" sz="quarter" idx="5"/>
          </p:nvPr>
        </p:nvSpPr>
        <p:spPr/>
        <p:txBody>
          <a:bodyPr/>
          <a:lstStyle/>
          <a:p>
            <a:fld id="{4D0F24F4-3247-2B4F-AACD-C457ED29B7FC}" type="slidenum">
              <a:rPr lang="en-US" smtClean="0"/>
              <a:pPr/>
              <a:t>49</a:t>
            </a:fld>
            <a:endParaRPr lang="en-US"/>
          </a:p>
        </p:txBody>
      </p:sp>
    </p:spTree>
    <p:extLst>
      <p:ext uri="{BB962C8B-B14F-4D97-AF65-F5344CB8AC3E}">
        <p14:creationId xmlns:p14="http://schemas.microsoft.com/office/powerpoint/2010/main" val="95642996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side vs two sided – in regression, it is always one sided (lift sided). </a:t>
            </a:r>
          </a:p>
        </p:txBody>
      </p:sp>
      <p:sp>
        <p:nvSpPr>
          <p:cNvPr id="4" name="Slide Number Placeholder 3"/>
          <p:cNvSpPr>
            <a:spLocks noGrp="1"/>
          </p:cNvSpPr>
          <p:nvPr>
            <p:ph type="sldNum" sz="quarter" idx="5"/>
          </p:nvPr>
        </p:nvSpPr>
        <p:spPr/>
        <p:txBody>
          <a:bodyPr/>
          <a:lstStyle/>
          <a:p>
            <a:fld id="{4D0F24F4-3247-2B4F-AACD-C457ED29B7FC}" type="slidenum">
              <a:rPr lang="en-US" smtClean="0"/>
              <a:pPr/>
              <a:t>50</a:t>
            </a:fld>
            <a:endParaRPr lang="en-US"/>
          </a:p>
        </p:txBody>
      </p:sp>
    </p:spTree>
    <p:extLst>
      <p:ext uri="{BB962C8B-B14F-4D97-AF65-F5344CB8AC3E}">
        <p14:creationId xmlns:p14="http://schemas.microsoft.com/office/powerpoint/2010/main" val="3699171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D0F24F4-3247-2B4F-AACD-C457ED29B7FC}" type="slidenum">
              <a:rPr lang="en-US" smtClean="0"/>
              <a:pPr/>
              <a:t>54</a:t>
            </a:fld>
            <a:endParaRPr lang="en-US"/>
          </a:p>
        </p:txBody>
      </p:sp>
    </p:spTree>
    <p:extLst>
      <p:ext uri="{BB962C8B-B14F-4D97-AF65-F5344CB8AC3E}">
        <p14:creationId xmlns:p14="http://schemas.microsoft.com/office/powerpoint/2010/main" val="179228903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Matrix multiplication – inner product (also talk about matrix dimensions)</a:t>
            </a:r>
          </a:p>
          <a:p>
            <a:pPr marL="171450" indent="-171450">
              <a:buFontTx/>
              <a:buChar char="-"/>
            </a:pPr>
            <a:r>
              <a:rPr lang="en-US" dirty="0"/>
              <a:t>Matrix addition</a:t>
            </a:r>
          </a:p>
          <a:p>
            <a:pPr marL="171450" indent="-171450">
              <a:buFontTx/>
              <a:buChar char="-"/>
            </a:pPr>
            <a:r>
              <a:rPr lang="en-US" dirty="0"/>
              <a:t>Matrix transpose</a:t>
            </a:r>
          </a:p>
          <a:p>
            <a:pPr marL="171450" indent="-171450">
              <a:buFontTx/>
              <a:buChar char="-"/>
            </a:pPr>
            <a:r>
              <a:rPr lang="en-US" dirty="0"/>
              <a:t>Identity matrix</a:t>
            </a:r>
          </a:p>
          <a:p>
            <a:pPr marL="171450" indent="-171450">
              <a:buFontTx/>
              <a:buChar char="-"/>
            </a:pPr>
            <a:r>
              <a:rPr lang="en-US" dirty="0"/>
              <a:t>Inverse matrix (A-1 A = I)</a:t>
            </a:r>
          </a:p>
          <a:p>
            <a:pPr marL="171450" indent="-171450">
              <a:buFontTx/>
              <a:buChar char="-"/>
            </a:pPr>
            <a:endParaRPr lang="en-US" dirty="0"/>
          </a:p>
          <a:p>
            <a:pPr marL="171450" indent="-171450">
              <a:buFontTx/>
              <a:buChar char="-"/>
            </a:pPr>
            <a:endParaRPr lang="en-US" dirty="0"/>
          </a:p>
        </p:txBody>
      </p:sp>
      <p:sp>
        <p:nvSpPr>
          <p:cNvPr id="4" name="Slide Number Placeholder 3"/>
          <p:cNvSpPr>
            <a:spLocks noGrp="1"/>
          </p:cNvSpPr>
          <p:nvPr>
            <p:ph type="sldNum" sz="quarter" idx="5"/>
          </p:nvPr>
        </p:nvSpPr>
        <p:spPr/>
        <p:txBody>
          <a:bodyPr/>
          <a:lstStyle/>
          <a:p>
            <a:fld id="{4D0F24F4-3247-2B4F-AACD-C457ED29B7FC}" type="slidenum">
              <a:rPr lang="en-US" smtClean="0"/>
              <a:pPr/>
              <a:t>67</a:t>
            </a:fld>
            <a:endParaRPr lang="en-US"/>
          </a:p>
        </p:txBody>
      </p:sp>
    </p:spTree>
    <p:extLst>
      <p:ext uri="{BB962C8B-B14F-4D97-AF65-F5344CB8AC3E}">
        <p14:creationId xmlns:p14="http://schemas.microsoft.com/office/powerpoint/2010/main" val="181320771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D0F24F4-3247-2B4F-AACD-C457ED29B7FC}" type="slidenum">
              <a:rPr lang="en-US" smtClean="0"/>
              <a:pPr/>
              <a:t>92</a:t>
            </a:fld>
            <a:endParaRPr lang="en-US"/>
          </a:p>
        </p:txBody>
      </p:sp>
    </p:spTree>
    <p:extLst>
      <p:ext uri="{BB962C8B-B14F-4D97-AF65-F5344CB8AC3E}">
        <p14:creationId xmlns:p14="http://schemas.microsoft.com/office/powerpoint/2010/main" val="360094073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cheat! For a rare event, we use a sample size in which rare event is not rare?! </a:t>
            </a:r>
          </a:p>
          <a:p>
            <a:endParaRPr lang="en-US" dirty="0"/>
          </a:p>
        </p:txBody>
      </p:sp>
      <p:sp>
        <p:nvSpPr>
          <p:cNvPr id="4" name="Slide Number Placeholder 3"/>
          <p:cNvSpPr>
            <a:spLocks noGrp="1"/>
          </p:cNvSpPr>
          <p:nvPr>
            <p:ph type="sldNum" sz="quarter" idx="5"/>
          </p:nvPr>
        </p:nvSpPr>
        <p:spPr/>
        <p:txBody>
          <a:bodyPr/>
          <a:lstStyle/>
          <a:p>
            <a:fld id="{4D0F24F4-3247-2B4F-AACD-C457ED29B7FC}" type="slidenum">
              <a:rPr lang="en-US" smtClean="0"/>
              <a:pPr/>
              <a:t>93</a:t>
            </a:fld>
            <a:endParaRPr lang="en-US"/>
          </a:p>
        </p:txBody>
      </p:sp>
    </p:spTree>
    <p:extLst>
      <p:ext uri="{BB962C8B-B14F-4D97-AF65-F5344CB8AC3E}">
        <p14:creationId xmlns:p14="http://schemas.microsoft.com/office/powerpoint/2010/main" val="387390042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Mallow’s Cp and AIC are equivalent if </a:t>
            </a:r>
          </a:p>
          <a:p>
            <a:pPr marL="228600" indent="-228600">
              <a:buAutoNum type="arabicPeriod"/>
            </a:pPr>
            <a:r>
              <a:rPr lang="en-US" dirty="0"/>
              <a:t>Noise is gaussian </a:t>
            </a:r>
          </a:p>
          <a:p>
            <a:pPr marL="228600" indent="-228600">
              <a:buAutoNum type="arabicPeriod"/>
            </a:pPr>
            <a:r>
              <a:rPr lang="en-US" dirty="0"/>
              <a:t>Model is linear</a:t>
            </a:r>
          </a:p>
          <a:p>
            <a:pPr marL="228600" indent="-228600">
              <a:buAutoNum type="arabicPeriod"/>
            </a:pPr>
            <a:endParaRPr lang="en-US" dirty="0"/>
          </a:p>
          <a:p>
            <a:r>
              <a:rPr lang="en-US" sz="1200" kern="1200" dirty="0">
                <a:solidFill>
                  <a:schemeClr val="tx1"/>
                </a:solidFill>
                <a:effectLst/>
                <a:latin typeface="+mn-lt"/>
                <a:ea typeface="+mn-ea"/>
                <a:cs typeface="+mn-cs"/>
              </a:rPr>
              <a:t>Note from the text book: Mallow’s Cp is sometimes defined as Cp′ = RSS/</a:t>
            </a:r>
            <a:r>
              <a:rPr lang="el-GR" sz="1200" kern="1200" dirty="0">
                <a:solidFill>
                  <a:schemeClr val="tx1"/>
                </a:solidFill>
                <a:effectLst/>
                <a:latin typeface="+mn-lt"/>
                <a:ea typeface="+mn-ea"/>
                <a:cs typeface="+mn-cs"/>
              </a:rPr>
              <a:t>σˆ2 + 2</a:t>
            </a:r>
            <a:r>
              <a:rPr lang="en-US" sz="1200" kern="1200" dirty="0">
                <a:solidFill>
                  <a:schemeClr val="tx1"/>
                </a:solidFill>
                <a:effectLst/>
                <a:latin typeface="+mn-lt"/>
                <a:ea typeface="+mn-ea"/>
                <a:cs typeface="+mn-cs"/>
              </a:rPr>
              <a:t>k − n. This is equivalent to </a:t>
            </a:r>
            <a:endParaRPr lang="en-US" dirty="0"/>
          </a:p>
          <a:p>
            <a:r>
              <a:rPr lang="en-US" sz="1200" kern="1200" dirty="0">
                <a:solidFill>
                  <a:schemeClr val="tx1"/>
                </a:solidFill>
                <a:effectLst/>
                <a:latin typeface="+mn-lt"/>
                <a:ea typeface="+mn-ea"/>
                <a:cs typeface="+mn-cs"/>
              </a:rPr>
              <a:t>the definition given above in the sense that Cp = 1/n </a:t>
            </a:r>
            <a:r>
              <a:rPr lang="el-GR" sz="1200" kern="1200" dirty="0">
                <a:solidFill>
                  <a:schemeClr val="tx1"/>
                </a:solidFill>
                <a:effectLst/>
                <a:latin typeface="+mn-lt"/>
                <a:ea typeface="+mn-ea"/>
                <a:cs typeface="+mn-cs"/>
              </a:rPr>
              <a:t>σˆ2(</a:t>
            </a:r>
            <a:r>
              <a:rPr lang="en-US" sz="1200" kern="1200" dirty="0">
                <a:solidFill>
                  <a:schemeClr val="tx1"/>
                </a:solidFill>
                <a:effectLst/>
                <a:latin typeface="+mn-lt"/>
                <a:ea typeface="+mn-ea"/>
                <a:cs typeface="+mn-cs"/>
              </a:rPr>
              <a:t>Cp′ + n), and so the model with smallest Cp also has smallest Cp′ .</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Note: sigma squared is sigma of the full model, means using all the predictors (maximum k)</a:t>
            </a:r>
            <a:endParaRPr lang="en-US" dirty="0"/>
          </a:p>
        </p:txBody>
      </p:sp>
      <p:sp>
        <p:nvSpPr>
          <p:cNvPr id="4" name="Slide Number Placeholder 3"/>
          <p:cNvSpPr>
            <a:spLocks noGrp="1"/>
          </p:cNvSpPr>
          <p:nvPr>
            <p:ph type="sldNum" sz="quarter" idx="5"/>
          </p:nvPr>
        </p:nvSpPr>
        <p:spPr/>
        <p:txBody>
          <a:bodyPr/>
          <a:lstStyle/>
          <a:p>
            <a:fld id="{4D0F24F4-3247-2B4F-AACD-C457ED29B7FC}" type="slidenum">
              <a:rPr lang="en-US" smtClean="0"/>
              <a:pPr/>
              <a:t>106</a:t>
            </a:fld>
            <a:endParaRPr lang="en-US"/>
          </a:p>
        </p:txBody>
      </p:sp>
    </p:spTree>
    <p:extLst>
      <p:ext uri="{BB962C8B-B14F-4D97-AF65-F5344CB8AC3E}">
        <p14:creationId xmlns:p14="http://schemas.microsoft.com/office/powerpoint/2010/main" val="21486595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5_Title Slide">
    <p:spTree>
      <p:nvGrpSpPr>
        <p:cNvPr id="1" name=""/>
        <p:cNvGrpSpPr/>
        <p:nvPr/>
      </p:nvGrpSpPr>
      <p:grpSpPr>
        <a:xfrm>
          <a:off x="0" y="0"/>
          <a:ext cx="0" cy="0"/>
          <a:chOff x="0" y="0"/>
          <a:chExt cx="0" cy="0"/>
        </a:xfrm>
      </p:grpSpPr>
      <p:grpSp>
        <p:nvGrpSpPr>
          <p:cNvPr id="10" name="Group 9"/>
          <p:cNvGrpSpPr/>
          <p:nvPr userDrawn="1"/>
        </p:nvGrpSpPr>
        <p:grpSpPr>
          <a:xfrm>
            <a:off x="-3" y="6179278"/>
            <a:ext cx="9158706" cy="760301"/>
            <a:chOff x="-3" y="6179278"/>
            <a:chExt cx="9158706" cy="760301"/>
          </a:xfrm>
        </p:grpSpPr>
        <p:sp>
          <p:nvSpPr>
            <p:cNvPr id="11" name="TextBox 10"/>
            <p:cNvSpPr txBox="1"/>
            <p:nvPr/>
          </p:nvSpPr>
          <p:spPr>
            <a:xfrm>
              <a:off x="333969" y="6603992"/>
              <a:ext cx="4864706" cy="230832"/>
            </a:xfrm>
            <a:prstGeom prst="rect">
              <a:avLst/>
            </a:prstGeom>
            <a:noFill/>
          </p:spPr>
          <p:txBody>
            <a:bodyPr wrap="square" rtlCol="0">
              <a:spAutoFit/>
            </a:bodyPr>
            <a:lstStyle/>
            <a:p>
              <a:r>
                <a:rPr lang="en-US" sz="900" dirty="0">
                  <a:solidFill>
                    <a:srgbClr val="FFFFFF"/>
                  </a:solidFill>
                  <a:latin typeface="Verdana"/>
                  <a:cs typeface="Verdana"/>
                </a:rPr>
                <a:t>©2013 Skyhook Wireless Inc.</a:t>
              </a:r>
            </a:p>
          </p:txBody>
        </p:sp>
        <p:grpSp>
          <p:nvGrpSpPr>
            <p:cNvPr id="12" name="Group 11"/>
            <p:cNvGrpSpPr/>
            <p:nvPr/>
          </p:nvGrpSpPr>
          <p:grpSpPr>
            <a:xfrm rot="16200000">
              <a:off x="4233947" y="1945328"/>
              <a:ext cx="690806" cy="9158706"/>
              <a:chOff x="4856713" y="308981"/>
              <a:chExt cx="1551428" cy="7260540"/>
            </a:xfrm>
          </p:grpSpPr>
          <p:sp>
            <p:nvSpPr>
              <p:cNvPr id="15" name="Rectangle 14"/>
              <p:cNvSpPr/>
              <p:nvPr/>
            </p:nvSpPr>
            <p:spPr>
              <a:xfrm>
                <a:off x="4858508" y="5615975"/>
                <a:ext cx="1470438" cy="1953546"/>
              </a:xfrm>
              <a:prstGeom prst="rect">
                <a:avLst/>
              </a:prstGeom>
              <a:solidFill>
                <a:srgbClr val="00418C"/>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6" name="Rectangle 15"/>
              <p:cNvSpPr/>
              <p:nvPr/>
            </p:nvSpPr>
            <p:spPr>
              <a:xfrm>
                <a:off x="4856713" y="326033"/>
                <a:ext cx="1472242" cy="4197048"/>
              </a:xfrm>
              <a:prstGeom prst="rect">
                <a:avLst/>
              </a:prstGeom>
              <a:solidFill>
                <a:srgbClr val="FFFFFF"/>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7" name="Rectangle 16"/>
              <p:cNvSpPr/>
              <p:nvPr/>
            </p:nvSpPr>
            <p:spPr>
              <a:xfrm>
                <a:off x="4935901" y="308981"/>
                <a:ext cx="1472240" cy="4121238"/>
              </a:xfrm>
              <a:prstGeom prst="rect">
                <a:avLst/>
              </a:prstGeom>
              <a:solidFill>
                <a:schemeClr val="accent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solidFill>
                    <a:srgbClr val="00A1E1"/>
                  </a:solidFill>
                </a:endParaRPr>
              </a:p>
            </p:txBody>
          </p:sp>
          <p:sp>
            <p:nvSpPr>
              <p:cNvPr id="18" name="Rectangle 17"/>
              <p:cNvSpPr/>
              <p:nvPr/>
            </p:nvSpPr>
            <p:spPr>
              <a:xfrm>
                <a:off x="4856716" y="3993078"/>
                <a:ext cx="1472240" cy="612898"/>
              </a:xfrm>
              <a:prstGeom prst="rect">
                <a:avLst/>
              </a:prstGeom>
              <a:solidFill>
                <a:schemeClr val="accent3"/>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solidFill>
                    <a:schemeClr val="accent3"/>
                  </a:solidFill>
                </a:endParaRPr>
              </a:p>
            </p:txBody>
          </p:sp>
          <p:sp>
            <p:nvSpPr>
              <p:cNvPr id="19" name="Rectangle 18"/>
              <p:cNvSpPr/>
              <p:nvPr/>
            </p:nvSpPr>
            <p:spPr>
              <a:xfrm>
                <a:off x="4856714" y="4605977"/>
                <a:ext cx="1472245" cy="147311"/>
              </a:xfrm>
              <a:prstGeom prst="rect">
                <a:avLst/>
              </a:prstGeom>
              <a:solidFill>
                <a:schemeClr val="accent6"/>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solidFill>
                    <a:schemeClr val="accent3"/>
                  </a:solidFill>
                </a:endParaRPr>
              </a:p>
            </p:txBody>
          </p:sp>
          <p:sp>
            <p:nvSpPr>
              <p:cNvPr id="20" name="Rectangle 19"/>
              <p:cNvSpPr/>
              <p:nvPr/>
            </p:nvSpPr>
            <p:spPr>
              <a:xfrm>
                <a:off x="4856715" y="4753290"/>
                <a:ext cx="1472247" cy="870143"/>
              </a:xfrm>
              <a:prstGeom prst="rect">
                <a:avLst/>
              </a:prstGeom>
              <a:solidFill>
                <a:schemeClr val="accent4"/>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sp>
          <p:nvSpPr>
            <p:cNvPr id="14" name="TextBox 13"/>
            <p:cNvSpPr txBox="1"/>
            <p:nvPr/>
          </p:nvSpPr>
          <p:spPr>
            <a:xfrm>
              <a:off x="112229" y="6314023"/>
              <a:ext cx="4461482" cy="625556"/>
            </a:xfrm>
            <a:prstGeom prst="rect">
              <a:avLst/>
            </a:prstGeom>
            <a:noFill/>
          </p:spPr>
          <p:txBody>
            <a:bodyPr wrap="square" rtlCol="0">
              <a:spAutoFit/>
            </a:bodyPr>
            <a:lstStyle/>
            <a:p>
              <a:pPr>
                <a:lnSpc>
                  <a:spcPct val="130000"/>
                </a:lnSpc>
              </a:pPr>
              <a:endParaRPr lang="en-US" sz="900" dirty="0">
                <a:solidFill>
                  <a:schemeClr val="accent1">
                    <a:lumMod val="25000"/>
                  </a:schemeClr>
                </a:solidFill>
                <a:latin typeface="Verdana"/>
                <a:cs typeface="Verdana"/>
              </a:endParaRPr>
            </a:p>
            <a:p>
              <a:pPr marL="0" marR="0" indent="0" algn="l" defTabSz="457200" rtl="0" eaLnBrk="1" fontAlgn="auto" latinLnBrk="0" hangingPunct="1">
                <a:lnSpc>
                  <a:spcPct val="130000"/>
                </a:lnSpc>
                <a:spcBef>
                  <a:spcPts val="0"/>
                </a:spcBef>
                <a:spcAft>
                  <a:spcPts val="0"/>
                </a:spcAft>
                <a:buClrTx/>
                <a:buSzTx/>
                <a:buFontTx/>
                <a:buNone/>
                <a:tabLst/>
                <a:defRPr/>
              </a:pPr>
              <a:r>
                <a:rPr lang="en-US" sz="900" dirty="0">
                  <a:solidFill>
                    <a:schemeClr val="accent1">
                      <a:lumMod val="25000"/>
                    </a:schemeClr>
                  </a:solidFill>
                  <a:latin typeface="Verdana"/>
                  <a:cs typeface="Verdana"/>
                </a:rPr>
                <a:t>Boston</a:t>
              </a:r>
              <a:r>
                <a:rPr lang="en-US" sz="900" baseline="0" dirty="0">
                  <a:solidFill>
                    <a:schemeClr val="accent1">
                      <a:lumMod val="25000"/>
                    </a:schemeClr>
                  </a:solidFill>
                  <a:latin typeface="Verdana"/>
                  <a:cs typeface="Verdana"/>
                </a:rPr>
                <a:t> University </a:t>
              </a:r>
              <a:r>
                <a:rPr lang="mr-IN" sz="900" baseline="0" dirty="0">
                  <a:solidFill>
                    <a:schemeClr val="accent1">
                      <a:lumMod val="25000"/>
                    </a:schemeClr>
                  </a:solidFill>
                  <a:latin typeface="Verdana"/>
                  <a:cs typeface="Verdana"/>
                </a:rPr>
                <a:t>–</a:t>
              </a:r>
              <a:r>
                <a:rPr lang="en-US" sz="900" baseline="0" dirty="0">
                  <a:solidFill>
                    <a:schemeClr val="accent1">
                      <a:lumMod val="25000"/>
                    </a:schemeClr>
                  </a:solidFill>
                  <a:latin typeface="Verdana"/>
                  <a:cs typeface="Verdana"/>
                </a:rPr>
                <a:t> CS555, Data Analysis, F. Alizadeh-</a:t>
              </a:r>
              <a:r>
                <a:rPr lang="en-US" sz="900" baseline="0" dirty="0" err="1">
                  <a:solidFill>
                    <a:schemeClr val="accent1">
                      <a:lumMod val="25000"/>
                    </a:schemeClr>
                  </a:solidFill>
                  <a:latin typeface="Verdana"/>
                  <a:cs typeface="Verdana"/>
                </a:rPr>
                <a:t>Shabdiz</a:t>
              </a:r>
              <a:endParaRPr lang="en-US" sz="900" dirty="0">
                <a:solidFill>
                  <a:schemeClr val="accent1">
                    <a:lumMod val="25000"/>
                  </a:schemeClr>
                </a:solidFill>
                <a:latin typeface="Verdana"/>
                <a:cs typeface="Verdana"/>
              </a:endParaRPr>
            </a:p>
            <a:p>
              <a:pPr>
                <a:lnSpc>
                  <a:spcPct val="130000"/>
                </a:lnSpc>
              </a:pPr>
              <a:endParaRPr lang="en-US" sz="900" dirty="0">
                <a:solidFill>
                  <a:schemeClr val="accent1">
                    <a:lumMod val="25000"/>
                  </a:schemeClr>
                </a:solidFill>
                <a:latin typeface="Verdana"/>
                <a:cs typeface="Verdana"/>
              </a:endParaRPr>
            </a:p>
          </p:txBody>
        </p:sp>
      </p:grpSp>
    </p:spTree>
    <p:extLst>
      <p:ext uri="{BB962C8B-B14F-4D97-AF65-F5344CB8AC3E}">
        <p14:creationId xmlns:p14="http://schemas.microsoft.com/office/powerpoint/2010/main" val="20783232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2_Title Slide">
    <p:bg>
      <p:bgPr>
        <a:solidFill>
          <a:srgbClr val="32606D"/>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254240" y="1880838"/>
            <a:ext cx="6449760" cy="1470394"/>
          </a:xfrm>
        </p:spPr>
        <p:txBody>
          <a:bodyPr anchor="b"/>
          <a:lstStyle>
            <a:lvl1pPr algn="l">
              <a:defRPr>
                <a:solidFill>
                  <a:schemeClr val="bg1"/>
                </a:solidFill>
              </a:defRPr>
            </a:lvl1pPr>
          </a:lstStyle>
          <a:p>
            <a:r>
              <a:rPr lang="en-US"/>
              <a:t>Click to edit Master title style</a:t>
            </a:r>
            <a:endParaRPr lang="en-US" dirty="0"/>
          </a:p>
        </p:txBody>
      </p:sp>
      <p:sp>
        <p:nvSpPr>
          <p:cNvPr id="3" name="Subtitle 2"/>
          <p:cNvSpPr>
            <a:spLocks noGrp="1"/>
          </p:cNvSpPr>
          <p:nvPr>
            <p:ph type="subTitle" idx="1"/>
          </p:nvPr>
        </p:nvSpPr>
        <p:spPr>
          <a:xfrm>
            <a:off x="1254240" y="3429001"/>
            <a:ext cx="6497280" cy="1752664"/>
          </a:xfrm>
        </p:spPr>
        <p:txBody>
          <a:bodyPr/>
          <a:lstStyle>
            <a:lvl1pPr marL="0" indent="0" algn="l">
              <a:buNone/>
              <a:defRPr sz="1600">
                <a:solidFill>
                  <a:schemeClr val="bg1"/>
                </a:solidFill>
              </a:defRPr>
            </a:lvl1pPr>
            <a:lvl2pPr marL="414726" indent="0" algn="ctr">
              <a:buNone/>
              <a:defRPr/>
            </a:lvl2pPr>
            <a:lvl3pPr marL="829452" indent="0" algn="ctr">
              <a:buNone/>
              <a:defRPr/>
            </a:lvl3pPr>
            <a:lvl4pPr marL="1244178" indent="0" algn="ctr">
              <a:buNone/>
              <a:defRPr/>
            </a:lvl4pPr>
            <a:lvl5pPr marL="1658904" indent="0" algn="ctr">
              <a:buNone/>
              <a:defRPr/>
            </a:lvl5pPr>
            <a:lvl6pPr marL="2073631" indent="0" algn="ctr">
              <a:buNone/>
              <a:defRPr/>
            </a:lvl6pPr>
            <a:lvl7pPr marL="2488357" indent="0" algn="ctr">
              <a:buNone/>
              <a:defRPr/>
            </a:lvl7pPr>
            <a:lvl8pPr marL="2903083" indent="0" algn="ctr">
              <a:buNone/>
              <a:defRPr/>
            </a:lvl8pPr>
            <a:lvl9pPr marL="3317809" indent="0" algn="ctr">
              <a:buNone/>
              <a:defRPr/>
            </a:lvl9pPr>
          </a:lstStyle>
          <a:p>
            <a:r>
              <a:rPr lang="en-US"/>
              <a:t>Click to edit Master subtitle style</a:t>
            </a:r>
            <a:endParaRPr lang="en-US" dirty="0"/>
          </a:p>
        </p:txBody>
      </p:sp>
      <p:sp>
        <p:nvSpPr>
          <p:cNvPr id="9" name="Slide Number Placeholder 8"/>
          <p:cNvSpPr>
            <a:spLocks noGrp="1"/>
          </p:cNvSpPr>
          <p:nvPr>
            <p:ph type="sldNum" sz="quarter" idx="11"/>
          </p:nvPr>
        </p:nvSpPr>
        <p:spPr>
          <a:xfrm>
            <a:off x="87839" y="6539726"/>
            <a:ext cx="336960" cy="222176"/>
          </a:xfrm>
          <a:prstGeom prst="rect">
            <a:avLst/>
          </a:prstGeom>
        </p:spPr>
        <p:txBody>
          <a:bodyPr lIns="82945" tIns="41473" rIns="82945" bIns="41473"/>
          <a:lstStyle>
            <a:lvl1pPr>
              <a:defRPr>
                <a:solidFill>
                  <a:schemeClr val="bg1"/>
                </a:solidFill>
              </a:defRPr>
            </a:lvl1pPr>
          </a:lstStyle>
          <a:p>
            <a:fld id="{F41CB934-E044-4302-ADC1-76B15BC79772}" type="slidenum">
              <a:rPr lang="en-US" smtClean="0"/>
              <a:pPr/>
              <a:t>‹#›</a:t>
            </a:fld>
            <a:endParaRPr lang="en-US"/>
          </a:p>
        </p:txBody>
      </p:sp>
      <p:cxnSp>
        <p:nvCxnSpPr>
          <p:cNvPr id="12" name="Straight Connector 11"/>
          <p:cNvCxnSpPr/>
          <p:nvPr userDrawn="1"/>
        </p:nvCxnSpPr>
        <p:spPr bwMode="auto">
          <a:xfrm rot="5400000">
            <a:off x="-128291" y="3429000"/>
            <a:ext cx="2488581" cy="1440"/>
          </a:xfrm>
          <a:prstGeom prst="line">
            <a:avLst/>
          </a:prstGeom>
          <a:solidFill>
            <a:srgbClr val="00CC99"/>
          </a:solidFill>
          <a:ln w="9525" cap="flat" cmpd="sng" algn="ctr">
            <a:solidFill>
              <a:schemeClr val="bg1"/>
            </a:solidFill>
            <a:prstDash val="solid"/>
            <a:round/>
            <a:headEnd type="none" w="med" len="med"/>
            <a:tailEnd type="none" w="med" len="med"/>
          </a:ln>
          <a:effectLst/>
        </p:spPr>
      </p:cxnSp>
      <p:cxnSp>
        <p:nvCxnSpPr>
          <p:cNvPr id="8" name="Straight Connector 7"/>
          <p:cNvCxnSpPr/>
          <p:nvPr userDrawn="1"/>
        </p:nvCxnSpPr>
        <p:spPr bwMode="auto">
          <a:xfrm rot="5400000">
            <a:off x="358389" y="6642351"/>
            <a:ext cx="207382" cy="1440"/>
          </a:xfrm>
          <a:prstGeom prst="line">
            <a:avLst/>
          </a:prstGeom>
          <a:solidFill>
            <a:srgbClr val="00CC99"/>
          </a:solidFill>
          <a:ln w="3175" cap="flat" cmpd="sng" algn="ctr">
            <a:solidFill>
              <a:schemeClr val="bg1"/>
            </a:solidFill>
            <a:prstDash val="solid"/>
            <a:round/>
            <a:headEnd type="none" w="med" len="med"/>
            <a:tailEnd type="none" w="med" len="med"/>
          </a:ln>
          <a:effectLst/>
        </p:spPr>
      </p:cxnSp>
      <p:sp>
        <p:nvSpPr>
          <p:cNvPr id="11" name="TextBox 10"/>
          <p:cNvSpPr txBox="1"/>
          <p:nvPr userDrawn="1"/>
        </p:nvSpPr>
        <p:spPr>
          <a:xfrm>
            <a:off x="493229" y="6314023"/>
            <a:ext cx="4461482" cy="445507"/>
          </a:xfrm>
          <a:prstGeom prst="rect">
            <a:avLst/>
          </a:prstGeom>
          <a:noFill/>
        </p:spPr>
        <p:txBody>
          <a:bodyPr wrap="square" rtlCol="0">
            <a:spAutoFit/>
          </a:bodyPr>
          <a:lstStyle/>
          <a:p>
            <a:pPr>
              <a:lnSpc>
                <a:spcPct val="130000"/>
              </a:lnSpc>
            </a:pPr>
            <a:endParaRPr lang="en-US" sz="900" dirty="0">
              <a:solidFill>
                <a:schemeClr val="accent1">
                  <a:lumMod val="25000"/>
                </a:schemeClr>
              </a:solidFill>
              <a:latin typeface="Verdana"/>
              <a:cs typeface="Verdana"/>
            </a:endParaRPr>
          </a:p>
          <a:p>
            <a:pPr marL="0" marR="0" indent="0" algn="l" defTabSz="457200" rtl="0" eaLnBrk="1" fontAlgn="auto" latinLnBrk="0" hangingPunct="1">
              <a:lnSpc>
                <a:spcPct val="130000"/>
              </a:lnSpc>
              <a:spcBef>
                <a:spcPts val="0"/>
              </a:spcBef>
              <a:spcAft>
                <a:spcPts val="0"/>
              </a:spcAft>
              <a:buClrTx/>
              <a:buSzTx/>
              <a:buFontTx/>
              <a:buNone/>
              <a:tabLst/>
              <a:defRPr/>
            </a:pPr>
            <a:r>
              <a:rPr lang="en-US" sz="900" dirty="0">
                <a:solidFill>
                  <a:schemeClr val="accent1">
                    <a:lumMod val="25000"/>
                  </a:schemeClr>
                </a:solidFill>
                <a:latin typeface="Verdana"/>
                <a:cs typeface="Verdana"/>
              </a:rPr>
              <a:t>Boston</a:t>
            </a:r>
            <a:r>
              <a:rPr lang="en-US" sz="900" baseline="0" dirty="0">
                <a:solidFill>
                  <a:schemeClr val="accent1">
                    <a:lumMod val="25000"/>
                  </a:schemeClr>
                </a:solidFill>
                <a:latin typeface="Verdana"/>
                <a:cs typeface="Verdana"/>
              </a:rPr>
              <a:t> University </a:t>
            </a:r>
            <a:r>
              <a:rPr lang="mr-IN" sz="900" baseline="0" dirty="0">
                <a:solidFill>
                  <a:schemeClr val="accent1">
                    <a:lumMod val="25000"/>
                  </a:schemeClr>
                </a:solidFill>
                <a:latin typeface="Verdana"/>
                <a:cs typeface="Verdana"/>
              </a:rPr>
              <a:t>–</a:t>
            </a:r>
            <a:r>
              <a:rPr lang="en-US" sz="900" baseline="0" dirty="0">
                <a:solidFill>
                  <a:schemeClr val="accent1">
                    <a:lumMod val="25000"/>
                  </a:schemeClr>
                </a:solidFill>
                <a:latin typeface="Verdana"/>
                <a:cs typeface="Verdana"/>
              </a:rPr>
              <a:t>CS555, Data Analysis, F. Alizadeh-</a:t>
            </a:r>
            <a:r>
              <a:rPr lang="en-US" sz="900" baseline="0" dirty="0" err="1">
                <a:solidFill>
                  <a:schemeClr val="accent1">
                    <a:lumMod val="25000"/>
                  </a:schemeClr>
                </a:solidFill>
                <a:latin typeface="Verdana"/>
                <a:cs typeface="Verdana"/>
              </a:rPr>
              <a:t>Shabdiz</a:t>
            </a:r>
            <a:endParaRPr lang="en-US" sz="900" dirty="0">
              <a:solidFill>
                <a:schemeClr val="accent1">
                  <a:lumMod val="25000"/>
                </a:schemeClr>
              </a:solidFill>
              <a:latin typeface="Verdana"/>
              <a:cs typeface="Verdana"/>
            </a:endParaRPr>
          </a:p>
        </p:txBody>
      </p:sp>
    </p:spTree>
    <p:extLst>
      <p:ext uri="{BB962C8B-B14F-4D97-AF65-F5344CB8AC3E}">
        <p14:creationId xmlns:p14="http://schemas.microsoft.com/office/powerpoint/2010/main" val="3213329813"/>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TextBox 3">
            <a:extLst>
              <a:ext uri="{FF2B5EF4-FFF2-40B4-BE49-F238E27FC236}">
                <a16:creationId xmlns:a16="http://schemas.microsoft.com/office/drawing/2014/main" id="{EE80BAA5-DBB9-7A4B-A9FE-B89B27DAD475}"/>
              </a:ext>
            </a:extLst>
          </p:cNvPr>
          <p:cNvSpPr txBox="1"/>
          <p:nvPr userDrawn="1"/>
        </p:nvSpPr>
        <p:spPr>
          <a:xfrm>
            <a:off x="2097157" y="6510130"/>
            <a:ext cx="0" cy="0"/>
          </a:xfrm>
          <a:prstGeom prst="rect">
            <a:avLst/>
          </a:prstGeom>
        </p:spPr>
        <p:txBody>
          <a:bodyPr vert="horz" wrap="none" lIns="91440" tIns="45720" rIns="91440" bIns="45720" rtlCol="0">
            <a:normAutofit fontScale="25000" lnSpcReduction="20000"/>
          </a:bodyPr>
          <a:lstStyle/>
          <a:p>
            <a:endParaRPr lang="en-US" sz="2000" dirty="0">
              <a:solidFill>
                <a:prstClr val="black"/>
              </a:solidFill>
              <a:latin typeface="Source Sans Pro Light"/>
              <a:cs typeface="Source Sans Pro Light"/>
            </a:endParaRPr>
          </a:p>
        </p:txBody>
      </p:sp>
      <p:sp>
        <p:nvSpPr>
          <p:cNvPr id="5" name="TextBox 4">
            <a:extLst>
              <a:ext uri="{FF2B5EF4-FFF2-40B4-BE49-F238E27FC236}">
                <a16:creationId xmlns:a16="http://schemas.microsoft.com/office/drawing/2014/main" id="{DE326AB9-E969-B14D-AB5F-12B30E87F44D}"/>
              </a:ext>
            </a:extLst>
          </p:cNvPr>
          <p:cNvSpPr txBox="1"/>
          <p:nvPr userDrawn="1"/>
        </p:nvSpPr>
        <p:spPr>
          <a:xfrm>
            <a:off x="2892287" y="6539948"/>
            <a:ext cx="0" cy="0"/>
          </a:xfrm>
          <a:prstGeom prst="rect">
            <a:avLst/>
          </a:prstGeom>
        </p:spPr>
        <p:txBody>
          <a:bodyPr vert="horz" wrap="none" lIns="91440" tIns="45720" rIns="91440" bIns="45720" rtlCol="0">
            <a:normAutofit fontScale="25000" lnSpcReduction="20000"/>
          </a:bodyPr>
          <a:lstStyle/>
          <a:p>
            <a:endParaRPr lang="en-US" sz="2000" dirty="0">
              <a:solidFill>
                <a:prstClr val="black"/>
              </a:solidFill>
              <a:latin typeface="Source Sans Pro Light"/>
              <a:cs typeface="Source Sans Pro Light"/>
            </a:endParaRPr>
          </a:p>
        </p:txBody>
      </p:sp>
      <p:sp>
        <p:nvSpPr>
          <p:cNvPr id="6" name="TextBox 5">
            <a:extLst>
              <a:ext uri="{FF2B5EF4-FFF2-40B4-BE49-F238E27FC236}">
                <a16:creationId xmlns:a16="http://schemas.microsoft.com/office/drawing/2014/main" id="{3DE70CF7-CB2B-D341-85D1-DA8995C8F78B}"/>
              </a:ext>
            </a:extLst>
          </p:cNvPr>
          <p:cNvSpPr txBox="1"/>
          <p:nvPr userDrawn="1"/>
        </p:nvSpPr>
        <p:spPr>
          <a:xfrm>
            <a:off x="1828800" y="6549887"/>
            <a:ext cx="0" cy="0"/>
          </a:xfrm>
          <a:prstGeom prst="rect">
            <a:avLst/>
          </a:prstGeom>
        </p:spPr>
        <p:txBody>
          <a:bodyPr vert="horz" wrap="none" lIns="91440" tIns="45720" rIns="91440" bIns="45720" rtlCol="0">
            <a:normAutofit fontScale="25000" lnSpcReduction="20000"/>
          </a:bodyPr>
          <a:lstStyle/>
          <a:p>
            <a:endParaRPr lang="en-US" sz="2000" dirty="0">
              <a:solidFill>
                <a:prstClr val="black"/>
              </a:solidFill>
              <a:latin typeface="Source Sans Pro Light"/>
              <a:cs typeface="Source Sans Pro Light"/>
            </a:endParaRPr>
          </a:p>
        </p:txBody>
      </p:sp>
      <p:sp>
        <p:nvSpPr>
          <p:cNvPr id="7" name="TextBox 6">
            <a:extLst>
              <a:ext uri="{FF2B5EF4-FFF2-40B4-BE49-F238E27FC236}">
                <a16:creationId xmlns:a16="http://schemas.microsoft.com/office/drawing/2014/main" id="{E8AB4D20-55F7-304C-B1B1-0E28EE1C7B7E}"/>
              </a:ext>
            </a:extLst>
          </p:cNvPr>
          <p:cNvSpPr txBox="1"/>
          <p:nvPr userDrawn="1"/>
        </p:nvSpPr>
        <p:spPr>
          <a:xfrm>
            <a:off x="1967948" y="6569765"/>
            <a:ext cx="0" cy="0"/>
          </a:xfrm>
          <a:prstGeom prst="rect">
            <a:avLst/>
          </a:prstGeom>
        </p:spPr>
        <p:txBody>
          <a:bodyPr vert="horz" wrap="none" lIns="91440" tIns="45720" rIns="91440" bIns="45720" rtlCol="0">
            <a:normAutofit fontScale="25000" lnSpcReduction="20000"/>
          </a:bodyPr>
          <a:lstStyle/>
          <a:p>
            <a:endParaRPr lang="en-US" sz="2000" dirty="0">
              <a:solidFill>
                <a:prstClr val="black"/>
              </a:solidFill>
              <a:latin typeface="Source Sans Pro Light"/>
              <a:cs typeface="Source Sans Pro Light"/>
            </a:endParaRPr>
          </a:p>
        </p:txBody>
      </p:sp>
    </p:spTree>
    <p:extLst>
      <p:ext uri="{BB962C8B-B14F-4D97-AF65-F5344CB8AC3E}">
        <p14:creationId xmlns:p14="http://schemas.microsoft.com/office/powerpoint/2010/main" val="21721699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itle 3"/>
          <p:cNvSpPr>
            <a:spLocks noGrp="1"/>
          </p:cNvSpPr>
          <p:nvPr>
            <p:ph type="title" hasCustomPrompt="1"/>
          </p:nvPr>
        </p:nvSpPr>
        <p:spPr/>
        <p:txBody>
          <a:bodyPr/>
          <a:lstStyle>
            <a:lvl1pPr>
              <a:defRPr cap="none"/>
            </a:lvl1pPr>
          </a:lstStyle>
          <a:p>
            <a:r>
              <a:rPr lang="en-US" dirty="0"/>
              <a:t>Click To Edit Master Title Style</a:t>
            </a:r>
          </a:p>
        </p:txBody>
      </p:sp>
      <p:sp>
        <p:nvSpPr>
          <p:cNvPr id="2" name="TextBox 1">
            <a:extLst>
              <a:ext uri="{FF2B5EF4-FFF2-40B4-BE49-F238E27FC236}">
                <a16:creationId xmlns:a16="http://schemas.microsoft.com/office/drawing/2014/main" id="{0E8CC00E-C97E-7E4C-B48E-34F403E52B28}"/>
              </a:ext>
            </a:extLst>
          </p:cNvPr>
          <p:cNvSpPr txBox="1"/>
          <p:nvPr userDrawn="1"/>
        </p:nvSpPr>
        <p:spPr>
          <a:xfrm>
            <a:off x="1858617" y="6569765"/>
            <a:ext cx="0" cy="0"/>
          </a:xfrm>
          <a:prstGeom prst="rect">
            <a:avLst/>
          </a:prstGeom>
        </p:spPr>
        <p:txBody>
          <a:bodyPr vert="horz" wrap="none" lIns="91440" tIns="45720" rIns="91440" bIns="45720" rtlCol="0">
            <a:normAutofit fontScale="25000" lnSpcReduction="20000"/>
          </a:bodyPr>
          <a:lstStyle/>
          <a:p>
            <a:endParaRPr lang="en-US" sz="2000" dirty="0">
              <a:solidFill>
                <a:prstClr val="black"/>
              </a:solidFill>
              <a:latin typeface="Source Sans Pro Light"/>
              <a:cs typeface="Source Sans Pro Light"/>
            </a:endParaRPr>
          </a:p>
        </p:txBody>
      </p:sp>
    </p:spTree>
    <p:extLst>
      <p:ext uri="{BB962C8B-B14F-4D97-AF65-F5344CB8AC3E}">
        <p14:creationId xmlns:p14="http://schemas.microsoft.com/office/powerpoint/2010/main" val="21349690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1899936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120624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normAutofit/>
          </a:bodyPr>
          <a:lstStyle>
            <a:lvl1pPr marL="0" indent="0">
              <a:buNone/>
              <a:defRPr sz="2200" b="1">
                <a:solidFill>
                  <a:schemeClr val="accent1">
                    <a:lumMod val="25000"/>
                  </a:schemeClr>
                </a:solidFill>
                <a:latin typeface="Source Sans Pro"/>
                <a:cs typeface="Source Sans Pro"/>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normAutofit/>
          </a:bodyPr>
          <a:lstStyle>
            <a:lvl1pPr marL="0" indent="0">
              <a:buNone/>
              <a:defRPr sz="2200" b="1">
                <a:solidFill>
                  <a:schemeClr val="accent1">
                    <a:lumMod val="25000"/>
                  </a:schemeClr>
                </a:solidFill>
                <a:latin typeface="Source Sans Pro"/>
                <a:cs typeface="Source Sans Pro"/>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289987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cap="none"/>
            </a:lvl1pPr>
          </a:lstStyle>
          <a:p>
            <a:r>
              <a:rPr lang="en-US" dirty="0"/>
              <a:t>Click To Edit Master Title Style</a:t>
            </a:r>
          </a:p>
        </p:txBody>
      </p:sp>
    </p:spTree>
    <p:extLst>
      <p:ext uri="{BB962C8B-B14F-4D97-AF65-F5344CB8AC3E}">
        <p14:creationId xmlns:p14="http://schemas.microsoft.com/office/powerpoint/2010/main" val="24135388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2376163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9415319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6" name="Text Placeholder 5"/>
          <p:cNvSpPr>
            <a:spLocks noGrp="1"/>
          </p:cNvSpPr>
          <p:nvPr>
            <p:ph type="body" sz="quarter" idx="13" hasCustomPrompt="1"/>
          </p:nvPr>
        </p:nvSpPr>
        <p:spPr>
          <a:xfrm>
            <a:off x="809038" y="2967831"/>
            <a:ext cx="7544740" cy="912813"/>
          </a:xfrm>
          <a:prstGeom prst="rect">
            <a:avLst/>
          </a:prstGeom>
        </p:spPr>
        <p:txBody>
          <a:bodyPr vert="horz"/>
          <a:lstStyle>
            <a:lvl1pPr marL="0" indent="0">
              <a:buNone/>
              <a:defRPr>
                <a:solidFill>
                  <a:srgbClr val="004A74"/>
                </a:solidFill>
              </a:defRPr>
            </a:lvl1pPr>
          </a:lstStyle>
          <a:p>
            <a:pPr algn="ctr"/>
            <a:r>
              <a:rPr lang="en-US" sz="3200" b="1" spc="50" dirty="0">
                <a:solidFill>
                  <a:srgbClr val="FFFFFF"/>
                </a:solidFill>
                <a:latin typeface="Source Sans Pro Light"/>
                <a:cs typeface="Source Sans Pro Light"/>
              </a:rPr>
              <a:t>I am thoroughly </a:t>
            </a:r>
            <a:r>
              <a:rPr lang="en-US" sz="3200" b="1" spc="50" dirty="0">
                <a:solidFill>
                  <a:srgbClr val="FFFFFF"/>
                </a:solidFill>
                <a:latin typeface="Source Sans Pro"/>
                <a:cs typeface="Source Sans Pro"/>
              </a:rPr>
              <a:t>disruptive.</a:t>
            </a:r>
            <a:endParaRPr lang="en-US" sz="3200" b="1" spc="50" dirty="0">
              <a:solidFill>
                <a:srgbClr val="FFFFFF"/>
              </a:solidFill>
              <a:latin typeface="Source Sans Pro Light"/>
              <a:cs typeface="Source Sans Pro Light"/>
            </a:endParaRPr>
          </a:p>
        </p:txBody>
      </p:sp>
    </p:spTree>
    <p:extLst>
      <p:ext uri="{BB962C8B-B14F-4D97-AF65-F5344CB8AC3E}">
        <p14:creationId xmlns:p14="http://schemas.microsoft.com/office/powerpoint/2010/main" val="241378681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hasCustomPrompt="1"/>
          </p:nvPr>
        </p:nvSpPr>
        <p:spPr>
          <a:xfrm rot="16200000">
            <a:off x="3665597" y="-2923823"/>
            <a:ext cx="2057400" cy="8316152"/>
          </a:xfrm>
        </p:spPr>
        <p:txBody>
          <a:bodyPr vert="eaVert"/>
          <a:lstStyle>
            <a:lvl1pPr>
              <a:defRPr sz="4400"/>
            </a:lvl1pPr>
          </a:lstStyle>
          <a:p>
            <a:r>
              <a:rPr lang="en-US" sz="3200" b="1" spc="50" dirty="0">
                <a:solidFill>
                  <a:schemeClr val="accent6"/>
                </a:solidFill>
                <a:latin typeface="Source Sans Pro Light"/>
                <a:cs typeface="Source Sans Pro Light"/>
              </a:rPr>
              <a:t>One simple lead statement. Use </a:t>
            </a:r>
            <a:r>
              <a:rPr lang="en-US" sz="3200" b="1" spc="50" dirty="0">
                <a:solidFill>
                  <a:schemeClr val="accent6"/>
                </a:solidFill>
                <a:latin typeface="Source Sans Pro"/>
                <a:cs typeface="Source Sans Pro"/>
              </a:rPr>
              <a:t>bold for emphasis</a:t>
            </a:r>
            <a:r>
              <a:rPr lang="en-US" sz="3200" b="1" spc="50" dirty="0">
                <a:solidFill>
                  <a:schemeClr val="accent6"/>
                </a:solidFill>
                <a:latin typeface="Source Sans Pro Light"/>
                <a:cs typeface="Source Sans Pro Light"/>
              </a:rPr>
              <a:t>, but please do it sparingly.</a:t>
            </a:r>
            <a:endParaRPr lang="en-US" dirty="0"/>
          </a:p>
        </p:txBody>
      </p:sp>
      <p:sp>
        <p:nvSpPr>
          <p:cNvPr id="9" name="Content Placeholder 8"/>
          <p:cNvSpPr>
            <a:spLocks noGrp="1"/>
          </p:cNvSpPr>
          <p:nvPr>
            <p:ph sz="quarter" idx="10" hasCustomPrompt="1"/>
          </p:nvPr>
        </p:nvSpPr>
        <p:spPr>
          <a:xfrm>
            <a:off x="4440472" y="3584221"/>
            <a:ext cx="3785616" cy="2475549"/>
          </a:xfrm>
        </p:spPr>
        <p:txBody>
          <a:bodyPr/>
          <a:lstStyle>
            <a:lvl1pPr marL="457200" indent="-457200">
              <a:lnSpc>
                <a:spcPct val="130000"/>
              </a:lnSpc>
              <a:buFont typeface="+mj-lt"/>
              <a:buAutoNum type="arabicPeriod" startAt="6"/>
              <a:defRPr sz="3200"/>
            </a:lvl1pPr>
          </a:lstStyle>
          <a:p>
            <a:pPr>
              <a:lnSpc>
                <a:spcPct val="130000"/>
              </a:lnSpc>
            </a:pPr>
            <a:r>
              <a:rPr lang="en-US" sz="2000" dirty="0" err="1">
                <a:latin typeface="Source Sans Pro Light"/>
                <a:cs typeface="Source Sans Pro Light"/>
              </a:rPr>
              <a:t>Teslafying</a:t>
            </a:r>
            <a:r>
              <a:rPr lang="en-US" sz="2000" dirty="0">
                <a:latin typeface="Source Sans Pro Light"/>
                <a:cs typeface="Source Sans Pro Light"/>
              </a:rPr>
              <a:t> the presentation</a:t>
            </a:r>
          </a:p>
          <a:p>
            <a:pPr>
              <a:lnSpc>
                <a:spcPct val="130000"/>
              </a:lnSpc>
            </a:pPr>
            <a:r>
              <a:rPr lang="en-US" sz="2000" dirty="0">
                <a:latin typeface="Source Sans Pro Light"/>
                <a:cs typeface="Source Sans Pro Light"/>
              </a:rPr>
              <a:t>Rock steady</a:t>
            </a:r>
          </a:p>
          <a:p>
            <a:pPr>
              <a:lnSpc>
                <a:spcPct val="130000"/>
              </a:lnSpc>
            </a:pPr>
            <a:r>
              <a:rPr lang="en-US" sz="2000" dirty="0">
                <a:latin typeface="Source Sans Pro Light"/>
                <a:cs typeface="Source Sans Pro Light"/>
              </a:rPr>
              <a:t>Conclusion</a:t>
            </a:r>
          </a:p>
          <a:p>
            <a:pPr>
              <a:lnSpc>
                <a:spcPct val="130000"/>
              </a:lnSpc>
            </a:pPr>
            <a:r>
              <a:rPr lang="en-US" sz="2000" dirty="0">
                <a:latin typeface="Source Sans Pro Light"/>
                <a:cs typeface="Source Sans Pro Light"/>
              </a:rPr>
              <a:t>Questions?</a:t>
            </a:r>
          </a:p>
          <a:p>
            <a:pPr>
              <a:lnSpc>
                <a:spcPct val="130000"/>
              </a:lnSpc>
            </a:pPr>
            <a:r>
              <a:rPr lang="en-US" sz="2000" dirty="0">
                <a:latin typeface="Source Sans Pro Light"/>
                <a:cs typeface="Source Sans Pro Light"/>
              </a:rPr>
              <a:t>Signoff and contact info</a:t>
            </a:r>
          </a:p>
        </p:txBody>
      </p:sp>
      <p:sp>
        <p:nvSpPr>
          <p:cNvPr id="11" name="Text Placeholder 10"/>
          <p:cNvSpPr>
            <a:spLocks noGrp="1"/>
          </p:cNvSpPr>
          <p:nvPr>
            <p:ph type="body" sz="quarter" idx="11" hasCustomPrompt="1"/>
          </p:nvPr>
        </p:nvSpPr>
        <p:spPr>
          <a:xfrm>
            <a:off x="415983" y="2963332"/>
            <a:ext cx="4457700" cy="403755"/>
          </a:xfrm>
        </p:spPr>
        <p:txBody>
          <a:bodyPr/>
          <a:lstStyle>
            <a:lvl1pPr marL="0" marR="0" indent="0" algn="l" defTabSz="457200" rtl="0" eaLnBrk="1" fontAlgn="auto" latinLnBrk="0" hangingPunct="1">
              <a:lnSpc>
                <a:spcPct val="100000"/>
              </a:lnSpc>
              <a:spcBef>
                <a:spcPts val="0"/>
              </a:spcBef>
              <a:spcAft>
                <a:spcPts val="0"/>
              </a:spcAft>
              <a:buClrTx/>
              <a:buSzTx/>
              <a:buFontTx/>
              <a:buNone/>
              <a:tabLst/>
              <a:defRPr sz="3200"/>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white">
                    <a:lumMod val="50000"/>
                  </a:prstClr>
                </a:solidFill>
                <a:effectLst/>
                <a:uLnTx/>
                <a:uFillTx/>
                <a:latin typeface="Source Sans Pro"/>
                <a:ea typeface="+mn-ea"/>
                <a:cs typeface="Source Sans Pro"/>
              </a:rPr>
              <a:t>Today’s agenda:</a:t>
            </a:r>
            <a:endParaRPr kumimoji="0" lang="en-US" sz="2000" b="0" i="0" u="none" strike="noStrike" kern="1200" cap="none" spc="0" normalizeH="0" baseline="0" noProof="0" dirty="0">
              <a:ln>
                <a:noFill/>
              </a:ln>
              <a:solidFill>
                <a:prstClr val="black"/>
              </a:solidFill>
              <a:effectLst/>
              <a:uLnTx/>
              <a:uFillTx/>
              <a:latin typeface="Source Sans Pro Light"/>
              <a:ea typeface="+mn-ea"/>
              <a:cs typeface="Source Sans Pro Light"/>
            </a:endParaRPr>
          </a:p>
        </p:txBody>
      </p:sp>
      <p:sp>
        <p:nvSpPr>
          <p:cNvPr id="12" name="Content Placeholder 8"/>
          <p:cNvSpPr>
            <a:spLocks noGrp="1"/>
          </p:cNvSpPr>
          <p:nvPr>
            <p:ph sz="quarter" idx="12" hasCustomPrompt="1"/>
          </p:nvPr>
        </p:nvSpPr>
        <p:spPr>
          <a:xfrm>
            <a:off x="415983" y="3586101"/>
            <a:ext cx="3785616" cy="2475549"/>
          </a:xfrm>
        </p:spPr>
        <p:txBody>
          <a:bodyPr/>
          <a:lstStyle>
            <a:lvl1pPr marL="457200" indent="-457200">
              <a:lnSpc>
                <a:spcPct val="130000"/>
              </a:lnSpc>
              <a:buFont typeface="+mj-lt"/>
              <a:buAutoNum type="arabicPeriod"/>
              <a:defRPr sz="3200"/>
            </a:lvl1pPr>
          </a:lstStyle>
          <a:p>
            <a:pPr>
              <a:lnSpc>
                <a:spcPct val="130000"/>
              </a:lnSpc>
            </a:pPr>
            <a:r>
              <a:rPr lang="en-US" sz="2000" dirty="0" err="1">
                <a:latin typeface="Source Sans Pro Light"/>
                <a:cs typeface="Source Sans Pro Light"/>
              </a:rPr>
              <a:t>Teslafying</a:t>
            </a:r>
            <a:r>
              <a:rPr lang="en-US" sz="2000" dirty="0">
                <a:latin typeface="Source Sans Pro Light"/>
                <a:cs typeface="Source Sans Pro Light"/>
              </a:rPr>
              <a:t> the presentation</a:t>
            </a:r>
          </a:p>
          <a:p>
            <a:pPr>
              <a:lnSpc>
                <a:spcPct val="130000"/>
              </a:lnSpc>
            </a:pPr>
            <a:r>
              <a:rPr lang="en-US" sz="2000" dirty="0">
                <a:latin typeface="Source Sans Pro Light"/>
                <a:cs typeface="Source Sans Pro Light"/>
              </a:rPr>
              <a:t>Rock steady</a:t>
            </a:r>
          </a:p>
          <a:p>
            <a:pPr>
              <a:lnSpc>
                <a:spcPct val="130000"/>
              </a:lnSpc>
            </a:pPr>
            <a:r>
              <a:rPr lang="en-US" sz="2000" dirty="0">
                <a:latin typeface="Source Sans Pro Light"/>
                <a:cs typeface="Source Sans Pro Light"/>
              </a:rPr>
              <a:t>Conclusion</a:t>
            </a:r>
          </a:p>
          <a:p>
            <a:pPr>
              <a:lnSpc>
                <a:spcPct val="130000"/>
              </a:lnSpc>
            </a:pPr>
            <a:r>
              <a:rPr lang="en-US" sz="2000" dirty="0">
                <a:latin typeface="Source Sans Pro Light"/>
                <a:cs typeface="Source Sans Pro Light"/>
              </a:rPr>
              <a:t>Questions?</a:t>
            </a:r>
          </a:p>
          <a:p>
            <a:pPr>
              <a:lnSpc>
                <a:spcPct val="130000"/>
              </a:lnSpc>
            </a:pPr>
            <a:r>
              <a:rPr lang="en-US" sz="2000" dirty="0">
                <a:latin typeface="Source Sans Pro Light"/>
                <a:cs typeface="Source Sans Pro Light"/>
              </a:rPr>
              <a:t>Signoff and contact info</a:t>
            </a:r>
          </a:p>
        </p:txBody>
      </p:sp>
    </p:spTree>
    <p:extLst>
      <p:ext uri="{BB962C8B-B14F-4D97-AF65-F5344CB8AC3E}">
        <p14:creationId xmlns:p14="http://schemas.microsoft.com/office/powerpoint/2010/main" val="343059290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Vertical Title and Text">
    <p:bg>
      <p:bgPr>
        <a:solidFill>
          <a:schemeClr val="accent4"/>
        </a:solidFill>
        <a:effectLst/>
      </p:bgPr>
    </p:bg>
    <p:spTree>
      <p:nvGrpSpPr>
        <p:cNvPr id="1" name=""/>
        <p:cNvGrpSpPr/>
        <p:nvPr/>
      </p:nvGrpSpPr>
      <p:grpSpPr>
        <a:xfrm>
          <a:off x="0" y="0"/>
          <a:ext cx="0" cy="0"/>
          <a:chOff x="0" y="0"/>
          <a:chExt cx="0" cy="0"/>
        </a:xfrm>
      </p:grpSpPr>
      <p:sp>
        <p:nvSpPr>
          <p:cNvPr id="7" name="Text Placeholder 6"/>
          <p:cNvSpPr>
            <a:spLocks noGrp="1"/>
          </p:cNvSpPr>
          <p:nvPr>
            <p:ph type="body" sz="quarter" idx="10" hasCustomPrompt="1"/>
          </p:nvPr>
        </p:nvSpPr>
        <p:spPr>
          <a:xfrm>
            <a:off x="1128537" y="2954338"/>
            <a:ext cx="6105525" cy="949736"/>
          </a:xfrm>
          <a:prstGeom prst="rect">
            <a:avLst/>
          </a:prstGeom>
        </p:spPr>
        <p:txBody>
          <a:bodyPr vert="horz"/>
          <a:lstStyle/>
          <a:p>
            <a:pPr algn="ctr"/>
            <a:r>
              <a:rPr lang="en-US" sz="3200" b="1" spc="50" dirty="0">
                <a:solidFill>
                  <a:srgbClr val="FFFFFF"/>
                </a:solidFill>
                <a:latin typeface="Source Sans Pro Light"/>
                <a:cs typeface="Source Sans Pro Light"/>
              </a:rPr>
              <a:t>I am thoroughly </a:t>
            </a:r>
            <a:r>
              <a:rPr lang="en-US" sz="3200" b="1" spc="50" dirty="0">
                <a:solidFill>
                  <a:srgbClr val="FFFFFF"/>
                </a:solidFill>
                <a:latin typeface="Source Sans Pro"/>
                <a:cs typeface="Source Sans Pro"/>
              </a:rPr>
              <a:t>disruptive.</a:t>
            </a:r>
            <a:endParaRPr lang="en-US" sz="3200" b="1" spc="50" dirty="0">
              <a:solidFill>
                <a:srgbClr val="FFFFFF"/>
              </a:solidFill>
              <a:latin typeface="Source Sans Pro Light"/>
              <a:cs typeface="Source Sans Pro Light"/>
            </a:endParaRPr>
          </a:p>
        </p:txBody>
      </p:sp>
      <p:sp>
        <p:nvSpPr>
          <p:cNvPr id="5" name="TextBox 4"/>
          <p:cNvSpPr txBox="1"/>
          <p:nvPr userDrawn="1"/>
        </p:nvSpPr>
        <p:spPr>
          <a:xfrm>
            <a:off x="647141" y="6436314"/>
            <a:ext cx="5856105" cy="251287"/>
          </a:xfrm>
          <a:prstGeom prst="rect">
            <a:avLst/>
          </a:prstGeom>
          <a:noFill/>
        </p:spPr>
        <p:txBody>
          <a:bodyPr wrap="square" rtlCol="0">
            <a:spAutoFit/>
          </a:bodyPr>
          <a:lstStyle/>
          <a:p>
            <a:pPr marL="0" marR="0" indent="0" algn="l" defTabSz="457200" rtl="0" eaLnBrk="1" fontAlgn="auto" latinLnBrk="0" hangingPunct="1">
              <a:lnSpc>
                <a:spcPct val="130000"/>
              </a:lnSpc>
              <a:spcBef>
                <a:spcPts val="0"/>
              </a:spcBef>
              <a:spcAft>
                <a:spcPts val="0"/>
              </a:spcAft>
              <a:buClrTx/>
              <a:buSzTx/>
              <a:buFontTx/>
              <a:buNone/>
              <a:tabLst/>
              <a:defRPr/>
            </a:pPr>
            <a:r>
              <a:rPr lang="en-US" sz="900" dirty="0">
                <a:solidFill>
                  <a:schemeClr val="accent1">
                    <a:lumMod val="25000"/>
                  </a:schemeClr>
                </a:solidFill>
                <a:latin typeface="Verdana"/>
                <a:cs typeface="Verdana"/>
              </a:rPr>
              <a:t>Boston</a:t>
            </a:r>
            <a:r>
              <a:rPr lang="en-US" sz="900" baseline="0" dirty="0">
                <a:solidFill>
                  <a:schemeClr val="accent1">
                    <a:lumMod val="25000"/>
                  </a:schemeClr>
                </a:solidFill>
                <a:latin typeface="Verdana"/>
                <a:cs typeface="Verdana"/>
              </a:rPr>
              <a:t> University </a:t>
            </a:r>
            <a:r>
              <a:rPr lang="mr-IN" sz="900" baseline="0" dirty="0">
                <a:solidFill>
                  <a:schemeClr val="accent1">
                    <a:lumMod val="25000"/>
                  </a:schemeClr>
                </a:solidFill>
                <a:latin typeface="Verdana"/>
                <a:cs typeface="Verdana"/>
              </a:rPr>
              <a:t>–</a:t>
            </a:r>
            <a:r>
              <a:rPr lang="en-US" sz="900" baseline="0" dirty="0">
                <a:solidFill>
                  <a:schemeClr val="accent1">
                    <a:lumMod val="25000"/>
                  </a:schemeClr>
                </a:solidFill>
                <a:latin typeface="Verdana"/>
                <a:cs typeface="Verdana"/>
              </a:rPr>
              <a:t> CS555, Data Analysis, F. Alizadeh-</a:t>
            </a:r>
            <a:r>
              <a:rPr lang="en-US" sz="900" baseline="0" dirty="0" err="1">
                <a:solidFill>
                  <a:schemeClr val="accent1">
                    <a:lumMod val="25000"/>
                  </a:schemeClr>
                </a:solidFill>
                <a:latin typeface="Verdana"/>
                <a:cs typeface="Verdana"/>
              </a:rPr>
              <a:t>Shabdiz</a:t>
            </a:r>
            <a:endParaRPr lang="en-US" sz="900" dirty="0">
              <a:solidFill>
                <a:schemeClr val="accent1">
                  <a:lumMod val="25000"/>
                </a:schemeClr>
              </a:solidFill>
              <a:latin typeface="Verdana"/>
              <a:cs typeface="Verdana"/>
            </a:endParaRPr>
          </a:p>
        </p:txBody>
      </p:sp>
      <p:sp>
        <p:nvSpPr>
          <p:cNvPr id="6" name="Slide Number Placeholder 4"/>
          <p:cNvSpPr txBox="1">
            <a:spLocks/>
          </p:cNvSpPr>
          <p:nvPr userDrawn="1"/>
        </p:nvSpPr>
        <p:spPr bwMode="auto">
          <a:xfrm>
            <a:off x="272639" y="6400800"/>
            <a:ext cx="371475" cy="455613"/>
          </a:xfrm>
          <a:prstGeom prst="rect">
            <a:avLst/>
          </a:prstGeom>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91410" tIns="45706" rIns="91410" bIns="45706"/>
          <a:lstStyle>
            <a:defPPr>
              <a:defRPr lang="en-US"/>
            </a:defPPr>
            <a:lvl1pPr marL="0" algn="l" defTabSz="457200" rtl="0" eaLnBrk="0" latinLnBrk="0" hangingPunct="0">
              <a:defRPr sz="2400" kern="1200">
                <a:solidFill>
                  <a:srgbClr val="FFFFFF"/>
                </a:solidFill>
                <a:latin typeface="Arial" charset="0"/>
                <a:ea typeface="ヒラギノ角ゴ ProN W3" charset="0"/>
                <a:cs typeface="ヒラギノ角ゴ ProN W3" charset="0"/>
                <a:sym typeface="Arial" charset="0"/>
              </a:defRPr>
            </a:lvl1pPr>
            <a:lvl2pPr marL="742411" indent="-285543" algn="l" defTabSz="457200" rtl="0" eaLnBrk="0" latinLnBrk="0" hangingPunct="0">
              <a:defRPr sz="2400" kern="1200">
                <a:solidFill>
                  <a:srgbClr val="FFFFFF"/>
                </a:solidFill>
                <a:latin typeface="Arial" charset="0"/>
                <a:ea typeface="ヒラギノ角ゴ ProN W3" charset="0"/>
                <a:cs typeface="ヒラギノ角ゴ ProN W3" charset="0"/>
                <a:sym typeface="Arial" charset="0"/>
              </a:defRPr>
            </a:lvl2pPr>
            <a:lvl3pPr marL="1142169" indent="-228435" algn="l" defTabSz="457200" rtl="0" eaLnBrk="0" latinLnBrk="0" hangingPunct="0">
              <a:defRPr sz="2400" kern="1200">
                <a:solidFill>
                  <a:srgbClr val="FFFFFF"/>
                </a:solidFill>
                <a:latin typeface="Arial" charset="0"/>
                <a:ea typeface="ヒラギノ角ゴ ProN W3" charset="0"/>
                <a:cs typeface="ヒラギノ角ゴ ProN W3" charset="0"/>
                <a:sym typeface="Arial" charset="0"/>
              </a:defRPr>
            </a:lvl3pPr>
            <a:lvl4pPr marL="1599039" indent="-228435" algn="l" defTabSz="457200" rtl="0" eaLnBrk="0" latinLnBrk="0" hangingPunct="0">
              <a:defRPr sz="2400" kern="1200">
                <a:solidFill>
                  <a:srgbClr val="FFFFFF"/>
                </a:solidFill>
                <a:latin typeface="Arial" charset="0"/>
                <a:ea typeface="ヒラギノ角ゴ ProN W3" charset="0"/>
                <a:cs typeface="ヒラギノ角ゴ ProN W3" charset="0"/>
                <a:sym typeface="Arial" charset="0"/>
              </a:defRPr>
            </a:lvl4pPr>
            <a:lvl5pPr marL="2055907" indent="-228435" algn="l" defTabSz="457200" rtl="0" eaLnBrk="0" latinLnBrk="0" hangingPunct="0">
              <a:defRPr sz="2400" kern="1200">
                <a:solidFill>
                  <a:srgbClr val="FFFFFF"/>
                </a:solidFill>
                <a:latin typeface="Arial" charset="0"/>
                <a:ea typeface="ヒラギノ角ゴ ProN W3" charset="0"/>
                <a:cs typeface="ヒラギノ角ゴ ProN W3" charset="0"/>
                <a:sym typeface="Arial" charset="0"/>
              </a:defRPr>
            </a:lvl5pPr>
            <a:lvl6pPr marL="2512777" indent="-228435" algn="l" defTabSz="457200" rtl="0" eaLnBrk="0" fontAlgn="base" latinLnBrk="0" hangingPunct="0">
              <a:spcBef>
                <a:spcPct val="0"/>
              </a:spcBef>
              <a:spcAft>
                <a:spcPct val="0"/>
              </a:spcAft>
              <a:defRPr sz="2400" kern="1200">
                <a:solidFill>
                  <a:srgbClr val="FFFFFF"/>
                </a:solidFill>
                <a:latin typeface="Arial" charset="0"/>
                <a:ea typeface="ヒラギノ角ゴ ProN W3" charset="0"/>
                <a:cs typeface="ヒラギノ角ゴ ProN W3" charset="0"/>
                <a:sym typeface="Arial" charset="0"/>
              </a:defRPr>
            </a:lvl6pPr>
            <a:lvl7pPr marL="2969644" indent="-228435" algn="l" defTabSz="457200" rtl="0" eaLnBrk="0" fontAlgn="base" latinLnBrk="0" hangingPunct="0">
              <a:spcBef>
                <a:spcPct val="0"/>
              </a:spcBef>
              <a:spcAft>
                <a:spcPct val="0"/>
              </a:spcAft>
              <a:defRPr sz="2400" kern="1200">
                <a:solidFill>
                  <a:srgbClr val="FFFFFF"/>
                </a:solidFill>
                <a:latin typeface="Arial" charset="0"/>
                <a:ea typeface="ヒラギノ角ゴ ProN W3" charset="0"/>
                <a:cs typeface="ヒラギノ角ゴ ProN W3" charset="0"/>
                <a:sym typeface="Arial" charset="0"/>
              </a:defRPr>
            </a:lvl7pPr>
            <a:lvl8pPr marL="3426515" indent="-228435" algn="l" defTabSz="457200" rtl="0" eaLnBrk="0" fontAlgn="base" latinLnBrk="0" hangingPunct="0">
              <a:spcBef>
                <a:spcPct val="0"/>
              </a:spcBef>
              <a:spcAft>
                <a:spcPct val="0"/>
              </a:spcAft>
              <a:defRPr sz="2400" kern="1200">
                <a:solidFill>
                  <a:srgbClr val="FFFFFF"/>
                </a:solidFill>
                <a:latin typeface="Arial" charset="0"/>
                <a:ea typeface="ヒラギノ角ゴ ProN W3" charset="0"/>
                <a:cs typeface="ヒラギノ角ゴ ProN W3" charset="0"/>
                <a:sym typeface="Arial" charset="0"/>
              </a:defRPr>
            </a:lvl8pPr>
            <a:lvl9pPr marL="3883381" indent="-228435" algn="l" defTabSz="457200" rtl="0" eaLnBrk="0" fontAlgn="base" latinLnBrk="0" hangingPunct="0">
              <a:spcBef>
                <a:spcPct val="0"/>
              </a:spcBef>
              <a:spcAft>
                <a:spcPct val="0"/>
              </a:spcAft>
              <a:defRPr sz="2400" kern="1200">
                <a:solidFill>
                  <a:srgbClr val="FFFFFF"/>
                </a:solidFill>
                <a:latin typeface="Arial" charset="0"/>
                <a:ea typeface="ヒラギノ角ゴ ProN W3" charset="0"/>
                <a:cs typeface="ヒラギノ角ゴ ProN W3" charset="0"/>
                <a:sym typeface="Arial" charset="0"/>
              </a:defRPr>
            </a:lvl9pPr>
          </a:lstStyle>
          <a:p>
            <a:pPr algn="ctr"/>
            <a:fld id="{8DA07FD4-9989-114B-8795-A0896A13FFB7}" type="slidenum">
              <a:rPr lang="en-US" sz="1400" smtClean="0">
                <a:solidFill>
                  <a:schemeClr val="tx2"/>
                </a:solidFill>
                <a:latin typeface="Source Sans Pro Light"/>
                <a:cs typeface="Source Sans Pro Light"/>
              </a:rPr>
              <a:pPr algn="ctr"/>
              <a:t>‹#›</a:t>
            </a:fld>
            <a:endParaRPr lang="en-US" sz="1400" dirty="0">
              <a:solidFill>
                <a:schemeClr val="tx2"/>
              </a:solidFill>
              <a:latin typeface="Source Sans Pro Light"/>
              <a:cs typeface="Source Sans Pro Light"/>
            </a:endParaRPr>
          </a:p>
        </p:txBody>
      </p:sp>
    </p:spTree>
    <p:extLst>
      <p:ext uri="{BB962C8B-B14F-4D97-AF65-F5344CB8AC3E}">
        <p14:creationId xmlns:p14="http://schemas.microsoft.com/office/powerpoint/2010/main" val="119422929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Vertical Title and Text">
    <p:bg>
      <p:bgPr>
        <a:solidFill>
          <a:schemeClr val="accent6"/>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1101196" y="2948987"/>
            <a:ext cx="6942137" cy="950619"/>
          </a:xfrm>
          <a:prstGeom prst="rect">
            <a:avLst/>
          </a:prstGeom>
        </p:spPr>
        <p:txBody>
          <a:bodyPr vert="horz"/>
          <a:lstStyle>
            <a:lvl1pPr>
              <a:defRPr>
                <a:latin typeface="Source Sans Pro"/>
                <a:cs typeface="Source Sans Pro"/>
              </a:defRPr>
            </a:lvl1pPr>
            <a:lvl2pPr>
              <a:defRPr>
                <a:latin typeface="Source Sans Pro"/>
                <a:cs typeface="Source Sans Pro"/>
              </a:defRPr>
            </a:lvl2pPr>
            <a:lvl3pPr>
              <a:defRPr>
                <a:latin typeface="Source Sans Pro"/>
                <a:cs typeface="Source Sans Pro"/>
              </a:defRPr>
            </a:lvl3pPr>
            <a:lvl4pPr>
              <a:defRPr>
                <a:latin typeface="Source Sans Pro"/>
                <a:cs typeface="Source Sans Pro"/>
              </a:defRPr>
            </a:lvl4pPr>
            <a:lvl5pPr>
              <a:defRPr>
                <a:latin typeface="Source Sans Pro"/>
                <a:cs typeface="Source Sans Pro"/>
              </a:defRPr>
            </a:lvl5pPr>
          </a:lstStyle>
          <a:p>
            <a:pPr algn="ctr"/>
            <a:r>
              <a:rPr lang="en-US" sz="3200" b="1" spc="50" dirty="0">
                <a:solidFill>
                  <a:schemeClr val="tx2"/>
                </a:solidFill>
                <a:latin typeface="Source Sans Pro Light"/>
                <a:cs typeface="Source Sans Pro Light"/>
              </a:rPr>
              <a:t>I am thoroughly </a:t>
            </a:r>
            <a:r>
              <a:rPr lang="en-US" sz="3200" b="1" spc="50" dirty="0">
                <a:solidFill>
                  <a:schemeClr val="tx2"/>
                </a:solidFill>
                <a:latin typeface="Source Sans Pro"/>
                <a:cs typeface="Source Sans Pro"/>
              </a:rPr>
              <a:t>disruptive.</a:t>
            </a:r>
            <a:endParaRPr lang="en-US" sz="3200" b="1" spc="50" dirty="0">
              <a:solidFill>
                <a:schemeClr val="tx2"/>
              </a:solidFill>
              <a:latin typeface="Source Sans Pro Light"/>
              <a:cs typeface="Source Sans Pro Light"/>
            </a:endParaRPr>
          </a:p>
        </p:txBody>
      </p:sp>
      <p:sp>
        <p:nvSpPr>
          <p:cNvPr id="5" name="TextBox 4"/>
          <p:cNvSpPr txBox="1"/>
          <p:nvPr userDrawn="1"/>
        </p:nvSpPr>
        <p:spPr>
          <a:xfrm>
            <a:off x="647141" y="6436314"/>
            <a:ext cx="5856105" cy="251287"/>
          </a:xfrm>
          <a:prstGeom prst="rect">
            <a:avLst/>
          </a:prstGeom>
          <a:noFill/>
        </p:spPr>
        <p:txBody>
          <a:bodyPr wrap="square" rtlCol="0">
            <a:spAutoFit/>
          </a:bodyPr>
          <a:lstStyle/>
          <a:p>
            <a:pPr marL="0" marR="0" indent="0" algn="l" defTabSz="457200" rtl="0" eaLnBrk="1" fontAlgn="auto" latinLnBrk="0" hangingPunct="1">
              <a:lnSpc>
                <a:spcPct val="130000"/>
              </a:lnSpc>
              <a:spcBef>
                <a:spcPts val="0"/>
              </a:spcBef>
              <a:spcAft>
                <a:spcPts val="0"/>
              </a:spcAft>
              <a:buClrTx/>
              <a:buSzTx/>
              <a:buFontTx/>
              <a:buNone/>
              <a:tabLst/>
              <a:defRPr/>
            </a:pPr>
            <a:r>
              <a:rPr lang="en-US" sz="900" dirty="0">
                <a:solidFill>
                  <a:schemeClr val="accent1">
                    <a:lumMod val="25000"/>
                  </a:schemeClr>
                </a:solidFill>
                <a:latin typeface="Verdana"/>
                <a:cs typeface="Verdana"/>
              </a:rPr>
              <a:t>Boston</a:t>
            </a:r>
            <a:r>
              <a:rPr lang="en-US" sz="900" baseline="0" dirty="0">
                <a:solidFill>
                  <a:schemeClr val="accent1">
                    <a:lumMod val="25000"/>
                  </a:schemeClr>
                </a:solidFill>
                <a:latin typeface="Verdana"/>
                <a:cs typeface="Verdana"/>
              </a:rPr>
              <a:t> University </a:t>
            </a:r>
            <a:r>
              <a:rPr lang="mr-IN" sz="900" baseline="0" dirty="0">
                <a:solidFill>
                  <a:schemeClr val="accent1">
                    <a:lumMod val="25000"/>
                  </a:schemeClr>
                </a:solidFill>
                <a:latin typeface="Verdana"/>
                <a:cs typeface="Verdana"/>
              </a:rPr>
              <a:t>–</a:t>
            </a:r>
            <a:r>
              <a:rPr lang="en-US" sz="900" baseline="0" dirty="0">
                <a:solidFill>
                  <a:schemeClr val="accent1">
                    <a:lumMod val="25000"/>
                  </a:schemeClr>
                </a:solidFill>
                <a:latin typeface="Verdana"/>
                <a:cs typeface="Verdana"/>
              </a:rPr>
              <a:t> CS555, Data Analysis, F. Alizadeh-</a:t>
            </a:r>
            <a:r>
              <a:rPr lang="en-US" sz="900" baseline="0" dirty="0" err="1">
                <a:solidFill>
                  <a:schemeClr val="accent1">
                    <a:lumMod val="25000"/>
                  </a:schemeClr>
                </a:solidFill>
                <a:latin typeface="Verdana"/>
                <a:cs typeface="Verdana"/>
              </a:rPr>
              <a:t>Shabdiz</a:t>
            </a:r>
            <a:endParaRPr lang="en-US" sz="900" dirty="0">
              <a:solidFill>
                <a:schemeClr val="accent1">
                  <a:lumMod val="25000"/>
                </a:schemeClr>
              </a:solidFill>
              <a:latin typeface="Verdana"/>
              <a:cs typeface="Verdana"/>
            </a:endParaRPr>
          </a:p>
        </p:txBody>
      </p:sp>
      <p:sp>
        <p:nvSpPr>
          <p:cNvPr id="7" name="Slide Number Placeholder 4"/>
          <p:cNvSpPr txBox="1">
            <a:spLocks/>
          </p:cNvSpPr>
          <p:nvPr userDrawn="1"/>
        </p:nvSpPr>
        <p:spPr bwMode="auto">
          <a:xfrm>
            <a:off x="272639" y="6400800"/>
            <a:ext cx="371475" cy="455613"/>
          </a:xfrm>
          <a:prstGeom prst="rect">
            <a:avLst/>
          </a:prstGeom>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91410" tIns="45706" rIns="91410" bIns="45706"/>
          <a:lstStyle>
            <a:defPPr>
              <a:defRPr lang="en-US"/>
            </a:defPPr>
            <a:lvl1pPr marL="0" algn="l" defTabSz="457200" rtl="0" eaLnBrk="0" latinLnBrk="0" hangingPunct="0">
              <a:defRPr sz="2400" kern="1200">
                <a:solidFill>
                  <a:srgbClr val="FFFFFF"/>
                </a:solidFill>
                <a:latin typeface="Arial" charset="0"/>
                <a:ea typeface="ヒラギノ角ゴ ProN W3" charset="0"/>
                <a:cs typeface="ヒラギノ角ゴ ProN W3" charset="0"/>
                <a:sym typeface="Arial" charset="0"/>
              </a:defRPr>
            </a:lvl1pPr>
            <a:lvl2pPr marL="742411" indent="-285543" algn="l" defTabSz="457200" rtl="0" eaLnBrk="0" latinLnBrk="0" hangingPunct="0">
              <a:defRPr sz="2400" kern="1200">
                <a:solidFill>
                  <a:srgbClr val="FFFFFF"/>
                </a:solidFill>
                <a:latin typeface="Arial" charset="0"/>
                <a:ea typeface="ヒラギノ角ゴ ProN W3" charset="0"/>
                <a:cs typeface="ヒラギノ角ゴ ProN W3" charset="0"/>
                <a:sym typeface="Arial" charset="0"/>
              </a:defRPr>
            </a:lvl2pPr>
            <a:lvl3pPr marL="1142169" indent="-228435" algn="l" defTabSz="457200" rtl="0" eaLnBrk="0" latinLnBrk="0" hangingPunct="0">
              <a:defRPr sz="2400" kern="1200">
                <a:solidFill>
                  <a:srgbClr val="FFFFFF"/>
                </a:solidFill>
                <a:latin typeface="Arial" charset="0"/>
                <a:ea typeface="ヒラギノ角ゴ ProN W3" charset="0"/>
                <a:cs typeface="ヒラギノ角ゴ ProN W3" charset="0"/>
                <a:sym typeface="Arial" charset="0"/>
              </a:defRPr>
            </a:lvl3pPr>
            <a:lvl4pPr marL="1599039" indent="-228435" algn="l" defTabSz="457200" rtl="0" eaLnBrk="0" latinLnBrk="0" hangingPunct="0">
              <a:defRPr sz="2400" kern="1200">
                <a:solidFill>
                  <a:srgbClr val="FFFFFF"/>
                </a:solidFill>
                <a:latin typeface="Arial" charset="0"/>
                <a:ea typeface="ヒラギノ角ゴ ProN W3" charset="0"/>
                <a:cs typeface="ヒラギノ角ゴ ProN W3" charset="0"/>
                <a:sym typeface="Arial" charset="0"/>
              </a:defRPr>
            </a:lvl4pPr>
            <a:lvl5pPr marL="2055907" indent="-228435" algn="l" defTabSz="457200" rtl="0" eaLnBrk="0" latinLnBrk="0" hangingPunct="0">
              <a:defRPr sz="2400" kern="1200">
                <a:solidFill>
                  <a:srgbClr val="FFFFFF"/>
                </a:solidFill>
                <a:latin typeface="Arial" charset="0"/>
                <a:ea typeface="ヒラギノ角ゴ ProN W3" charset="0"/>
                <a:cs typeface="ヒラギノ角ゴ ProN W3" charset="0"/>
                <a:sym typeface="Arial" charset="0"/>
              </a:defRPr>
            </a:lvl5pPr>
            <a:lvl6pPr marL="2512777" indent="-228435" algn="l" defTabSz="457200" rtl="0" eaLnBrk="0" fontAlgn="base" latinLnBrk="0" hangingPunct="0">
              <a:spcBef>
                <a:spcPct val="0"/>
              </a:spcBef>
              <a:spcAft>
                <a:spcPct val="0"/>
              </a:spcAft>
              <a:defRPr sz="2400" kern="1200">
                <a:solidFill>
                  <a:srgbClr val="FFFFFF"/>
                </a:solidFill>
                <a:latin typeface="Arial" charset="0"/>
                <a:ea typeface="ヒラギノ角ゴ ProN W3" charset="0"/>
                <a:cs typeface="ヒラギノ角ゴ ProN W3" charset="0"/>
                <a:sym typeface="Arial" charset="0"/>
              </a:defRPr>
            </a:lvl6pPr>
            <a:lvl7pPr marL="2969644" indent="-228435" algn="l" defTabSz="457200" rtl="0" eaLnBrk="0" fontAlgn="base" latinLnBrk="0" hangingPunct="0">
              <a:spcBef>
                <a:spcPct val="0"/>
              </a:spcBef>
              <a:spcAft>
                <a:spcPct val="0"/>
              </a:spcAft>
              <a:defRPr sz="2400" kern="1200">
                <a:solidFill>
                  <a:srgbClr val="FFFFFF"/>
                </a:solidFill>
                <a:latin typeface="Arial" charset="0"/>
                <a:ea typeface="ヒラギノ角ゴ ProN W3" charset="0"/>
                <a:cs typeface="ヒラギノ角ゴ ProN W3" charset="0"/>
                <a:sym typeface="Arial" charset="0"/>
              </a:defRPr>
            </a:lvl7pPr>
            <a:lvl8pPr marL="3426515" indent="-228435" algn="l" defTabSz="457200" rtl="0" eaLnBrk="0" fontAlgn="base" latinLnBrk="0" hangingPunct="0">
              <a:spcBef>
                <a:spcPct val="0"/>
              </a:spcBef>
              <a:spcAft>
                <a:spcPct val="0"/>
              </a:spcAft>
              <a:defRPr sz="2400" kern="1200">
                <a:solidFill>
                  <a:srgbClr val="FFFFFF"/>
                </a:solidFill>
                <a:latin typeface="Arial" charset="0"/>
                <a:ea typeface="ヒラギノ角ゴ ProN W3" charset="0"/>
                <a:cs typeface="ヒラギノ角ゴ ProN W3" charset="0"/>
                <a:sym typeface="Arial" charset="0"/>
              </a:defRPr>
            </a:lvl8pPr>
            <a:lvl9pPr marL="3883381" indent="-228435" algn="l" defTabSz="457200" rtl="0" eaLnBrk="0" fontAlgn="base" latinLnBrk="0" hangingPunct="0">
              <a:spcBef>
                <a:spcPct val="0"/>
              </a:spcBef>
              <a:spcAft>
                <a:spcPct val="0"/>
              </a:spcAft>
              <a:defRPr sz="2400" kern="1200">
                <a:solidFill>
                  <a:srgbClr val="FFFFFF"/>
                </a:solidFill>
                <a:latin typeface="Arial" charset="0"/>
                <a:ea typeface="ヒラギノ角ゴ ProN W3" charset="0"/>
                <a:cs typeface="ヒラギノ角ゴ ProN W3" charset="0"/>
                <a:sym typeface="Arial" charset="0"/>
              </a:defRPr>
            </a:lvl9pPr>
          </a:lstStyle>
          <a:p>
            <a:pPr algn="ctr"/>
            <a:fld id="{8DA07FD4-9989-114B-8795-A0896A13FFB7}" type="slidenum">
              <a:rPr lang="en-US" sz="1400" smtClean="0">
                <a:solidFill>
                  <a:srgbClr val="FFFFFF"/>
                </a:solidFill>
                <a:latin typeface="Source Sans Pro Light"/>
                <a:cs typeface="Source Sans Pro Light"/>
              </a:rPr>
              <a:pPr algn="ctr"/>
              <a:t>‹#›</a:t>
            </a:fld>
            <a:endParaRPr lang="en-US" sz="1400" dirty="0">
              <a:solidFill>
                <a:srgbClr val="FFFFFF"/>
              </a:solidFill>
              <a:latin typeface="Source Sans Pro Light"/>
              <a:cs typeface="Source Sans Pro Light"/>
            </a:endParaRPr>
          </a:p>
        </p:txBody>
      </p:sp>
    </p:spTree>
    <p:extLst>
      <p:ext uri="{BB962C8B-B14F-4D97-AF65-F5344CB8AC3E}">
        <p14:creationId xmlns:p14="http://schemas.microsoft.com/office/powerpoint/2010/main" val="158322557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_Vertical Title and Text">
    <p:bg>
      <p:bgPr>
        <a:solidFill>
          <a:schemeClr val="tx2"/>
        </a:solidFill>
        <a:effectLst/>
      </p:bgPr>
    </p:bg>
    <p:spTree>
      <p:nvGrpSpPr>
        <p:cNvPr id="1" name=""/>
        <p:cNvGrpSpPr/>
        <p:nvPr/>
      </p:nvGrpSpPr>
      <p:grpSpPr>
        <a:xfrm>
          <a:off x="0" y="0"/>
          <a:ext cx="0" cy="0"/>
          <a:chOff x="0" y="0"/>
          <a:chExt cx="0" cy="0"/>
        </a:xfrm>
      </p:grpSpPr>
      <p:sp>
        <p:nvSpPr>
          <p:cNvPr id="8" name="Text Placeholder 7"/>
          <p:cNvSpPr>
            <a:spLocks noGrp="1"/>
          </p:cNvSpPr>
          <p:nvPr>
            <p:ph type="body" sz="quarter" idx="10" hasCustomPrompt="1"/>
          </p:nvPr>
        </p:nvSpPr>
        <p:spPr>
          <a:xfrm>
            <a:off x="1684396" y="2926027"/>
            <a:ext cx="5832475" cy="977723"/>
          </a:xfrm>
          <a:prstGeom prst="rect">
            <a:avLst/>
          </a:prstGeom>
        </p:spPr>
        <p:txBody>
          <a:bodyPr vert="horz"/>
          <a:lstStyle>
            <a:lvl1pPr marL="0" marR="0" indent="0" algn="ctr" defTabSz="457200" rtl="0" eaLnBrk="1" fontAlgn="auto" latinLnBrk="0" hangingPunct="1">
              <a:lnSpc>
                <a:spcPct val="130000"/>
              </a:lnSpc>
              <a:spcBef>
                <a:spcPts val="0"/>
              </a:spcBef>
              <a:spcAft>
                <a:spcPts val="0"/>
              </a:spcAft>
              <a:buClrTx/>
              <a:buSzTx/>
              <a:buFontTx/>
              <a:buNone/>
              <a:tabLst/>
              <a:defRPr/>
            </a:lvl1pPr>
          </a:lstStyle>
          <a:p>
            <a:pPr marL="0" marR="0" lvl="0" indent="0" algn="l" defTabSz="457200" rtl="0" eaLnBrk="1" fontAlgn="auto" latinLnBrk="0" hangingPunct="1">
              <a:lnSpc>
                <a:spcPct val="130000"/>
              </a:lnSpc>
              <a:spcBef>
                <a:spcPts val="0"/>
              </a:spcBef>
              <a:spcAft>
                <a:spcPts val="0"/>
              </a:spcAft>
              <a:buClrTx/>
              <a:buSzTx/>
              <a:buFontTx/>
              <a:buNone/>
              <a:tabLst/>
              <a:defRPr/>
            </a:pPr>
            <a:r>
              <a:rPr lang="en-US" sz="3200" b="1" spc="50" dirty="0">
                <a:solidFill>
                  <a:schemeClr val="accent4"/>
                </a:solidFill>
                <a:latin typeface="Source Sans Pro Light"/>
                <a:cs typeface="Source Sans Pro Light"/>
              </a:rPr>
              <a:t>I am thoroughly </a:t>
            </a:r>
            <a:r>
              <a:rPr lang="en-US" sz="3200" b="1" spc="50" dirty="0">
                <a:solidFill>
                  <a:schemeClr val="accent4"/>
                </a:solidFill>
                <a:latin typeface="Source Sans Pro"/>
                <a:cs typeface="Source Sans Pro"/>
              </a:rPr>
              <a:t>disruptive.</a:t>
            </a:r>
            <a:endParaRPr lang="en-US" sz="3200" b="1" spc="50" dirty="0">
              <a:solidFill>
                <a:schemeClr val="accent4"/>
              </a:solidFill>
              <a:latin typeface="Source Sans Pro Light"/>
              <a:cs typeface="Source Sans Pro Light"/>
            </a:endParaRPr>
          </a:p>
        </p:txBody>
      </p:sp>
      <p:sp>
        <p:nvSpPr>
          <p:cNvPr id="5" name="TextBox 4"/>
          <p:cNvSpPr txBox="1"/>
          <p:nvPr userDrawn="1"/>
        </p:nvSpPr>
        <p:spPr>
          <a:xfrm>
            <a:off x="647141" y="6436314"/>
            <a:ext cx="5856105" cy="251287"/>
          </a:xfrm>
          <a:prstGeom prst="rect">
            <a:avLst/>
          </a:prstGeom>
          <a:noFill/>
        </p:spPr>
        <p:txBody>
          <a:bodyPr wrap="square" rtlCol="0">
            <a:spAutoFit/>
          </a:bodyPr>
          <a:lstStyle/>
          <a:p>
            <a:pPr marL="0" marR="0" indent="0" algn="l" defTabSz="457200" rtl="0" eaLnBrk="1" fontAlgn="auto" latinLnBrk="0" hangingPunct="1">
              <a:lnSpc>
                <a:spcPct val="130000"/>
              </a:lnSpc>
              <a:spcBef>
                <a:spcPts val="0"/>
              </a:spcBef>
              <a:spcAft>
                <a:spcPts val="0"/>
              </a:spcAft>
              <a:buClrTx/>
              <a:buSzTx/>
              <a:buFontTx/>
              <a:buNone/>
              <a:tabLst/>
              <a:defRPr/>
            </a:pPr>
            <a:r>
              <a:rPr lang="en-US" sz="900" dirty="0">
                <a:solidFill>
                  <a:schemeClr val="accent1">
                    <a:lumMod val="25000"/>
                  </a:schemeClr>
                </a:solidFill>
                <a:latin typeface="Verdana"/>
                <a:cs typeface="Verdana"/>
              </a:rPr>
              <a:t>Boston</a:t>
            </a:r>
            <a:r>
              <a:rPr lang="en-US" sz="900" baseline="0" dirty="0">
                <a:solidFill>
                  <a:schemeClr val="accent1">
                    <a:lumMod val="25000"/>
                  </a:schemeClr>
                </a:solidFill>
                <a:latin typeface="Verdana"/>
                <a:cs typeface="Verdana"/>
              </a:rPr>
              <a:t> University </a:t>
            </a:r>
            <a:r>
              <a:rPr lang="mr-IN" sz="900" baseline="0" dirty="0">
                <a:solidFill>
                  <a:schemeClr val="accent1">
                    <a:lumMod val="25000"/>
                  </a:schemeClr>
                </a:solidFill>
                <a:latin typeface="Verdana"/>
                <a:cs typeface="Verdana"/>
              </a:rPr>
              <a:t>–</a:t>
            </a:r>
            <a:r>
              <a:rPr lang="en-US" sz="900" baseline="0" dirty="0">
                <a:solidFill>
                  <a:schemeClr val="accent1">
                    <a:lumMod val="25000"/>
                  </a:schemeClr>
                </a:solidFill>
                <a:latin typeface="Verdana"/>
                <a:cs typeface="Verdana"/>
              </a:rPr>
              <a:t> CS555, Data Analysis, F. Alizadeh-</a:t>
            </a:r>
            <a:r>
              <a:rPr lang="en-US" sz="900" baseline="0" dirty="0" err="1">
                <a:solidFill>
                  <a:schemeClr val="accent1">
                    <a:lumMod val="25000"/>
                  </a:schemeClr>
                </a:solidFill>
                <a:latin typeface="Verdana"/>
                <a:cs typeface="Verdana"/>
              </a:rPr>
              <a:t>Shabdiz</a:t>
            </a:r>
            <a:endParaRPr lang="en-US" sz="900" dirty="0">
              <a:solidFill>
                <a:schemeClr val="accent1">
                  <a:lumMod val="25000"/>
                </a:schemeClr>
              </a:solidFill>
              <a:latin typeface="Verdana"/>
              <a:cs typeface="Verdana"/>
            </a:endParaRPr>
          </a:p>
        </p:txBody>
      </p:sp>
      <p:sp>
        <p:nvSpPr>
          <p:cNvPr id="6" name="Slide Number Placeholder 4"/>
          <p:cNvSpPr txBox="1">
            <a:spLocks/>
          </p:cNvSpPr>
          <p:nvPr userDrawn="1"/>
        </p:nvSpPr>
        <p:spPr bwMode="auto">
          <a:xfrm>
            <a:off x="272639" y="6400800"/>
            <a:ext cx="371475" cy="455613"/>
          </a:xfrm>
          <a:prstGeom prst="rect">
            <a:avLst/>
          </a:prstGeom>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91410" tIns="45706" rIns="91410" bIns="45706"/>
          <a:lstStyle>
            <a:defPPr>
              <a:defRPr lang="en-US"/>
            </a:defPPr>
            <a:lvl1pPr marL="0" algn="l" defTabSz="457200" rtl="0" eaLnBrk="0" latinLnBrk="0" hangingPunct="0">
              <a:defRPr sz="2400" kern="1200">
                <a:solidFill>
                  <a:srgbClr val="FFFFFF"/>
                </a:solidFill>
                <a:latin typeface="Arial" charset="0"/>
                <a:ea typeface="ヒラギノ角ゴ ProN W3" charset="0"/>
                <a:cs typeface="ヒラギノ角ゴ ProN W3" charset="0"/>
                <a:sym typeface="Arial" charset="0"/>
              </a:defRPr>
            </a:lvl1pPr>
            <a:lvl2pPr marL="742411" indent="-285543" algn="l" defTabSz="457200" rtl="0" eaLnBrk="0" latinLnBrk="0" hangingPunct="0">
              <a:defRPr sz="2400" kern="1200">
                <a:solidFill>
                  <a:srgbClr val="FFFFFF"/>
                </a:solidFill>
                <a:latin typeface="Arial" charset="0"/>
                <a:ea typeface="ヒラギノ角ゴ ProN W3" charset="0"/>
                <a:cs typeface="ヒラギノ角ゴ ProN W3" charset="0"/>
                <a:sym typeface="Arial" charset="0"/>
              </a:defRPr>
            </a:lvl2pPr>
            <a:lvl3pPr marL="1142169" indent="-228435" algn="l" defTabSz="457200" rtl="0" eaLnBrk="0" latinLnBrk="0" hangingPunct="0">
              <a:defRPr sz="2400" kern="1200">
                <a:solidFill>
                  <a:srgbClr val="FFFFFF"/>
                </a:solidFill>
                <a:latin typeface="Arial" charset="0"/>
                <a:ea typeface="ヒラギノ角ゴ ProN W3" charset="0"/>
                <a:cs typeface="ヒラギノ角ゴ ProN W3" charset="0"/>
                <a:sym typeface="Arial" charset="0"/>
              </a:defRPr>
            </a:lvl3pPr>
            <a:lvl4pPr marL="1599039" indent="-228435" algn="l" defTabSz="457200" rtl="0" eaLnBrk="0" latinLnBrk="0" hangingPunct="0">
              <a:defRPr sz="2400" kern="1200">
                <a:solidFill>
                  <a:srgbClr val="FFFFFF"/>
                </a:solidFill>
                <a:latin typeface="Arial" charset="0"/>
                <a:ea typeface="ヒラギノ角ゴ ProN W3" charset="0"/>
                <a:cs typeface="ヒラギノ角ゴ ProN W3" charset="0"/>
                <a:sym typeface="Arial" charset="0"/>
              </a:defRPr>
            </a:lvl4pPr>
            <a:lvl5pPr marL="2055907" indent="-228435" algn="l" defTabSz="457200" rtl="0" eaLnBrk="0" latinLnBrk="0" hangingPunct="0">
              <a:defRPr sz="2400" kern="1200">
                <a:solidFill>
                  <a:srgbClr val="FFFFFF"/>
                </a:solidFill>
                <a:latin typeface="Arial" charset="0"/>
                <a:ea typeface="ヒラギノ角ゴ ProN W3" charset="0"/>
                <a:cs typeface="ヒラギノ角ゴ ProN W3" charset="0"/>
                <a:sym typeface="Arial" charset="0"/>
              </a:defRPr>
            </a:lvl5pPr>
            <a:lvl6pPr marL="2512777" indent="-228435" algn="l" defTabSz="457200" rtl="0" eaLnBrk="0" fontAlgn="base" latinLnBrk="0" hangingPunct="0">
              <a:spcBef>
                <a:spcPct val="0"/>
              </a:spcBef>
              <a:spcAft>
                <a:spcPct val="0"/>
              </a:spcAft>
              <a:defRPr sz="2400" kern="1200">
                <a:solidFill>
                  <a:srgbClr val="FFFFFF"/>
                </a:solidFill>
                <a:latin typeface="Arial" charset="0"/>
                <a:ea typeface="ヒラギノ角ゴ ProN W3" charset="0"/>
                <a:cs typeface="ヒラギノ角ゴ ProN W3" charset="0"/>
                <a:sym typeface="Arial" charset="0"/>
              </a:defRPr>
            </a:lvl6pPr>
            <a:lvl7pPr marL="2969644" indent="-228435" algn="l" defTabSz="457200" rtl="0" eaLnBrk="0" fontAlgn="base" latinLnBrk="0" hangingPunct="0">
              <a:spcBef>
                <a:spcPct val="0"/>
              </a:spcBef>
              <a:spcAft>
                <a:spcPct val="0"/>
              </a:spcAft>
              <a:defRPr sz="2400" kern="1200">
                <a:solidFill>
                  <a:srgbClr val="FFFFFF"/>
                </a:solidFill>
                <a:latin typeface="Arial" charset="0"/>
                <a:ea typeface="ヒラギノ角ゴ ProN W3" charset="0"/>
                <a:cs typeface="ヒラギノ角ゴ ProN W3" charset="0"/>
                <a:sym typeface="Arial" charset="0"/>
              </a:defRPr>
            </a:lvl7pPr>
            <a:lvl8pPr marL="3426515" indent="-228435" algn="l" defTabSz="457200" rtl="0" eaLnBrk="0" fontAlgn="base" latinLnBrk="0" hangingPunct="0">
              <a:spcBef>
                <a:spcPct val="0"/>
              </a:spcBef>
              <a:spcAft>
                <a:spcPct val="0"/>
              </a:spcAft>
              <a:defRPr sz="2400" kern="1200">
                <a:solidFill>
                  <a:srgbClr val="FFFFFF"/>
                </a:solidFill>
                <a:latin typeface="Arial" charset="0"/>
                <a:ea typeface="ヒラギノ角ゴ ProN W3" charset="0"/>
                <a:cs typeface="ヒラギノ角ゴ ProN W3" charset="0"/>
                <a:sym typeface="Arial" charset="0"/>
              </a:defRPr>
            </a:lvl8pPr>
            <a:lvl9pPr marL="3883381" indent="-228435" algn="l" defTabSz="457200" rtl="0" eaLnBrk="0" fontAlgn="base" latinLnBrk="0" hangingPunct="0">
              <a:spcBef>
                <a:spcPct val="0"/>
              </a:spcBef>
              <a:spcAft>
                <a:spcPct val="0"/>
              </a:spcAft>
              <a:defRPr sz="2400" kern="1200">
                <a:solidFill>
                  <a:srgbClr val="FFFFFF"/>
                </a:solidFill>
                <a:latin typeface="Arial" charset="0"/>
                <a:ea typeface="ヒラギノ角ゴ ProN W3" charset="0"/>
                <a:cs typeface="ヒラギノ角ゴ ProN W3" charset="0"/>
                <a:sym typeface="Arial" charset="0"/>
              </a:defRPr>
            </a:lvl9pPr>
          </a:lstStyle>
          <a:p>
            <a:pPr algn="ctr"/>
            <a:fld id="{8DA07FD4-9989-114B-8795-A0896A13FFB7}" type="slidenum">
              <a:rPr lang="en-US" sz="1400" smtClean="0">
                <a:solidFill>
                  <a:srgbClr val="FFFFFF"/>
                </a:solidFill>
                <a:latin typeface="Source Sans Pro Light"/>
                <a:cs typeface="Source Sans Pro Light"/>
              </a:rPr>
              <a:pPr algn="ctr"/>
              <a:t>‹#›</a:t>
            </a:fld>
            <a:endParaRPr lang="en-US" sz="1400" dirty="0">
              <a:solidFill>
                <a:srgbClr val="FFFFFF"/>
              </a:solidFill>
              <a:latin typeface="Source Sans Pro Light"/>
              <a:cs typeface="Source Sans Pro Light"/>
            </a:endParaRPr>
          </a:p>
        </p:txBody>
      </p:sp>
    </p:spTree>
    <p:extLst>
      <p:ext uri="{BB962C8B-B14F-4D97-AF65-F5344CB8AC3E}">
        <p14:creationId xmlns:p14="http://schemas.microsoft.com/office/powerpoint/2010/main" val="78061987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2_Vertical Title and Text">
    <p:bg>
      <p:bgPr>
        <a:solidFill>
          <a:schemeClr val="accent2"/>
        </a:solidFill>
        <a:effectLst/>
      </p:bgPr>
    </p:bg>
    <p:spTree>
      <p:nvGrpSpPr>
        <p:cNvPr id="1" name=""/>
        <p:cNvGrpSpPr/>
        <p:nvPr/>
      </p:nvGrpSpPr>
      <p:grpSpPr>
        <a:xfrm>
          <a:off x="0" y="0"/>
          <a:ext cx="0" cy="0"/>
          <a:chOff x="0" y="0"/>
          <a:chExt cx="0" cy="0"/>
        </a:xfrm>
      </p:grpSpPr>
      <p:sp>
        <p:nvSpPr>
          <p:cNvPr id="8" name="Text Placeholder 7"/>
          <p:cNvSpPr>
            <a:spLocks noGrp="1"/>
          </p:cNvSpPr>
          <p:nvPr>
            <p:ph type="body" sz="quarter" idx="10" hasCustomPrompt="1"/>
          </p:nvPr>
        </p:nvSpPr>
        <p:spPr>
          <a:xfrm>
            <a:off x="1187794" y="2887760"/>
            <a:ext cx="6784975" cy="1058862"/>
          </a:xfrm>
          <a:prstGeom prst="rect">
            <a:avLst/>
          </a:prstGeom>
        </p:spPr>
        <p:txBody>
          <a:bodyPr vert="horz"/>
          <a:lstStyle/>
          <a:p>
            <a:pPr algn="ctr"/>
            <a:r>
              <a:rPr lang="en-US" sz="3200" b="1" spc="50" dirty="0">
                <a:solidFill>
                  <a:schemeClr val="tx2"/>
                </a:solidFill>
                <a:latin typeface="Source Sans Pro Light"/>
                <a:cs typeface="Source Sans Pro Light"/>
              </a:rPr>
              <a:t>I am thoroughly </a:t>
            </a:r>
            <a:r>
              <a:rPr lang="en-US" sz="3200" b="1" spc="50" dirty="0">
                <a:solidFill>
                  <a:schemeClr val="tx2"/>
                </a:solidFill>
                <a:latin typeface="Source Sans Pro"/>
                <a:cs typeface="Source Sans Pro"/>
              </a:rPr>
              <a:t>disruptive.</a:t>
            </a:r>
            <a:endParaRPr lang="en-US" sz="3200" b="1" spc="50" dirty="0">
              <a:solidFill>
                <a:schemeClr val="tx2"/>
              </a:solidFill>
              <a:latin typeface="Source Sans Pro Light"/>
              <a:cs typeface="Source Sans Pro Light"/>
            </a:endParaRPr>
          </a:p>
        </p:txBody>
      </p:sp>
      <p:sp>
        <p:nvSpPr>
          <p:cNvPr id="5" name="TextBox 4"/>
          <p:cNvSpPr txBox="1"/>
          <p:nvPr userDrawn="1"/>
        </p:nvSpPr>
        <p:spPr>
          <a:xfrm>
            <a:off x="647141" y="6436314"/>
            <a:ext cx="5856105" cy="251287"/>
          </a:xfrm>
          <a:prstGeom prst="rect">
            <a:avLst/>
          </a:prstGeom>
          <a:noFill/>
        </p:spPr>
        <p:txBody>
          <a:bodyPr wrap="square" rtlCol="0">
            <a:spAutoFit/>
          </a:bodyPr>
          <a:lstStyle/>
          <a:p>
            <a:pPr marL="0" marR="0" indent="0" algn="l" defTabSz="457200" rtl="0" eaLnBrk="1" fontAlgn="auto" latinLnBrk="0" hangingPunct="1">
              <a:lnSpc>
                <a:spcPct val="130000"/>
              </a:lnSpc>
              <a:spcBef>
                <a:spcPts val="0"/>
              </a:spcBef>
              <a:spcAft>
                <a:spcPts val="0"/>
              </a:spcAft>
              <a:buClrTx/>
              <a:buSzTx/>
              <a:buFontTx/>
              <a:buNone/>
              <a:tabLst/>
              <a:defRPr/>
            </a:pPr>
            <a:r>
              <a:rPr lang="en-US" sz="900" dirty="0">
                <a:solidFill>
                  <a:schemeClr val="accent1">
                    <a:lumMod val="25000"/>
                  </a:schemeClr>
                </a:solidFill>
                <a:latin typeface="Verdana"/>
                <a:cs typeface="Verdana"/>
              </a:rPr>
              <a:t>Boston</a:t>
            </a:r>
            <a:r>
              <a:rPr lang="en-US" sz="900" baseline="0" dirty="0">
                <a:solidFill>
                  <a:schemeClr val="accent1">
                    <a:lumMod val="25000"/>
                  </a:schemeClr>
                </a:solidFill>
                <a:latin typeface="Verdana"/>
                <a:cs typeface="Verdana"/>
              </a:rPr>
              <a:t> University </a:t>
            </a:r>
            <a:r>
              <a:rPr lang="mr-IN" sz="900" baseline="0" dirty="0">
                <a:solidFill>
                  <a:schemeClr val="accent1">
                    <a:lumMod val="25000"/>
                  </a:schemeClr>
                </a:solidFill>
                <a:latin typeface="Verdana"/>
                <a:cs typeface="Verdana"/>
              </a:rPr>
              <a:t>–</a:t>
            </a:r>
            <a:r>
              <a:rPr lang="en-US" sz="900" baseline="0" dirty="0">
                <a:solidFill>
                  <a:schemeClr val="accent1">
                    <a:lumMod val="25000"/>
                  </a:schemeClr>
                </a:solidFill>
                <a:latin typeface="Verdana"/>
                <a:cs typeface="Verdana"/>
              </a:rPr>
              <a:t> CS555, Data Analysis, F. Alizadeh-</a:t>
            </a:r>
            <a:r>
              <a:rPr lang="en-US" sz="900" baseline="0" dirty="0" err="1">
                <a:solidFill>
                  <a:schemeClr val="accent1">
                    <a:lumMod val="25000"/>
                  </a:schemeClr>
                </a:solidFill>
                <a:latin typeface="Verdana"/>
                <a:cs typeface="Verdana"/>
              </a:rPr>
              <a:t>Shabdiz</a:t>
            </a:r>
            <a:endParaRPr lang="en-US" sz="900" dirty="0">
              <a:solidFill>
                <a:schemeClr val="accent1">
                  <a:lumMod val="25000"/>
                </a:schemeClr>
              </a:solidFill>
              <a:latin typeface="Verdana"/>
              <a:cs typeface="Verdana"/>
            </a:endParaRPr>
          </a:p>
        </p:txBody>
      </p:sp>
      <p:sp>
        <p:nvSpPr>
          <p:cNvPr id="6" name="Slide Number Placeholder 4"/>
          <p:cNvSpPr txBox="1">
            <a:spLocks/>
          </p:cNvSpPr>
          <p:nvPr userDrawn="1"/>
        </p:nvSpPr>
        <p:spPr bwMode="auto">
          <a:xfrm>
            <a:off x="272639" y="6400800"/>
            <a:ext cx="371475" cy="455613"/>
          </a:xfrm>
          <a:prstGeom prst="rect">
            <a:avLst/>
          </a:prstGeom>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91410" tIns="45706" rIns="91410" bIns="45706"/>
          <a:lstStyle>
            <a:defPPr>
              <a:defRPr lang="en-US"/>
            </a:defPPr>
            <a:lvl1pPr marL="0" algn="l" defTabSz="457200" rtl="0" eaLnBrk="0" latinLnBrk="0" hangingPunct="0">
              <a:defRPr sz="2400" kern="1200">
                <a:solidFill>
                  <a:srgbClr val="FFFFFF"/>
                </a:solidFill>
                <a:latin typeface="Arial" charset="0"/>
                <a:ea typeface="ヒラギノ角ゴ ProN W3" charset="0"/>
                <a:cs typeface="ヒラギノ角ゴ ProN W3" charset="0"/>
                <a:sym typeface="Arial" charset="0"/>
              </a:defRPr>
            </a:lvl1pPr>
            <a:lvl2pPr marL="742411" indent="-285543" algn="l" defTabSz="457200" rtl="0" eaLnBrk="0" latinLnBrk="0" hangingPunct="0">
              <a:defRPr sz="2400" kern="1200">
                <a:solidFill>
                  <a:srgbClr val="FFFFFF"/>
                </a:solidFill>
                <a:latin typeface="Arial" charset="0"/>
                <a:ea typeface="ヒラギノ角ゴ ProN W3" charset="0"/>
                <a:cs typeface="ヒラギノ角ゴ ProN W3" charset="0"/>
                <a:sym typeface="Arial" charset="0"/>
              </a:defRPr>
            </a:lvl2pPr>
            <a:lvl3pPr marL="1142169" indent="-228435" algn="l" defTabSz="457200" rtl="0" eaLnBrk="0" latinLnBrk="0" hangingPunct="0">
              <a:defRPr sz="2400" kern="1200">
                <a:solidFill>
                  <a:srgbClr val="FFFFFF"/>
                </a:solidFill>
                <a:latin typeface="Arial" charset="0"/>
                <a:ea typeface="ヒラギノ角ゴ ProN W3" charset="0"/>
                <a:cs typeface="ヒラギノ角ゴ ProN W3" charset="0"/>
                <a:sym typeface="Arial" charset="0"/>
              </a:defRPr>
            </a:lvl3pPr>
            <a:lvl4pPr marL="1599039" indent="-228435" algn="l" defTabSz="457200" rtl="0" eaLnBrk="0" latinLnBrk="0" hangingPunct="0">
              <a:defRPr sz="2400" kern="1200">
                <a:solidFill>
                  <a:srgbClr val="FFFFFF"/>
                </a:solidFill>
                <a:latin typeface="Arial" charset="0"/>
                <a:ea typeface="ヒラギノ角ゴ ProN W3" charset="0"/>
                <a:cs typeface="ヒラギノ角ゴ ProN W3" charset="0"/>
                <a:sym typeface="Arial" charset="0"/>
              </a:defRPr>
            </a:lvl4pPr>
            <a:lvl5pPr marL="2055907" indent="-228435" algn="l" defTabSz="457200" rtl="0" eaLnBrk="0" latinLnBrk="0" hangingPunct="0">
              <a:defRPr sz="2400" kern="1200">
                <a:solidFill>
                  <a:srgbClr val="FFFFFF"/>
                </a:solidFill>
                <a:latin typeface="Arial" charset="0"/>
                <a:ea typeface="ヒラギノ角ゴ ProN W3" charset="0"/>
                <a:cs typeface="ヒラギノ角ゴ ProN W3" charset="0"/>
                <a:sym typeface="Arial" charset="0"/>
              </a:defRPr>
            </a:lvl5pPr>
            <a:lvl6pPr marL="2512777" indent="-228435" algn="l" defTabSz="457200" rtl="0" eaLnBrk="0" fontAlgn="base" latinLnBrk="0" hangingPunct="0">
              <a:spcBef>
                <a:spcPct val="0"/>
              </a:spcBef>
              <a:spcAft>
                <a:spcPct val="0"/>
              </a:spcAft>
              <a:defRPr sz="2400" kern="1200">
                <a:solidFill>
                  <a:srgbClr val="FFFFFF"/>
                </a:solidFill>
                <a:latin typeface="Arial" charset="0"/>
                <a:ea typeface="ヒラギノ角ゴ ProN W3" charset="0"/>
                <a:cs typeface="ヒラギノ角ゴ ProN W3" charset="0"/>
                <a:sym typeface="Arial" charset="0"/>
              </a:defRPr>
            </a:lvl6pPr>
            <a:lvl7pPr marL="2969644" indent="-228435" algn="l" defTabSz="457200" rtl="0" eaLnBrk="0" fontAlgn="base" latinLnBrk="0" hangingPunct="0">
              <a:spcBef>
                <a:spcPct val="0"/>
              </a:spcBef>
              <a:spcAft>
                <a:spcPct val="0"/>
              </a:spcAft>
              <a:defRPr sz="2400" kern="1200">
                <a:solidFill>
                  <a:srgbClr val="FFFFFF"/>
                </a:solidFill>
                <a:latin typeface="Arial" charset="0"/>
                <a:ea typeface="ヒラギノ角ゴ ProN W3" charset="0"/>
                <a:cs typeface="ヒラギノ角ゴ ProN W3" charset="0"/>
                <a:sym typeface="Arial" charset="0"/>
              </a:defRPr>
            </a:lvl7pPr>
            <a:lvl8pPr marL="3426515" indent="-228435" algn="l" defTabSz="457200" rtl="0" eaLnBrk="0" fontAlgn="base" latinLnBrk="0" hangingPunct="0">
              <a:spcBef>
                <a:spcPct val="0"/>
              </a:spcBef>
              <a:spcAft>
                <a:spcPct val="0"/>
              </a:spcAft>
              <a:defRPr sz="2400" kern="1200">
                <a:solidFill>
                  <a:srgbClr val="FFFFFF"/>
                </a:solidFill>
                <a:latin typeface="Arial" charset="0"/>
                <a:ea typeface="ヒラギノ角ゴ ProN W3" charset="0"/>
                <a:cs typeface="ヒラギノ角ゴ ProN W3" charset="0"/>
                <a:sym typeface="Arial" charset="0"/>
              </a:defRPr>
            </a:lvl8pPr>
            <a:lvl9pPr marL="3883381" indent="-228435" algn="l" defTabSz="457200" rtl="0" eaLnBrk="0" fontAlgn="base" latinLnBrk="0" hangingPunct="0">
              <a:spcBef>
                <a:spcPct val="0"/>
              </a:spcBef>
              <a:spcAft>
                <a:spcPct val="0"/>
              </a:spcAft>
              <a:defRPr sz="2400" kern="1200">
                <a:solidFill>
                  <a:srgbClr val="FFFFFF"/>
                </a:solidFill>
                <a:latin typeface="Arial" charset="0"/>
                <a:ea typeface="ヒラギノ角ゴ ProN W3" charset="0"/>
                <a:cs typeface="ヒラギノ角ゴ ProN W3" charset="0"/>
                <a:sym typeface="Arial" charset="0"/>
              </a:defRPr>
            </a:lvl9pPr>
          </a:lstStyle>
          <a:p>
            <a:pPr algn="ctr"/>
            <a:fld id="{8DA07FD4-9989-114B-8795-A0896A13FFB7}" type="slidenum">
              <a:rPr lang="en-US" sz="1400" smtClean="0">
                <a:solidFill>
                  <a:srgbClr val="FFFFFF"/>
                </a:solidFill>
                <a:latin typeface="Source Sans Pro Light"/>
                <a:cs typeface="Source Sans Pro Light"/>
              </a:rPr>
              <a:pPr algn="ctr"/>
              <a:t>‹#›</a:t>
            </a:fld>
            <a:endParaRPr lang="en-US" sz="1400" dirty="0">
              <a:solidFill>
                <a:srgbClr val="FFFFFF"/>
              </a:solidFill>
              <a:latin typeface="Source Sans Pro Light"/>
              <a:cs typeface="Source Sans Pro Light"/>
            </a:endParaRPr>
          </a:p>
        </p:txBody>
      </p:sp>
    </p:spTree>
    <p:extLst>
      <p:ext uri="{BB962C8B-B14F-4D97-AF65-F5344CB8AC3E}">
        <p14:creationId xmlns:p14="http://schemas.microsoft.com/office/powerpoint/2010/main" val="78059677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457200" y="1600200"/>
            <a:ext cx="8229600" cy="452596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13053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0.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11.xml"/></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4.xml"/><Relationship Id="rId1" Type="http://schemas.openxmlformats.org/officeDocument/2006/relationships/slideLayout" Target="../slideLayouts/slideLayout12.xml"/></Relationships>
</file>

<file path=ppt/slideMasters/_rels/slideMaster5.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theme" Target="../theme/theme5.xml"/><Relationship Id="rId5" Type="http://schemas.openxmlformats.org/officeDocument/2006/relationships/slideLayout" Target="../slideLayouts/slideLayout17.xml"/><Relationship Id="rId4" Type="http://schemas.openxmlformats.org/officeDocument/2006/relationships/slideLayout" Target="../slideLayouts/slideLayout1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Box 6"/>
          <p:cNvSpPr txBox="1"/>
          <p:nvPr/>
        </p:nvSpPr>
        <p:spPr>
          <a:xfrm>
            <a:off x="324562" y="6603992"/>
            <a:ext cx="4864706" cy="230832"/>
          </a:xfrm>
          <a:prstGeom prst="rect">
            <a:avLst/>
          </a:prstGeom>
          <a:noFill/>
        </p:spPr>
        <p:txBody>
          <a:bodyPr wrap="square" rtlCol="0">
            <a:spAutoFit/>
          </a:bodyPr>
          <a:lstStyle/>
          <a:p>
            <a:r>
              <a:rPr lang="en-US" sz="900" dirty="0">
                <a:solidFill>
                  <a:srgbClr val="FFFFFF"/>
                </a:solidFill>
                <a:latin typeface="Verdana"/>
                <a:cs typeface="Verdana"/>
              </a:rPr>
              <a:t>©2013 Skyhook Wireless Inc.</a:t>
            </a:r>
          </a:p>
        </p:txBody>
      </p:sp>
      <p:grpSp>
        <p:nvGrpSpPr>
          <p:cNvPr id="8" name="Group 7"/>
          <p:cNvGrpSpPr/>
          <p:nvPr/>
        </p:nvGrpSpPr>
        <p:grpSpPr>
          <a:xfrm rot="16200000">
            <a:off x="4502079" y="2222868"/>
            <a:ext cx="145142" cy="9149290"/>
            <a:chOff x="4856713" y="316444"/>
            <a:chExt cx="1472249" cy="7253076"/>
          </a:xfrm>
        </p:grpSpPr>
        <p:sp>
          <p:nvSpPr>
            <p:cNvPr id="9" name="Rectangle 8"/>
            <p:cNvSpPr/>
            <p:nvPr/>
          </p:nvSpPr>
          <p:spPr>
            <a:xfrm>
              <a:off x="4858508" y="5893765"/>
              <a:ext cx="1470438" cy="1675755"/>
            </a:xfrm>
            <a:prstGeom prst="rect">
              <a:avLst/>
            </a:prstGeom>
            <a:solidFill>
              <a:srgbClr val="00418C"/>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0" name="Rectangle 9"/>
            <p:cNvSpPr/>
            <p:nvPr/>
          </p:nvSpPr>
          <p:spPr>
            <a:xfrm>
              <a:off x="4856713" y="326033"/>
              <a:ext cx="1472242" cy="4197048"/>
            </a:xfrm>
            <a:prstGeom prst="rect">
              <a:avLst/>
            </a:prstGeom>
            <a:solidFill>
              <a:srgbClr val="FFFFFF"/>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1" name="Rectangle 10"/>
            <p:cNvSpPr/>
            <p:nvPr/>
          </p:nvSpPr>
          <p:spPr>
            <a:xfrm>
              <a:off x="4856715" y="316444"/>
              <a:ext cx="1472241" cy="4113777"/>
            </a:xfrm>
            <a:prstGeom prst="rect">
              <a:avLst/>
            </a:prstGeom>
            <a:solidFill>
              <a:schemeClr val="accent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solidFill>
                  <a:srgbClr val="00A1E1"/>
                </a:solidFill>
              </a:endParaRPr>
            </a:p>
          </p:txBody>
        </p:sp>
        <p:sp>
          <p:nvSpPr>
            <p:cNvPr id="12" name="Rectangle 11"/>
            <p:cNvSpPr/>
            <p:nvPr/>
          </p:nvSpPr>
          <p:spPr>
            <a:xfrm>
              <a:off x="4856714" y="4430221"/>
              <a:ext cx="1472241" cy="497301"/>
            </a:xfrm>
            <a:prstGeom prst="rect">
              <a:avLst/>
            </a:prstGeom>
            <a:solidFill>
              <a:schemeClr val="accent3"/>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solidFill>
                  <a:schemeClr val="accent3"/>
                </a:solidFill>
              </a:endParaRPr>
            </a:p>
          </p:txBody>
        </p:sp>
        <p:sp>
          <p:nvSpPr>
            <p:cNvPr id="13" name="Rectangle 12"/>
            <p:cNvSpPr/>
            <p:nvPr/>
          </p:nvSpPr>
          <p:spPr>
            <a:xfrm>
              <a:off x="4856713" y="4915427"/>
              <a:ext cx="1472244" cy="147311"/>
            </a:xfrm>
            <a:prstGeom prst="rect">
              <a:avLst/>
            </a:prstGeom>
            <a:solidFill>
              <a:schemeClr val="accent6"/>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solidFill>
                  <a:schemeClr val="accent3"/>
                </a:solidFill>
              </a:endParaRPr>
            </a:p>
          </p:txBody>
        </p:sp>
        <p:sp>
          <p:nvSpPr>
            <p:cNvPr id="14" name="Rectangle 13"/>
            <p:cNvSpPr/>
            <p:nvPr/>
          </p:nvSpPr>
          <p:spPr>
            <a:xfrm>
              <a:off x="4856718" y="5031080"/>
              <a:ext cx="1472244" cy="862684"/>
            </a:xfrm>
            <a:prstGeom prst="rect">
              <a:avLst/>
            </a:prstGeom>
            <a:solidFill>
              <a:schemeClr val="accent4"/>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nvGrpSpPr>
          <p:cNvPr id="15" name="Group 14"/>
          <p:cNvGrpSpPr/>
          <p:nvPr userDrawn="1"/>
        </p:nvGrpSpPr>
        <p:grpSpPr>
          <a:xfrm>
            <a:off x="647141" y="6436314"/>
            <a:ext cx="8384305" cy="288628"/>
            <a:chOff x="647141" y="6436314"/>
            <a:chExt cx="8384305" cy="288628"/>
          </a:xfrm>
        </p:grpSpPr>
        <p:pic>
          <p:nvPicPr>
            <p:cNvPr id="16" name="Picture 15" descr="logo-2.png"/>
            <p:cNvPicPr>
              <a:picLocks noChangeAspect="1"/>
            </p:cNvPicPr>
            <p:nvPr/>
          </p:nvPicPr>
          <p:blipFill>
            <a:blip r:embed="rId11" cstate="screen">
              <a:extLst>
                <a:ext uri="{28A0092B-C50C-407E-A947-70E740481C1C}">
                  <a14:useLocalDpi xmlns:a14="http://schemas.microsoft.com/office/drawing/2010/main"/>
                </a:ext>
              </a:extLst>
            </a:blip>
            <a:stretch>
              <a:fillRect/>
            </a:stretch>
          </p:blipFill>
          <p:spPr>
            <a:xfrm>
              <a:off x="7088346" y="6460338"/>
              <a:ext cx="1943100" cy="264604"/>
            </a:xfrm>
            <a:prstGeom prst="rect">
              <a:avLst/>
            </a:prstGeom>
          </p:spPr>
        </p:pic>
        <p:sp>
          <p:nvSpPr>
            <p:cNvPr id="17" name="TextBox 16"/>
            <p:cNvSpPr txBox="1"/>
            <p:nvPr userDrawn="1"/>
          </p:nvSpPr>
          <p:spPr>
            <a:xfrm>
              <a:off x="647141" y="6436314"/>
              <a:ext cx="5856105" cy="251287"/>
            </a:xfrm>
            <a:prstGeom prst="rect">
              <a:avLst/>
            </a:prstGeom>
            <a:noFill/>
          </p:spPr>
          <p:txBody>
            <a:bodyPr wrap="square" rtlCol="0">
              <a:spAutoFit/>
            </a:bodyPr>
            <a:lstStyle/>
            <a:p>
              <a:pPr>
                <a:lnSpc>
                  <a:spcPct val="130000"/>
                </a:lnSpc>
              </a:pPr>
              <a:r>
                <a:rPr lang="en-US" sz="900" dirty="0">
                  <a:solidFill>
                    <a:schemeClr val="accent1">
                      <a:lumMod val="25000"/>
                    </a:schemeClr>
                  </a:solidFill>
                  <a:latin typeface="Verdana"/>
                  <a:cs typeface="Verdana"/>
                </a:rPr>
                <a:t>Boston</a:t>
              </a:r>
              <a:r>
                <a:rPr lang="en-US" sz="900" baseline="0" dirty="0">
                  <a:solidFill>
                    <a:schemeClr val="accent1">
                      <a:lumMod val="25000"/>
                    </a:schemeClr>
                  </a:solidFill>
                  <a:latin typeface="Verdana"/>
                  <a:cs typeface="Verdana"/>
                </a:rPr>
                <a:t> University </a:t>
              </a:r>
              <a:r>
                <a:rPr lang="mr-IN" sz="900" baseline="0" dirty="0">
                  <a:solidFill>
                    <a:schemeClr val="accent1">
                      <a:lumMod val="25000"/>
                    </a:schemeClr>
                  </a:solidFill>
                  <a:latin typeface="Verdana"/>
                  <a:cs typeface="Verdana"/>
                </a:rPr>
                <a:t>–</a:t>
              </a:r>
              <a:r>
                <a:rPr lang="en-US" sz="900" baseline="0" dirty="0">
                  <a:solidFill>
                    <a:schemeClr val="accent1">
                      <a:lumMod val="25000"/>
                    </a:schemeClr>
                  </a:solidFill>
                  <a:latin typeface="Verdana"/>
                  <a:cs typeface="Verdana"/>
                </a:rPr>
                <a:t> CS555, Data Analysis, F. Alizadeh-</a:t>
              </a:r>
              <a:r>
                <a:rPr lang="en-US" sz="900" baseline="0" dirty="0" err="1">
                  <a:solidFill>
                    <a:schemeClr val="accent1">
                      <a:lumMod val="25000"/>
                    </a:schemeClr>
                  </a:solidFill>
                  <a:latin typeface="Verdana"/>
                  <a:cs typeface="Verdana"/>
                </a:rPr>
                <a:t>Shabdiz</a:t>
              </a:r>
              <a:endParaRPr lang="en-US" sz="900" dirty="0">
                <a:solidFill>
                  <a:schemeClr val="accent1">
                    <a:lumMod val="25000"/>
                  </a:schemeClr>
                </a:solidFill>
                <a:latin typeface="Verdana"/>
                <a:cs typeface="Verdana"/>
              </a:endParaRPr>
            </a:p>
          </p:txBody>
        </p:sp>
      </p:grpSp>
      <p:sp>
        <p:nvSpPr>
          <p:cNvPr id="19" name="Slide Number Placeholder 4"/>
          <p:cNvSpPr txBox="1">
            <a:spLocks/>
          </p:cNvSpPr>
          <p:nvPr userDrawn="1"/>
        </p:nvSpPr>
        <p:spPr bwMode="auto">
          <a:xfrm>
            <a:off x="272639" y="6400800"/>
            <a:ext cx="371475" cy="455613"/>
          </a:xfrm>
          <a:prstGeom prst="rect">
            <a:avLst/>
          </a:prstGeom>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91410" tIns="45706" rIns="91410" bIns="45706"/>
          <a:lstStyle>
            <a:defPPr>
              <a:defRPr lang="en-US"/>
            </a:defPPr>
            <a:lvl1pPr marL="0" algn="l" defTabSz="457200" rtl="0" eaLnBrk="0" latinLnBrk="0" hangingPunct="0">
              <a:defRPr sz="2400" kern="1200">
                <a:solidFill>
                  <a:srgbClr val="FFFFFF"/>
                </a:solidFill>
                <a:latin typeface="Arial" charset="0"/>
                <a:ea typeface="ヒラギノ角ゴ ProN W3" charset="0"/>
                <a:cs typeface="ヒラギノ角ゴ ProN W3" charset="0"/>
                <a:sym typeface="Arial" charset="0"/>
              </a:defRPr>
            </a:lvl1pPr>
            <a:lvl2pPr marL="742411" indent="-285543" algn="l" defTabSz="457200" rtl="0" eaLnBrk="0" latinLnBrk="0" hangingPunct="0">
              <a:defRPr sz="2400" kern="1200">
                <a:solidFill>
                  <a:srgbClr val="FFFFFF"/>
                </a:solidFill>
                <a:latin typeface="Arial" charset="0"/>
                <a:ea typeface="ヒラギノ角ゴ ProN W3" charset="0"/>
                <a:cs typeface="ヒラギノ角ゴ ProN W3" charset="0"/>
                <a:sym typeface="Arial" charset="0"/>
              </a:defRPr>
            </a:lvl2pPr>
            <a:lvl3pPr marL="1142169" indent="-228435" algn="l" defTabSz="457200" rtl="0" eaLnBrk="0" latinLnBrk="0" hangingPunct="0">
              <a:defRPr sz="2400" kern="1200">
                <a:solidFill>
                  <a:srgbClr val="FFFFFF"/>
                </a:solidFill>
                <a:latin typeface="Arial" charset="0"/>
                <a:ea typeface="ヒラギノ角ゴ ProN W3" charset="0"/>
                <a:cs typeface="ヒラギノ角ゴ ProN W3" charset="0"/>
                <a:sym typeface="Arial" charset="0"/>
              </a:defRPr>
            </a:lvl3pPr>
            <a:lvl4pPr marL="1599039" indent="-228435" algn="l" defTabSz="457200" rtl="0" eaLnBrk="0" latinLnBrk="0" hangingPunct="0">
              <a:defRPr sz="2400" kern="1200">
                <a:solidFill>
                  <a:srgbClr val="FFFFFF"/>
                </a:solidFill>
                <a:latin typeface="Arial" charset="0"/>
                <a:ea typeface="ヒラギノ角ゴ ProN W3" charset="0"/>
                <a:cs typeface="ヒラギノ角ゴ ProN W3" charset="0"/>
                <a:sym typeface="Arial" charset="0"/>
              </a:defRPr>
            </a:lvl4pPr>
            <a:lvl5pPr marL="2055907" indent="-228435" algn="l" defTabSz="457200" rtl="0" eaLnBrk="0" latinLnBrk="0" hangingPunct="0">
              <a:defRPr sz="2400" kern="1200">
                <a:solidFill>
                  <a:srgbClr val="FFFFFF"/>
                </a:solidFill>
                <a:latin typeface="Arial" charset="0"/>
                <a:ea typeface="ヒラギノ角ゴ ProN W3" charset="0"/>
                <a:cs typeface="ヒラギノ角ゴ ProN W3" charset="0"/>
                <a:sym typeface="Arial" charset="0"/>
              </a:defRPr>
            </a:lvl5pPr>
            <a:lvl6pPr marL="2512777" indent="-228435" algn="l" defTabSz="457200" rtl="0" eaLnBrk="0" fontAlgn="base" latinLnBrk="0" hangingPunct="0">
              <a:spcBef>
                <a:spcPct val="0"/>
              </a:spcBef>
              <a:spcAft>
                <a:spcPct val="0"/>
              </a:spcAft>
              <a:defRPr sz="2400" kern="1200">
                <a:solidFill>
                  <a:srgbClr val="FFFFFF"/>
                </a:solidFill>
                <a:latin typeface="Arial" charset="0"/>
                <a:ea typeface="ヒラギノ角ゴ ProN W3" charset="0"/>
                <a:cs typeface="ヒラギノ角ゴ ProN W3" charset="0"/>
                <a:sym typeface="Arial" charset="0"/>
              </a:defRPr>
            </a:lvl6pPr>
            <a:lvl7pPr marL="2969644" indent="-228435" algn="l" defTabSz="457200" rtl="0" eaLnBrk="0" fontAlgn="base" latinLnBrk="0" hangingPunct="0">
              <a:spcBef>
                <a:spcPct val="0"/>
              </a:spcBef>
              <a:spcAft>
                <a:spcPct val="0"/>
              </a:spcAft>
              <a:defRPr sz="2400" kern="1200">
                <a:solidFill>
                  <a:srgbClr val="FFFFFF"/>
                </a:solidFill>
                <a:latin typeface="Arial" charset="0"/>
                <a:ea typeface="ヒラギノ角ゴ ProN W3" charset="0"/>
                <a:cs typeface="ヒラギノ角ゴ ProN W3" charset="0"/>
                <a:sym typeface="Arial" charset="0"/>
              </a:defRPr>
            </a:lvl7pPr>
            <a:lvl8pPr marL="3426515" indent="-228435" algn="l" defTabSz="457200" rtl="0" eaLnBrk="0" fontAlgn="base" latinLnBrk="0" hangingPunct="0">
              <a:spcBef>
                <a:spcPct val="0"/>
              </a:spcBef>
              <a:spcAft>
                <a:spcPct val="0"/>
              </a:spcAft>
              <a:defRPr sz="2400" kern="1200">
                <a:solidFill>
                  <a:srgbClr val="FFFFFF"/>
                </a:solidFill>
                <a:latin typeface="Arial" charset="0"/>
                <a:ea typeface="ヒラギノ角ゴ ProN W3" charset="0"/>
                <a:cs typeface="ヒラギノ角ゴ ProN W3" charset="0"/>
                <a:sym typeface="Arial" charset="0"/>
              </a:defRPr>
            </a:lvl8pPr>
            <a:lvl9pPr marL="3883381" indent="-228435" algn="l" defTabSz="457200" rtl="0" eaLnBrk="0" fontAlgn="base" latinLnBrk="0" hangingPunct="0">
              <a:spcBef>
                <a:spcPct val="0"/>
              </a:spcBef>
              <a:spcAft>
                <a:spcPct val="0"/>
              </a:spcAft>
              <a:defRPr sz="2400" kern="1200">
                <a:solidFill>
                  <a:srgbClr val="FFFFFF"/>
                </a:solidFill>
                <a:latin typeface="Arial" charset="0"/>
                <a:ea typeface="ヒラギノ角ゴ ProN W3" charset="0"/>
                <a:cs typeface="ヒラギノ角ゴ ProN W3" charset="0"/>
                <a:sym typeface="Arial" charset="0"/>
              </a:defRPr>
            </a:lvl9pPr>
          </a:lstStyle>
          <a:p>
            <a:pPr algn="ctr"/>
            <a:fld id="{8DA07FD4-9989-114B-8795-A0896A13FFB7}" type="slidenum">
              <a:rPr lang="en-US" sz="1400" smtClean="0">
                <a:solidFill>
                  <a:schemeClr val="accent6"/>
                </a:solidFill>
                <a:latin typeface="Source Sans Pro Light"/>
                <a:cs typeface="Source Sans Pro Light"/>
              </a:rPr>
              <a:pPr algn="ctr"/>
              <a:t>‹#›</a:t>
            </a:fld>
            <a:endParaRPr lang="en-US" sz="1400" dirty="0">
              <a:solidFill>
                <a:schemeClr val="accent6"/>
              </a:solidFill>
              <a:latin typeface="Source Sans Pro Light"/>
              <a:cs typeface="Source Sans Pro Light"/>
            </a:endParaRPr>
          </a:p>
        </p:txBody>
      </p:sp>
    </p:spTree>
    <p:extLst>
      <p:ext uri="{BB962C8B-B14F-4D97-AF65-F5344CB8AC3E}">
        <p14:creationId xmlns:p14="http://schemas.microsoft.com/office/powerpoint/2010/main" val="2390899383"/>
      </p:ext>
    </p:extLst>
  </p:cSld>
  <p:clrMap bg1="lt1" tx1="dk1" bg2="lt2" tx2="dk2" accent1="accent1" accent2="accent2" accent3="accent3" accent4="accent4" accent5="accent5" accent6="accent6" hlink="hlink" folHlink="folHlink"/>
  <p:sldLayoutIdLst>
    <p:sldLayoutId id="2147483688" r:id="rId1"/>
    <p:sldLayoutId id="2147483732" r:id="rId2"/>
    <p:sldLayoutId id="2147483684" r:id="rId3"/>
    <p:sldLayoutId id="2147483650" r:id="rId4"/>
    <p:sldLayoutId id="2147483651" r:id="rId5"/>
    <p:sldLayoutId id="2147483652" r:id="rId6"/>
    <p:sldLayoutId id="2147483653" r:id="rId7"/>
    <p:sldLayoutId id="2147483654" r:id="rId8"/>
    <p:sldLayoutId id="2147483655" r:id="rId9"/>
  </p:sldLayoutIdLst>
  <p:hf hdr="0" ftr="0" dt="0"/>
  <p:txStyles>
    <p:titleStyle>
      <a:lvl1pPr algn="ctr" defTabSz="457200" rtl="0" eaLnBrk="1" latinLnBrk="0" hangingPunct="1">
        <a:spcBef>
          <a:spcPct val="0"/>
        </a:spcBef>
        <a:buNone/>
        <a:defRPr sz="4000" kern="1200" cap="none">
          <a:solidFill>
            <a:schemeClr val="accent1">
              <a:lumMod val="25000"/>
            </a:schemeClr>
          </a:solidFill>
          <a:latin typeface="Source Sans Pro Light"/>
          <a:ea typeface="+mj-ea"/>
          <a:cs typeface="Source Sans Pro Light"/>
        </a:defRPr>
      </a:lvl1pPr>
    </p:titleStyle>
    <p:bodyStyle>
      <a:lvl1pPr marL="342900" indent="-342900" algn="l" defTabSz="457200" rtl="0" eaLnBrk="1" latinLnBrk="0" hangingPunct="1">
        <a:spcBef>
          <a:spcPct val="20000"/>
        </a:spcBef>
        <a:buClr>
          <a:schemeClr val="accent4"/>
        </a:buClr>
        <a:buSzPct val="75000"/>
        <a:buFontTx/>
        <a:buBlip>
          <a:blip r:embed="rId12"/>
        </a:buBlip>
        <a:defRPr sz="3200" kern="1200">
          <a:solidFill>
            <a:schemeClr val="tx1"/>
          </a:solidFill>
          <a:latin typeface="Source Sans Pro Light"/>
          <a:ea typeface="+mn-ea"/>
          <a:cs typeface="Source Sans Pro Light"/>
        </a:defRPr>
      </a:lvl1pPr>
      <a:lvl2pPr marL="742950" indent="-285750" algn="l" defTabSz="457200" rtl="0" eaLnBrk="1" latinLnBrk="0" hangingPunct="1">
        <a:spcBef>
          <a:spcPct val="20000"/>
        </a:spcBef>
        <a:buClr>
          <a:schemeClr val="accent4"/>
        </a:buClr>
        <a:buSzPct val="75000"/>
        <a:buFontTx/>
        <a:buBlip>
          <a:blip r:embed="rId12"/>
        </a:buBlip>
        <a:defRPr sz="2800" kern="1200">
          <a:solidFill>
            <a:schemeClr val="tx1"/>
          </a:solidFill>
          <a:latin typeface="Source Sans Pro Light"/>
          <a:ea typeface="+mn-ea"/>
          <a:cs typeface="Source Sans Pro Light"/>
        </a:defRPr>
      </a:lvl2pPr>
      <a:lvl3pPr marL="1143000" indent="-228600" algn="l" defTabSz="457200" rtl="0" eaLnBrk="1" latinLnBrk="0" hangingPunct="1">
        <a:spcBef>
          <a:spcPct val="20000"/>
        </a:spcBef>
        <a:buClr>
          <a:schemeClr val="accent4"/>
        </a:buClr>
        <a:buSzPct val="75000"/>
        <a:buFontTx/>
        <a:buBlip>
          <a:blip r:embed="rId12"/>
        </a:buBlip>
        <a:defRPr sz="2400" kern="1200">
          <a:solidFill>
            <a:schemeClr val="tx1"/>
          </a:solidFill>
          <a:latin typeface="Source Sans Pro Light"/>
          <a:ea typeface="+mn-ea"/>
          <a:cs typeface="Source Sans Pro Light"/>
        </a:defRPr>
      </a:lvl3pPr>
      <a:lvl4pPr marL="1600200" indent="-228600" algn="l" defTabSz="457200" rtl="0" eaLnBrk="1" latinLnBrk="0" hangingPunct="1">
        <a:spcBef>
          <a:spcPct val="20000"/>
        </a:spcBef>
        <a:buClr>
          <a:schemeClr val="accent4"/>
        </a:buClr>
        <a:buSzPct val="75000"/>
        <a:buFontTx/>
        <a:buBlip>
          <a:blip r:embed="rId12"/>
        </a:buBlip>
        <a:defRPr sz="2000" kern="1200">
          <a:solidFill>
            <a:schemeClr val="tx1"/>
          </a:solidFill>
          <a:latin typeface="Source Sans Pro Light"/>
          <a:ea typeface="+mn-ea"/>
          <a:cs typeface="Source Sans Pro Light"/>
        </a:defRPr>
      </a:lvl4pPr>
      <a:lvl5pPr marL="2057400" indent="-228600" algn="l" defTabSz="457200" rtl="0" eaLnBrk="1" latinLnBrk="0" hangingPunct="1">
        <a:spcBef>
          <a:spcPct val="20000"/>
        </a:spcBef>
        <a:buClr>
          <a:schemeClr val="accent4"/>
        </a:buClr>
        <a:buSzPct val="75000"/>
        <a:buFontTx/>
        <a:buBlip>
          <a:blip r:embed="rId12"/>
        </a:buBlip>
        <a:defRPr sz="2000" kern="1200">
          <a:solidFill>
            <a:schemeClr val="tx1"/>
          </a:solidFill>
          <a:latin typeface="Source Sans Pro Light"/>
          <a:ea typeface="+mn-ea"/>
          <a:cs typeface="Source Sans Pro Light"/>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accent4"/>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852267"/>
            <a:ext cx="8229600" cy="1143000"/>
          </a:xfrm>
          <a:prstGeom prst="rect">
            <a:avLst/>
          </a:prstGeom>
        </p:spPr>
        <p:txBody>
          <a:bodyPr vert="horz" lIns="91440" tIns="45720" rIns="91440" bIns="45720" rtlCol="0" anchor="ctr">
            <a:normAutofit/>
          </a:bodyPr>
          <a:lstStyle/>
          <a:p>
            <a:pPr marL="342900" marR="0" lvl="0" indent="-342900" defTabSz="457200" rtl="0" eaLnBrk="1" fontAlgn="auto" latinLnBrk="0" hangingPunct="1">
              <a:lnSpc>
                <a:spcPct val="100000"/>
              </a:lnSpc>
              <a:spcBef>
                <a:spcPct val="20000"/>
              </a:spcBef>
              <a:spcAft>
                <a:spcPts val="0"/>
              </a:spcAft>
              <a:tabLst/>
              <a:defRPr/>
            </a:pPr>
            <a:r>
              <a:rPr kumimoji="0" lang="en-US" sz="3200" b="1" i="0" u="none" strike="noStrike" kern="1200" cap="none" spc="50" normalizeH="0" baseline="0" noProof="0" dirty="0">
                <a:ln>
                  <a:noFill/>
                </a:ln>
                <a:solidFill>
                  <a:srgbClr val="FFFFFF"/>
                </a:solidFill>
                <a:effectLst/>
                <a:uLnTx/>
                <a:uFillTx/>
                <a:latin typeface="Source Sans Pro Light"/>
                <a:ea typeface="+mn-ea"/>
                <a:cs typeface="Source Sans Pro Light"/>
              </a:rPr>
              <a:t>I am thoroughly </a:t>
            </a:r>
            <a:r>
              <a:rPr kumimoji="0" lang="en-US" sz="3200" b="1" i="0" u="none" strike="noStrike" kern="1200" cap="none" spc="50" normalizeH="0" baseline="0" noProof="0" dirty="0">
                <a:ln>
                  <a:noFill/>
                </a:ln>
                <a:solidFill>
                  <a:srgbClr val="FFFFFF"/>
                </a:solidFill>
                <a:effectLst/>
                <a:uLnTx/>
                <a:uFillTx/>
                <a:latin typeface="Source Sans Pro"/>
                <a:ea typeface="+mn-ea"/>
                <a:cs typeface="Source Sans Pro"/>
              </a:rPr>
              <a:t>disruptive.</a:t>
            </a:r>
            <a:endParaRPr kumimoji="0" lang="en-US" sz="3200" b="1" i="0" u="none" strike="noStrike" kern="1200" cap="none" spc="50" normalizeH="0" baseline="0" noProof="0" dirty="0">
              <a:ln>
                <a:noFill/>
              </a:ln>
              <a:solidFill>
                <a:srgbClr val="FFFFFF"/>
              </a:solidFill>
              <a:effectLst/>
              <a:uLnTx/>
              <a:uFillTx/>
              <a:latin typeface="Source Sans Pro Light"/>
              <a:ea typeface="+mn-ea"/>
              <a:cs typeface="Source Sans Pro Light"/>
            </a:endParaRPr>
          </a:p>
        </p:txBody>
      </p:sp>
      <p:sp>
        <p:nvSpPr>
          <p:cNvPr id="5" name="TextBox 4"/>
          <p:cNvSpPr txBox="1"/>
          <p:nvPr userDrawn="1"/>
        </p:nvSpPr>
        <p:spPr>
          <a:xfrm>
            <a:off x="647141" y="6436314"/>
            <a:ext cx="5856105" cy="251287"/>
          </a:xfrm>
          <a:prstGeom prst="rect">
            <a:avLst/>
          </a:prstGeom>
          <a:noFill/>
        </p:spPr>
        <p:txBody>
          <a:bodyPr wrap="square" rtlCol="0">
            <a:spAutoFit/>
          </a:bodyPr>
          <a:lstStyle/>
          <a:p>
            <a:pPr marL="0" marR="0" indent="0" algn="l" defTabSz="457200" rtl="0" eaLnBrk="1" fontAlgn="auto" latinLnBrk="0" hangingPunct="1">
              <a:lnSpc>
                <a:spcPct val="130000"/>
              </a:lnSpc>
              <a:spcBef>
                <a:spcPts val="0"/>
              </a:spcBef>
              <a:spcAft>
                <a:spcPts val="0"/>
              </a:spcAft>
              <a:buClrTx/>
              <a:buSzTx/>
              <a:buFontTx/>
              <a:buNone/>
              <a:tabLst/>
              <a:defRPr/>
            </a:pPr>
            <a:r>
              <a:rPr lang="en-US" sz="900" dirty="0">
                <a:solidFill>
                  <a:schemeClr val="accent1">
                    <a:lumMod val="25000"/>
                  </a:schemeClr>
                </a:solidFill>
                <a:latin typeface="Verdana"/>
                <a:cs typeface="Verdana"/>
              </a:rPr>
              <a:t>Boston</a:t>
            </a:r>
            <a:r>
              <a:rPr lang="en-US" sz="900" baseline="0" dirty="0">
                <a:solidFill>
                  <a:schemeClr val="accent1">
                    <a:lumMod val="25000"/>
                  </a:schemeClr>
                </a:solidFill>
                <a:latin typeface="Verdana"/>
                <a:cs typeface="Verdana"/>
              </a:rPr>
              <a:t> University </a:t>
            </a:r>
            <a:r>
              <a:rPr lang="mr-IN" sz="900" baseline="0" dirty="0">
                <a:solidFill>
                  <a:schemeClr val="accent1">
                    <a:lumMod val="25000"/>
                  </a:schemeClr>
                </a:solidFill>
                <a:latin typeface="Verdana"/>
                <a:cs typeface="Verdana"/>
              </a:rPr>
              <a:t>–</a:t>
            </a:r>
            <a:r>
              <a:rPr lang="en-US" sz="900" baseline="0" dirty="0">
                <a:solidFill>
                  <a:schemeClr val="accent1">
                    <a:lumMod val="25000"/>
                  </a:schemeClr>
                </a:solidFill>
                <a:latin typeface="Verdana"/>
                <a:cs typeface="Verdana"/>
              </a:rPr>
              <a:t> CS555, Data Analysis, F. Alizadeh-</a:t>
            </a:r>
            <a:r>
              <a:rPr lang="en-US" sz="900" baseline="0" dirty="0" err="1">
                <a:solidFill>
                  <a:schemeClr val="accent1">
                    <a:lumMod val="25000"/>
                  </a:schemeClr>
                </a:solidFill>
                <a:latin typeface="Verdana"/>
                <a:cs typeface="Verdana"/>
              </a:rPr>
              <a:t>Shabdiz</a:t>
            </a:r>
            <a:endParaRPr lang="en-US" sz="900" dirty="0">
              <a:solidFill>
                <a:schemeClr val="accent1">
                  <a:lumMod val="25000"/>
                </a:schemeClr>
              </a:solidFill>
              <a:latin typeface="Verdana"/>
              <a:cs typeface="Verdana"/>
            </a:endParaRPr>
          </a:p>
        </p:txBody>
      </p:sp>
    </p:spTree>
    <p:extLst>
      <p:ext uri="{BB962C8B-B14F-4D97-AF65-F5344CB8AC3E}">
        <p14:creationId xmlns:p14="http://schemas.microsoft.com/office/powerpoint/2010/main" val="1057029482"/>
      </p:ext>
    </p:extLst>
  </p:cSld>
  <p:clrMap bg1="lt1" tx1="dk1" bg2="lt2" tx2="dk2" accent1="accent1" accent2="accent2" accent3="accent3" accent4="accent4" accent5="accent5" accent6="accent6" hlink="hlink" folHlink="folHlink"/>
  <p:sldLayoutIdLst>
    <p:sldLayoutId id="2147483717" r:id="rId1"/>
  </p:sldLayoutIdLst>
  <p:hf hdr="0" ftr="0" dt="0"/>
  <p:txStyles>
    <p:titleStyle>
      <a:lvl1pPr marL="342900" marR="0" indent="-342900" algn="ctr" defTabSz="457200" rtl="0" eaLnBrk="1" fontAlgn="auto" latinLnBrk="0" hangingPunct="1">
        <a:lnSpc>
          <a:spcPct val="100000"/>
        </a:lnSpc>
        <a:spcBef>
          <a:spcPct val="20000"/>
        </a:spcBef>
        <a:spcAft>
          <a:spcPts val="0"/>
        </a:spcAft>
        <a:buClrTx/>
        <a:buSzTx/>
        <a:buFontTx/>
        <a:buNone/>
        <a:tabLst/>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accent6"/>
        </a:solidFill>
        <a:effectLst/>
      </p:bgPr>
    </p:bg>
    <p:spTree>
      <p:nvGrpSpPr>
        <p:cNvPr id="1" name=""/>
        <p:cNvGrpSpPr/>
        <p:nvPr/>
      </p:nvGrpSpPr>
      <p:grpSpPr>
        <a:xfrm>
          <a:off x="0" y="0"/>
          <a:ext cx="0" cy="0"/>
          <a:chOff x="0" y="0"/>
          <a:chExt cx="0" cy="0"/>
        </a:xfrm>
      </p:grpSpPr>
      <p:sp>
        <p:nvSpPr>
          <p:cNvPr id="4" name="TextBox 3"/>
          <p:cNvSpPr txBox="1"/>
          <p:nvPr userDrawn="1"/>
        </p:nvSpPr>
        <p:spPr>
          <a:xfrm>
            <a:off x="647141" y="6436314"/>
            <a:ext cx="5856105" cy="251287"/>
          </a:xfrm>
          <a:prstGeom prst="rect">
            <a:avLst/>
          </a:prstGeom>
          <a:noFill/>
        </p:spPr>
        <p:txBody>
          <a:bodyPr wrap="square" rtlCol="0">
            <a:spAutoFit/>
          </a:bodyPr>
          <a:lstStyle/>
          <a:p>
            <a:pPr marL="0" marR="0" indent="0" algn="l" defTabSz="457200" rtl="0" eaLnBrk="1" fontAlgn="auto" latinLnBrk="0" hangingPunct="1">
              <a:lnSpc>
                <a:spcPct val="130000"/>
              </a:lnSpc>
              <a:spcBef>
                <a:spcPts val="0"/>
              </a:spcBef>
              <a:spcAft>
                <a:spcPts val="0"/>
              </a:spcAft>
              <a:buClrTx/>
              <a:buSzTx/>
              <a:buFontTx/>
              <a:buNone/>
              <a:tabLst/>
              <a:defRPr/>
            </a:pPr>
            <a:r>
              <a:rPr lang="en-US" sz="900" dirty="0">
                <a:solidFill>
                  <a:schemeClr val="accent1">
                    <a:lumMod val="25000"/>
                  </a:schemeClr>
                </a:solidFill>
                <a:latin typeface="Verdana"/>
                <a:cs typeface="Verdana"/>
              </a:rPr>
              <a:t>Boston</a:t>
            </a:r>
            <a:r>
              <a:rPr lang="en-US" sz="900" baseline="0" dirty="0">
                <a:solidFill>
                  <a:schemeClr val="accent1">
                    <a:lumMod val="25000"/>
                  </a:schemeClr>
                </a:solidFill>
                <a:latin typeface="Verdana"/>
                <a:cs typeface="Verdana"/>
              </a:rPr>
              <a:t> University </a:t>
            </a:r>
            <a:r>
              <a:rPr lang="mr-IN" sz="900" baseline="0" dirty="0">
                <a:solidFill>
                  <a:schemeClr val="accent1">
                    <a:lumMod val="25000"/>
                  </a:schemeClr>
                </a:solidFill>
                <a:latin typeface="Verdana"/>
                <a:cs typeface="Verdana"/>
              </a:rPr>
              <a:t>–</a:t>
            </a:r>
            <a:r>
              <a:rPr lang="en-US" sz="900" baseline="0" dirty="0">
                <a:solidFill>
                  <a:schemeClr val="accent1">
                    <a:lumMod val="25000"/>
                  </a:schemeClr>
                </a:solidFill>
                <a:latin typeface="Verdana"/>
                <a:cs typeface="Verdana"/>
              </a:rPr>
              <a:t> CS555, Data Analysis, F. Alizadeh-</a:t>
            </a:r>
            <a:r>
              <a:rPr lang="en-US" sz="900" baseline="0" dirty="0" err="1">
                <a:solidFill>
                  <a:schemeClr val="accent1">
                    <a:lumMod val="25000"/>
                  </a:schemeClr>
                </a:solidFill>
                <a:latin typeface="Verdana"/>
                <a:cs typeface="Verdana"/>
              </a:rPr>
              <a:t>Shabdiz</a:t>
            </a:r>
            <a:endParaRPr lang="en-US" sz="900" dirty="0">
              <a:solidFill>
                <a:schemeClr val="accent1">
                  <a:lumMod val="25000"/>
                </a:schemeClr>
              </a:solidFill>
              <a:latin typeface="Verdana"/>
              <a:cs typeface="Verdana"/>
            </a:endParaRPr>
          </a:p>
        </p:txBody>
      </p:sp>
    </p:spTree>
    <p:extLst>
      <p:ext uri="{BB962C8B-B14F-4D97-AF65-F5344CB8AC3E}">
        <p14:creationId xmlns:p14="http://schemas.microsoft.com/office/powerpoint/2010/main" val="2684285095"/>
      </p:ext>
    </p:extLst>
  </p:cSld>
  <p:clrMap bg1="lt1" tx1="dk1" bg2="lt2" tx2="dk2" accent1="accent1" accent2="accent2" accent3="accent3" accent4="accent4" accent5="accent5" accent6="accent6" hlink="hlink" folHlink="folHlink"/>
  <p:sldLayoutIdLst>
    <p:sldLayoutId id="2147483704" r:id="rId1"/>
  </p:sldLayoutIdLst>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0" y="1"/>
            <a:ext cx="9153407" cy="2479523"/>
          </a:xfrm>
          <a:prstGeom prst="rect">
            <a:avLst/>
          </a:prstGeom>
          <a:solidFill>
            <a:schemeClr val="accent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z="3200" b="1" spc="50" dirty="0">
                <a:solidFill>
                  <a:schemeClr val="accent6"/>
                </a:solidFill>
                <a:latin typeface="Source Sans Pro Light"/>
                <a:cs typeface="Source Sans Pro Light"/>
              </a:rPr>
              <a:t>One simple lead statement. Use </a:t>
            </a:r>
            <a:r>
              <a:rPr lang="en-US" sz="3200" b="1" spc="50" dirty="0">
                <a:solidFill>
                  <a:schemeClr val="accent6"/>
                </a:solidFill>
                <a:latin typeface="Source Sans Pro"/>
                <a:cs typeface="Source Sans Pro"/>
              </a:rPr>
              <a:t>bold for emphasis</a:t>
            </a:r>
            <a:r>
              <a:rPr lang="en-US" sz="3200" b="1" spc="50" dirty="0">
                <a:solidFill>
                  <a:schemeClr val="accent6"/>
                </a:solidFill>
                <a:latin typeface="Source Sans Pro Light"/>
                <a:cs typeface="Source Sans Pro Light"/>
              </a:rPr>
              <a:t>, but please do it sparingly.</a:t>
            </a:r>
            <a:endParaRPr lang="en-US" dirty="0"/>
          </a:p>
        </p:txBody>
      </p:sp>
      <p:sp>
        <p:nvSpPr>
          <p:cNvPr id="3" name="Text Placeholder 2"/>
          <p:cNvSpPr>
            <a:spLocks noGrp="1"/>
          </p:cNvSpPr>
          <p:nvPr>
            <p:ph type="body" idx="1"/>
          </p:nvPr>
        </p:nvSpPr>
        <p:spPr>
          <a:xfrm>
            <a:off x="805274" y="3367855"/>
            <a:ext cx="3174059" cy="2607793"/>
          </a:xfrm>
          <a:prstGeom prst="rect">
            <a:avLst/>
          </a:prstGeom>
        </p:spPr>
        <p:txBody>
          <a:bodyPr vert="horz" lIns="91440" tIns="45720" rIns="91440" bIns="45720" rtlCol="0">
            <a:normAutofit/>
          </a:bodyPr>
          <a:lstStyle/>
          <a:p>
            <a:pPr marL="0" marR="0" lvl="0" indent="0" algn="l" defTabSz="457200" rtl="0" eaLnBrk="1" fontAlgn="auto" latinLnBrk="0" hangingPunct="1">
              <a:lnSpc>
                <a:spcPct val="13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Source Sans Pro Light"/>
                <a:ea typeface="+mn-ea"/>
                <a:cs typeface="Source Sans Pro Light"/>
              </a:rPr>
              <a:t>1.   Introduction</a:t>
            </a:r>
          </a:p>
          <a:p>
            <a:pPr marL="0" marR="0" lvl="0" indent="0" algn="l" defTabSz="457200" rtl="0" eaLnBrk="1" fontAlgn="auto" latinLnBrk="0" hangingPunct="1">
              <a:lnSpc>
                <a:spcPct val="13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Source Sans Pro Light"/>
                <a:ea typeface="+mn-ea"/>
                <a:cs typeface="Source Sans Pro Light"/>
              </a:rPr>
              <a:t>2.   Setup</a:t>
            </a:r>
          </a:p>
          <a:p>
            <a:pPr marL="0" marR="0" lvl="0" indent="0" algn="l" defTabSz="457200" rtl="0" eaLnBrk="1" fontAlgn="auto" latinLnBrk="0" hangingPunct="1">
              <a:lnSpc>
                <a:spcPct val="13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Source Sans Pro Light"/>
                <a:ea typeface="+mn-ea"/>
                <a:cs typeface="Source Sans Pro Light"/>
              </a:rPr>
              <a:t>3.   Meat of the presentation</a:t>
            </a:r>
          </a:p>
          <a:p>
            <a:pPr marL="0" marR="0" lvl="0" indent="0" algn="l" defTabSz="457200" rtl="0" eaLnBrk="1" fontAlgn="auto" latinLnBrk="0" hangingPunct="1">
              <a:lnSpc>
                <a:spcPct val="13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Source Sans Pro Light"/>
                <a:ea typeface="+mn-ea"/>
                <a:cs typeface="Source Sans Pro Light"/>
              </a:rPr>
              <a:t>4.   Black Sabbath track</a:t>
            </a:r>
          </a:p>
          <a:p>
            <a:pPr marL="0" marR="0" lvl="0" indent="0" algn="l" defTabSz="457200" rtl="0" eaLnBrk="1" fontAlgn="auto" latinLnBrk="0" hangingPunct="1">
              <a:lnSpc>
                <a:spcPct val="13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Source Sans Pro Light"/>
                <a:ea typeface="+mn-ea"/>
                <a:cs typeface="Source Sans Pro Light"/>
              </a:rPr>
              <a:t>5.   Something cool</a:t>
            </a:r>
          </a:p>
        </p:txBody>
      </p:sp>
      <p:sp>
        <p:nvSpPr>
          <p:cNvPr id="8" name="TextBox 7"/>
          <p:cNvSpPr txBox="1"/>
          <p:nvPr/>
        </p:nvSpPr>
        <p:spPr>
          <a:xfrm>
            <a:off x="324562" y="6603992"/>
            <a:ext cx="4864706" cy="230832"/>
          </a:xfrm>
          <a:prstGeom prst="rect">
            <a:avLst/>
          </a:prstGeom>
          <a:noFill/>
        </p:spPr>
        <p:txBody>
          <a:bodyPr wrap="square" rtlCol="0">
            <a:spAutoFit/>
          </a:bodyPr>
          <a:lstStyle/>
          <a:p>
            <a:r>
              <a:rPr lang="en-US" sz="900" dirty="0">
                <a:solidFill>
                  <a:srgbClr val="FFFFFF"/>
                </a:solidFill>
                <a:latin typeface="Verdana"/>
                <a:cs typeface="Verdana"/>
              </a:rPr>
              <a:t>©2013 Skyhook Wireless Inc.</a:t>
            </a:r>
          </a:p>
        </p:txBody>
      </p:sp>
      <p:grpSp>
        <p:nvGrpSpPr>
          <p:cNvPr id="9" name="Group 8"/>
          <p:cNvGrpSpPr/>
          <p:nvPr/>
        </p:nvGrpSpPr>
        <p:grpSpPr>
          <a:xfrm rot="16200000">
            <a:off x="4502079" y="2222868"/>
            <a:ext cx="145142" cy="9149290"/>
            <a:chOff x="4856713" y="316444"/>
            <a:chExt cx="1472249" cy="7253076"/>
          </a:xfrm>
        </p:grpSpPr>
        <p:sp>
          <p:nvSpPr>
            <p:cNvPr id="10" name="Rectangle 9"/>
            <p:cNvSpPr/>
            <p:nvPr/>
          </p:nvSpPr>
          <p:spPr>
            <a:xfrm>
              <a:off x="4858508" y="5893765"/>
              <a:ext cx="1470438" cy="1675755"/>
            </a:xfrm>
            <a:prstGeom prst="rect">
              <a:avLst/>
            </a:prstGeom>
            <a:solidFill>
              <a:srgbClr val="00418C"/>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1" name="Rectangle 10"/>
            <p:cNvSpPr/>
            <p:nvPr/>
          </p:nvSpPr>
          <p:spPr>
            <a:xfrm>
              <a:off x="4856713" y="326033"/>
              <a:ext cx="1472242" cy="4197048"/>
            </a:xfrm>
            <a:prstGeom prst="rect">
              <a:avLst/>
            </a:prstGeom>
            <a:solidFill>
              <a:srgbClr val="FFFFFF"/>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2" name="Rectangle 11"/>
            <p:cNvSpPr/>
            <p:nvPr/>
          </p:nvSpPr>
          <p:spPr>
            <a:xfrm>
              <a:off x="4856715" y="316444"/>
              <a:ext cx="1472241" cy="4113777"/>
            </a:xfrm>
            <a:prstGeom prst="rect">
              <a:avLst/>
            </a:prstGeom>
            <a:solidFill>
              <a:schemeClr val="accent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solidFill>
                  <a:srgbClr val="00A1E1"/>
                </a:solidFill>
              </a:endParaRPr>
            </a:p>
          </p:txBody>
        </p:sp>
        <p:sp>
          <p:nvSpPr>
            <p:cNvPr id="13" name="Rectangle 12"/>
            <p:cNvSpPr/>
            <p:nvPr/>
          </p:nvSpPr>
          <p:spPr>
            <a:xfrm>
              <a:off x="4856714" y="4430221"/>
              <a:ext cx="1472241" cy="497301"/>
            </a:xfrm>
            <a:prstGeom prst="rect">
              <a:avLst/>
            </a:prstGeom>
            <a:solidFill>
              <a:schemeClr val="accent3"/>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solidFill>
                  <a:schemeClr val="accent3"/>
                </a:solidFill>
              </a:endParaRPr>
            </a:p>
          </p:txBody>
        </p:sp>
        <p:sp>
          <p:nvSpPr>
            <p:cNvPr id="14" name="Rectangle 13"/>
            <p:cNvSpPr/>
            <p:nvPr/>
          </p:nvSpPr>
          <p:spPr>
            <a:xfrm>
              <a:off x="4856713" y="4915427"/>
              <a:ext cx="1472244" cy="147311"/>
            </a:xfrm>
            <a:prstGeom prst="rect">
              <a:avLst/>
            </a:prstGeom>
            <a:solidFill>
              <a:schemeClr val="accent6"/>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solidFill>
                  <a:schemeClr val="accent3"/>
                </a:solidFill>
              </a:endParaRPr>
            </a:p>
          </p:txBody>
        </p:sp>
        <p:sp>
          <p:nvSpPr>
            <p:cNvPr id="15" name="Rectangle 14"/>
            <p:cNvSpPr/>
            <p:nvPr/>
          </p:nvSpPr>
          <p:spPr>
            <a:xfrm>
              <a:off x="4856718" y="5031080"/>
              <a:ext cx="1472244" cy="862684"/>
            </a:xfrm>
            <a:prstGeom prst="rect">
              <a:avLst/>
            </a:prstGeom>
            <a:solidFill>
              <a:schemeClr val="accent4"/>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nvGrpSpPr>
          <p:cNvPr id="16" name="Group 15"/>
          <p:cNvGrpSpPr/>
          <p:nvPr/>
        </p:nvGrpSpPr>
        <p:grpSpPr>
          <a:xfrm>
            <a:off x="102821" y="6436314"/>
            <a:ext cx="8928625" cy="288628"/>
            <a:chOff x="102821" y="6436314"/>
            <a:chExt cx="8928625" cy="288628"/>
          </a:xfrm>
        </p:grpSpPr>
        <p:pic>
          <p:nvPicPr>
            <p:cNvPr id="17" name="Picture 16" descr="logo-2.png"/>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7088346" y="6460338"/>
              <a:ext cx="1943100" cy="264604"/>
            </a:xfrm>
            <a:prstGeom prst="rect">
              <a:avLst/>
            </a:prstGeom>
          </p:spPr>
        </p:pic>
        <p:sp>
          <p:nvSpPr>
            <p:cNvPr id="18" name="TextBox 17"/>
            <p:cNvSpPr txBox="1"/>
            <p:nvPr/>
          </p:nvSpPr>
          <p:spPr>
            <a:xfrm>
              <a:off x="102821" y="6436314"/>
              <a:ext cx="5856105" cy="251287"/>
            </a:xfrm>
            <a:prstGeom prst="rect">
              <a:avLst/>
            </a:prstGeom>
            <a:noFill/>
          </p:spPr>
          <p:txBody>
            <a:bodyPr wrap="square" rtlCol="0">
              <a:spAutoFit/>
            </a:bodyPr>
            <a:lstStyle/>
            <a:p>
              <a:pPr marL="0" marR="0" indent="0" algn="l" defTabSz="457200" rtl="0" eaLnBrk="1" fontAlgn="auto" latinLnBrk="0" hangingPunct="1">
                <a:lnSpc>
                  <a:spcPct val="130000"/>
                </a:lnSpc>
                <a:spcBef>
                  <a:spcPts val="0"/>
                </a:spcBef>
                <a:spcAft>
                  <a:spcPts val="0"/>
                </a:spcAft>
                <a:buClrTx/>
                <a:buSzTx/>
                <a:buFontTx/>
                <a:buNone/>
                <a:tabLst/>
                <a:defRPr/>
              </a:pPr>
              <a:r>
                <a:rPr lang="en-US" sz="900" dirty="0">
                  <a:solidFill>
                    <a:schemeClr val="accent1">
                      <a:lumMod val="25000"/>
                    </a:schemeClr>
                  </a:solidFill>
                  <a:latin typeface="Verdana"/>
                  <a:cs typeface="Verdana"/>
                </a:rPr>
                <a:t>Boston</a:t>
              </a:r>
              <a:r>
                <a:rPr lang="en-US" sz="900" baseline="0" dirty="0">
                  <a:solidFill>
                    <a:schemeClr val="accent1">
                      <a:lumMod val="25000"/>
                    </a:schemeClr>
                  </a:solidFill>
                  <a:latin typeface="Verdana"/>
                  <a:cs typeface="Verdana"/>
                </a:rPr>
                <a:t> University </a:t>
              </a:r>
              <a:r>
                <a:rPr lang="mr-IN" sz="900" baseline="0" dirty="0">
                  <a:solidFill>
                    <a:schemeClr val="accent1">
                      <a:lumMod val="25000"/>
                    </a:schemeClr>
                  </a:solidFill>
                  <a:latin typeface="Verdana"/>
                  <a:cs typeface="Verdana"/>
                </a:rPr>
                <a:t>–</a:t>
              </a:r>
              <a:r>
                <a:rPr lang="en-US" sz="900" baseline="0" dirty="0">
                  <a:solidFill>
                    <a:schemeClr val="accent1">
                      <a:lumMod val="25000"/>
                    </a:schemeClr>
                  </a:solidFill>
                  <a:latin typeface="Verdana"/>
                  <a:cs typeface="Verdana"/>
                </a:rPr>
                <a:t> CS555, Data Analysis, F. Alizadeh-</a:t>
              </a:r>
              <a:r>
                <a:rPr lang="en-US" sz="900" baseline="0" dirty="0" err="1">
                  <a:solidFill>
                    <a:schemeClr val="accent1">
                      <a:lumMod val="25000"/>
                    </a:schemeClr>
                  </a:solidFill>
                  <a:latin typeface="Verdana"/>
                  <a:cs typeface="Verdana"/>
                </a:rPr>
                <a:t>Shabdiz</a:t>
              </a:r>
              <a:endParaRPr lang="en-US" sz="900" dirty="0">
                <a:solidFill>
                  <a:schemeClr val="accent1">
                    <a:lumMod val="25000"/>
                  </a:schemeClr>
                </a:solidFill>
                <a:latin typeface="Verdana"/>
                <a:cs typeface="Verdana"/>
              </a:endParaRPr>
            </a:p>
          </p:txBody>
        </p:sp>
      </p:grpSp>
    </p:spTree>
    <p:extLst>
      <p:ext uri="{BB962C8B-B14F-4D97-AF65-F5344CB8AC3E}">
        <p14:creationId xmlns:p14="http://schemas.microsoft.com/office/powerpoint/2010/main" val="2216927295"/>
      </p:ext>
    </p:extLst>
  </p:cSld>
  <p:clrMap bg1="lt1" tx1="dk1" bg2="lt2" tx2="dk2" accent1="accent1" accent2="accent2" accent3="accent3" accent4="accent4" accent5="accent5" accent6="accent6" hlink="hlink" folHlink="folHlink"/>
  <p:sldLayoutIdLst>
    <p:sldLayoutId id="2147483683" r:id="rId1"/>
  </p:sldLayoutIdLst>
  <p:hf hdr="0" ftr="0" dt="0"/>
  <p:txStyles>
    <p:titleStyle>
      <a:lvl1pPr algn="ctr" defTabSz="457200" rtl="0" eaLnBrk="1" latinLnBrk="0" hangingPunct="1">
        <a:spcBef>
          <a:spcPct val="0"/>
        </a:spcBef>
        <a:buNone/>
        <a:defRPr sz="4400" kern="1200">
          <a:solidFill>
            <a:schemeClr val="accent6"/>
          </a:solidFill>
          <a:latin typeface="+mj-lt"/>
          <a:ea typeface="+mj-ea"/>
          <a:cs typeface="+mj-cs"/>
        </a:defRPr>
      </a:lvl1pPr>
    </p:titleStyle>
    <p:bodyStyle>
      <a:lvl1pPr marL="0" marR="0" indent="0" algn="l" defTabSz="457200" rtl="0" eaLnBrk="1" fontAlgn="auto" latinLnBrk="0" hangingPunct="1">
        <a:lnSpc>
          <a:spcPct val="130000"/>
        </a:lnSpc>
        <a:spcBef>
          <a:spcPts val="0"/>
        </a:spcBef>
        <a:spcAft>
          <a:spcPts val="0"/>
        </a:spcAft>
        <a:buClrTx/>
        <a:buSzTx/>
        <a:buFontTx/>
        <a:buNone/>
        <a:tabLst/>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74506684"/>
      </p:ext>
    </p:extLst>
  </p:cSld>
  <p:clrMap bg1="lt1" tx1="dk1" bg2="lt2" tx2="dk2" accent1="accent1" accent2="accent2" accent3="accent3" accent4="accent4" accent5="accent5" accent6="accent6" hlink="hlink" folHlink="folHlink"/>
  <p:sldLayoutIdLst>
    <p:sldLayoutId id="2147483720" r:id="rId1"/>
    <p:sldLayoutId id="2147483719" r:id="rId2"/>
    <p:sldLayoutId id="2147483722" r:id="rId3"/>
    <p:sldLayoutId id="2147483721" r:id="rId4"/>
    <p:sldLayoutId id="2147483724" r:id="rId5"/>
  </p:sldLayoutIdLst>
  <p:hf hdr="0" ftr="0" dt="0"/>
  <p:txStyles>
    <p:titleStyle>
      <a:lvl1pPr algn="ctr" defTabSz="457200" rtl="0" eaLnBrk="1" latinLnBrk="0" hangingPunct="1">
        <a:spcBef>
          <a:spcPct val="0"/>
        </a:spcBef>
        <a:buNone/>
        <a:defRPr sz="4400" kern="1200">
          <a:solidFill>
            <a:schemeClr val="accent6"/>
          </a:solidFill>
          <a:latin typeface="+mj-lt"/>
          <a:ea typeface="+mj-ea"/>
          <a:cs typeface="+mj-cs"/>
        </a:defRPr>
      </a:lvl1pPr>
    </p:titleStyle>
    <p:bodyStyle>
      <a:lvl1pPr marL="0" marR="0" indent="0" algn="l" defTabSz="457200" rtl="0" eaLnBrk="1" fontAlgn="auto" latinLnBrk="0" hangingPunct="1">
        <a:lnSpc>
          <a:spcPct val="130000"/>
        </a:lnSpc>
        <a:spcBef>
          <a:spcPts val="0"/>
        </a:spcBef>
        <a:spcAft>
          <a:spcPts val="0"/>
        </a:spcAft>
        <a:buClrTx/>
        <a:buSzTx/>
        <a:buFontTx/>
        <a:buNone/>
        <a:tabLst/>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oleObject" Target="../embeddings/oleObject1.bin"/><Relationship Id="rId1" Type="http://schemas.openxmlformats.org/officeDocument/2006/relationships/slideLayout" Target="../slideLayouts/slideLayout4.xml"/><Relationship Id="rId5" Type="http://schemas.openxmlformats.org/officeDocument/2006/relationships/image" Target="../media/image5.emf"/><Relationship Id="rId4" Type="http://schemas.openxmlformats.org/officeDocument/2006/relationships/oleObject" Target="../embeddings/oleObject2.bin"/></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emf"/><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1.png"/><Relationship Id="rId1" Type="http://schemas.openxmlformats.org/officeDocument/2006/relationships/slideLayout" Target="../slideLayouts/slideLayout8.xml"/><Relationship Id="rId4" Type="http://schemas.openxmlformats.org/officeDocument/2006/relationships/image" Target="NUL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2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32.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9.xml"/></Relationships>
</file>

<file path=ppt/slides/_rels/slide3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3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9.xml"/></Relationships>
</file>

<file path=ppt/slides/_rels/slide3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9.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image" Target="../media/image170.png"/><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2" Type="http://schemas.openxmlformats.org/officeDocument/2006/relationships/image" Target="../media/image181.png"/><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image" Target="../media/image180.png"/><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4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9.xml"/></Relationships>
</file>

<file path=ppt/slides/_rels/slide4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5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5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9.xml"/></Relationships>
</file>

<file path=ppt/slides/_rels/slide52.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9.xml"/></Relationships>
</file>

<file path=ppt/slides/_rels/slide53.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9.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2" Type="http://schemas.openxmlformats.org/officeDocument/2006/relationships/image" Target="../media/image261.png"/><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2" Type="http://schemas.openxmlformats.org/officeDocument/2006/relationships/image" Target="../media/image260.png"/><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2" Type="http://schemas.openxmlformats.org/officeDocument/2006/relationships/image" Target="../media/image270.png"/><Relationship Id="rId1" Type="http://schemas.openxmlformats.org/officeDocument/2006/relationships/slideLayout" Target="../slideLayouts/slideLayout4.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2" Type="http://schemas.openxmlformats.org/officeDocument/2006/relationships/image" Target="../media/image280.png"/><Relationship Id="rId1" Type="http://schemas.openxmlformats.org/officeDocument/2006/relationships/slideLayout" Target="../slideLayouts/slideLayout4.xml"/></Relationships>
</file>

<file path=ppt/slides/_rels/slide64.xml.rels><?xml version="1.0" encoding="UTF-8" standalone="yes"?>
<Relationships xmlns="http://schemas.openxmlformats.org/package/2006/relationships"><Relationship Id="rId2" Type="http://schemas.openxmlformats.org/officeDocument/2006/relationships/image" Target="../media/image290.png"/><Relationship Id="rId1" Type="http://schemas.openxmlformats.org/officeDocument/2006/relationships/slideLayout" Target="../slideLayouts/slideLayout4.xml"/></Relationships>
</file>

<file path=ppt/slides/_rels/slide65.xml.rels><?xml version="1.0" encoding="UTF-8" standalone="yes"?>
<Relationships xmlns="http://schemas.openxmlformats.org/package/2006/relationships"><Relationship Id="rId2" Type="http://schemas.openxmlformats.org/officeDocument/2006/relationships/image" Target="../media/image300.png"/><Relationship Id="rId1" Type="http://schemas.openxmlformats.org/officeDocument/2006/relationships/slideLayout" Target="../slideLayouts/slideLayout4.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7.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13.xml"/><Relationship Id="rId1" Type="http://schemas.openxmlformats.org/officeDocument/2006/relationships/slideLayout" Target="../slideLayouts/slideLayout4.xml"/><Relationship Id="rId5" Type="http://schemas.openxmlformats.org/officeDocument/2006/relationships/image" Target="../media/image39.png"/><Relationship Id="rId4" Type="http://schemas.openxmlformats.org/officeDocument/2006/relationships/image" Target="../media/image38.png"/></Relationships>
</file>

<file path=ppt/slides/_rels/slide6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9.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NULL"/><Relationship Id="rId1" Type="http://schemas.openxmlformats.org/officeDocument/2006/relationships/slideLayout" Target="../slideLayouts/slideLayout4.xml"/></Relationships>
</file>

<file path=ppt/slides/_rels/slide71.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4.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3.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9.xml"/></Relationships>
</file>

<file path=ppt/slides/_rels/slide74.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4.xml"/></Relationships>
</file>

<file path=ppt/slides/_rels/slide75.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4.xml"/></Relationships>
</file>

<file path=ppt/slides/_rels/slide76.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4.xml"/></Relationships>
</file>

<file path=ppt/slides/_rels/slide77.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4.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9.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4.xml"/></Relationships>
</file>

<file path=ppt/slides/_rels/slide80.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4.xml"/></Relationships>
</file>

<file path=ppt/slides/_rels/slide81.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image" Target="../media/image48.png"/><Relationship Id="rId1" Type="http://schemas.openxmlformats.org/officeDocument/2006/relationships/slideLayout" Target="../slideLayouts/slideLayout4.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3.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9.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5.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9.xml"/></Relationships>
</file>

<file path=ppt/slides/_rels/slide86.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9.xml"/></Relationships>
</file>

<file path=ppt/slides/_rels/slide87.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9.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9.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9.xml"/></Relationships>
</file>

<file path=ppt/slides/_rels/slide90.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9.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2.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14.xml"/><Relationship Id="rId1" Type="http://schemas.openxmlformats.org/officeDocument/2006/relationships/slideLayout" Target="../slideLayouts/slideLayout4.xml"/><Relationship Id="rId4" Type="http://schemas.openxmlformats.org/officeDocument/2006/relationships/image" Target="../media/image56.png"/></Relationships>
</file>

<file path=ppt/slides/_rels/slide93.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94.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4.xml"/></Relationships>
</file>

<file path=ppt/slides/_rels/slide95.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4.xml"/></Relationships>
</file>

<file path=ppt/slides/_rels/slide96.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4.xml"/></Relationships>
</file>

<file path=ppt/slides/_rels/slide97.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0.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4.xml"/></Relationships>
</file>

<file path=ppt/slides/_rels/slide101.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4.xml"/></Relationships>
</file>

<file path=ppt/slides/_rels/slide102.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4.xml"/></Relationships>
</file>

<file path=ppt/slides/_rels/slide103.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4.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6.xml.rels><?xml version="1.0" encoding="UTF-8" standalone="yes"?>
<Relationships xmlns="http://schemas.openxmlformats.org/package/2006/relationships"><Relationship Id="rId3" Type="http://schemas.openxmlformats.org/officeDocument/2006/relationships/image" Target="../media/image190.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54240" y="1880838"/>
            <a:ext cx="6740898" cy="1470394"/>
          </a:xfrm>
        </p:spPr>
        <p:txBody>
          <a:bodyPr>
            <a:normAutofit/>
          </a:bodyPr>
          <a:lstStyle/>
          <a:p>
            <a:r>
              <a:rPr lang="en-US" dirty="0"/>
              <a:t>Examples</a:t>
            </a:r>
            <a:br>
              <a:rPr lang="en-US" dirty="0"/>
            </a:br>
            <a:r>
              <a:rPr lang="en-US" dirty="0"/>
              <a:t>Data Analysis and Visualization</a:t>
            </a:r>
          </a:p>
        </p:txBody>
      </p:sp>
      <p:sp>
        <p:nvSpPr>
          <p:cNvPr id="3" name="Subtitle 2"/>
          <p:cNvSpPr>
            <a:spLocks noGrp="1"/>
          </p:cNvSpPr>
          <p:nvPr>
            <p:ph type="subTitle" idx="1"/>
          </p:nvPr>
        </p:nvSpPr>
        <p:spPr/>
        <p:txBody>
          <a:bodyPr/>
          <a:lstStyle/>
          <a:p>
            <a:endParaRPr lang="en-US" dirty="0"/>
          </a:p>
          <a:p>
            <a:endParaRPr lang="en-US" dirty="0"/>
          </a:p>
          <a:p>
            <a:r>
              <a:rPr lang="en-US" dirty="0"/>
              <a:t>Dr. Farshid Alizadeh-</a:t>
            </a:r>
            <a:r>
              <a:rPr lang="en-US" dirty="0" err="1"/>
              <a:t>Shabdiz</a:t>
            </a:r>
            <a:endParaRPr lang="en-US" dirty="0"/>
          </a:p>
          <a:p>
            <a:r>
              <a:rPr lang="en-US" dirty="0"/>
              <a:t>Spring 2021</a:t>
            </a:r>
          </a:p>
        </p:txBody>
      </p:sp>
      <p:sp>
        <p:nvSpPr>
          <p:cNvPr id="4" name="Slide Number Placeholder 3"/>
          <p:cNvSpPr>
            <a:spLocks noGrp="1"/>
          </p:cNvSpPr>
          <p:nvPr>
            <p:ph type="sldNum" sz="quarter" idx="11"/>
          </p:nvPr>
        </p:nvSpPr>
        <p:spPr/>
        <p:txBody>
          <a:bodyPr/>
          <a:lstStyle/>
          <a:p>
            <a:fld id="{F41CB934-E044-4302-ADC1-76B15BC79772}" type="slidenum">
              <a:rPr lang="en-US" smtClean="0"/>
              <a:pPr/>
              <a:t>1</a:t>
            </a:fld>
            <a:endParaRPr lang="en-US"/>
          </a:p>
        </p:txBody>
      </p:sp>
      <p:sp>
        <p:nvSpPr>
          <p:cNvPr id="5" name="TextBox 4">
            <a:extLst>
              <a:ext uri="{FF2B5EF4-FFF2-40B4-BE49-F238E27FC236}">
                <a16:creationId xmlns:a16="http://schemas.microsoft.com/office/drawing/2014/main" id="{F4D5D72C-45F9-FB4B-9F32-769A6721A690}"/>
              </a:ext>
            </a:extLst>
          </p:cNvPr>
          <p:cNvSpPr txBox="1"/>
          <p:nvPr/>
        </p:nvSpPr>
        <p:spPr>
          <a:xfrm>
            <a:off x="2379785" y="6670431"/>
            <a:ext cx="0" cy="0"/>
          </a:xfrm>
          <a:prstGeom prst="rect">
            <a:avLst/>
          </a:prstGeom>
        </p:spPr>
        <p:txBody>
          <a:bodyPr vert="horz" wrap="none" lIns="91440" tIns="45720" rIns="91440" bIns="45720" rtlCol="0">
            <a:normAutofit fontScale="25000" lnSpcReduction="20000"/>
          </a:bodyPr>
          <a:lstStyle/>
          <a:p>
            <a:endParaRPr lang="en-US" sz="2000" dirty="0">
              <a:solidFill>
                <a:prstClr val="black"/>
              </a:solidFill>
              <a:latin typeface="Source Sans Pro Light"/>
              <a:cs typeface="Source Sans Pro Light"/>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A38E4ED-420B-3247-AD82-404C58D3FA9E}"/>
              </a:ext>
            </a:extLst>
          </p:cNvPr>
          <p:cNvSpPr>
            <a:spLocks noGrp="1"/>
          </p:cNvSpPr>
          <p:nvPr>
            <p:ph type="title"/>
          </p:nvPr>
        </p:nvSpPr>
        <p:spPr>
          <a:xfrm>
            <a:off x="457200" y="274638"/>
            <a:ext cx="8229600" cy="1143000"/>
          </a:xfrm>
        </p:spPr>
        <p:txBody>
          <a:bodyPr anchor="ctr">
            <a:normAutofit/>
          </a:bodyPr>
          <a:lstStyle/>
          <a:p>
            <a:r>
              <a:rPr lang="en-US" dirty="0"/>
              <a:t>Text Book</a:t>
            </a:r>
          </a:p>
        </p:txBody>
      </p:sp>
      <p:sp>
        <p:nvSpPr>
          <p:cNvPr id="2" name="Content Placeholder 1">
            <a:extLst>
              <a:ext uri="{FF2B5EF4-FFF2-40B4-BE49-F238E27FC236}">
                <a16:creationId xmlns:a16="http://schemas.microsoft.com/office/drawing/2014/main" id="{10B9648C-34AE-744B-9064-E6004B98EA75}"/>
              </a:ext>
            </a:extLst>
          </p:cNvPr>
          <p:cNvSpPr>
            <a:spLocks noGrp="1"/>
          </p:cNvSpPr>
          <p:nvPr>
            <p:ph sz="half" idx="1"/>
          </p:nvPr>
        </p:nvSpPr>
        <p:spPr>
          <a:xfrm>
            <a:off x="457199" y="1600200"/>
            <a:ext cx="4691575" cy="4525963"/>
          </a:xfrm>
        </p:spPr>
        <p:txBody>
          <a:bodyPr>
            <a:normAutofit lnSpcReduction="10000"/>
          </a:bodyPr>
          <a:lstStyle/>
          <a:p>
            <a:pPr marL="0" lvl="0" indent="0">
              <a:lnSpc>
                <a:spcPct val="90000"/>
              </a:lnSpc>
              <a:buNone/>
            </a:pPr>
            <a:r>
              <a:rPr lang="en-US" b="1" dirty="0"/>
              <a:t>An Introduction to Statistical Learning with Applications in R.</a:t>
            </a:r>
          </a:p>
          <a:p>
            <a:pPr lvl="0">
              <a:lnSpc>
                <a:spcPct val="90000"/>
              </a:lnSpc>
            </a:pPr>
            <a:endParaRPr lang="en-US" sz="2600" dirty="0"/>
          </a:p>
          <a:p>
            <a:pPr lvl="0">
              <a:lnSpc>
                <a:spcPct val="90000"/>
              </a:lnSpc>
            </a:pPr>
            <a:r>
              <a:rPr lang="en-US" sz="2600" dirty="0"/>
              <a:t>By: Gareth James, Daniela Witten, Trevor Hastie and Robert </a:t>
            </a:r>
            <a:r>
              <a:rPr lang="en-US" sz="2600" dirty="0" err="1"/>
              <a:t>Tibshirani</a:t>
            </a:r>
            <a:r>
              <a:rPr lang="en-US" sz="2600" dirty="0"/>
              <a:t>. (2013) Springer. </a:t>
            </a:r>
          </a:p>
          <a:p>
            <a:pPr marL="0" lvl="0" indent="0">
              <a:lnSpc>
                <a:spcPct val="90000"/>
              </a:lnSpc>
              <a:buNone/>
            </a:pPr>
            <a:endParaRPr lang="en-US" sz="2600" dirty="0"/>
          </a:p>
          <a:p>
            <a:pPr marL="0" lvl="0" indent="0">
              <a:lnSpc>
                <a:spcPct val="90000"/>
              </a:lnSpc>
              <a:buNone/>
            </a:pPr>
            <a:r>
              <a:rPr lang="en-US" sz="2600" dirty="0"/>
              <a:t>The book has been made available online at 	</a:t>
            </a:r>
            <a:r>
              <a:rPr lang="en-US" sz="2600" u="sng" dirty="0"/>
              <a:t>https://</a:t>
            </a:r>
            <a:r>
              <a:rPr lang="en-US" sz="2600" u="sng" dirty="0" err="1"/>
              <a:t>statlearning.com</a:t>
            </a:r>
            <a:endParaRPr lang="en-US" sz="2600" u="sng" dirty="0"/>
          </a:p>
          <a:p>
            <a:pPr marL="0" indent="0">
              <a:lnSpc>
                <a:spcPct val="90000"/>
              </a:lnSpc>
              <a:buNone/>
            </a:pPr>
            <a:r>
              <a:rPr lang="en-US" sz="2600" dirty="0"/>
              <a:t> </a:t>
            </a:r>
          </a:p>
        </p:txBody>
      </p:sp>
      <p:pic>
        <p:nvPicPr>
          <p:cNvPr id="5" name="Picture 4" descr="Text&#10;&#10;Description automatically generated">
            <a:extLst>
              <a:ext uri="{FF2B5EF4-FFF2-40B4-BE49-F238E27FC236}">
                <a16:creationId xmlns:a16="http://schemas.microsoft.com/office/drawing/2014/main" id="{6C0DB72D-9C1F-D247-8364-2DB86E554D5A}"/>
              </a:ext>
            </a:extLst>
          </p:cNvPr>
          <p:cNvPicPr>
            <a:picLocks noChangeAspect="1"/>
          </p:cNvPicPr>
          <p:nvPr/>
        </p:nvPicPr>
        <p:blipFill>
          <a:blip r:embed="rId2"/>
          <a:stretch>
            <a:fillRect/>
          </a:stretch>
        </p:blipFill>
        <p:spPr>
          <a:xfrm>
            <a:off x="5309712" y="1600200"/>
            <a:ext cx="2715576" cy="4525963"/>
          </a:xfrm>
          <a:prstGeom prst="rect">
            <a:avLst/>
          </a:prstGeom>
          <a:noFill/>
        </p:spPr>
      </p:pic>
    </p:spTree>
    <p:extLst>
      <p:ext uri="{BB962C8B-B14F-4D97-AF65-F5344CB8AC3E}">
        <p14:creationId xmlns:p14="http://schemas.microsoft.com/office/powerpoint/2010/main" val="7803518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6533" y="159488"/>
            <a:ext cx="7873999" cy="1244009"/>
          </a:xfrm>
        </p:spPr>
        <p:txBody>
          <a:bodyPr>
            <a:normAutofit fontScale="90000"/>
          </a:bodyPr>
          <a:lstStyle/>
          <a:p>
            <a:r>
              <a:rPr lang="en-US" dirty="0"/>
              <a:t>Important RV </a:t>
            </a:r>
            <a:r>
              <a:rPr lang="mr-IN" dirty="0"/>
              <a:t>–</a:t>
            </a:r>
            <a:r>
              <a:rPr lang="en-US" dirty="0"/>
              <a:t> Standardization of Normal Distribution</a:t>
            </a:r>
          </a:p>
        </p:txBody>
      </p:sp>
      <p:sp>
        <p:nvSpPr>
          <p:cNvPr id="3" name="Content Placeholder 2"/>
          <p:cNvSpPr>
            <a:spLocks noGrp="1"/>
          </p:cNvSpPr>
          <p:nvPr>
            <p:ph idx="1"/>
          </p:nvPr>
        </p:nvSpPr>
        <p:spPr>
          <a:xfrm>
            <a:off x="457199" y="1600199"/>
            <a:ext cx="8398933" cy="4706815"/>
          </a:xfrm>
        </p:spPr>
        <p:txBody>
          <a:bodyPr>
            <a:normAutofit/>
          </a:bodyPr>
          <a:lstStyle/>
          <a:p>
            <a:pPr lvl="1"/>
            <a:r>
              <a:rPr lang="en-US" dirty="0"/>
              <a:t>If </a:t>
            </a:r>
            <a:r>
              <a:rPr lang="en-US" i="1" dirty="0"/>
              <a:t>N(</a:t>
            </a:r>
            <a:r>
              <a:rPr lang="en-US" i="1" dirty="0" err="1"/>
              <a:t>μ,σ</a:t>
            </a:r>
            <a:r>
              <a:rPr lang="en-US" i="1" dirty="0"/>
              <a:t>)</a:t>
            </a:r>
            <a:r>
              <a:rPr lang="en-US" dirty="0"/>
              <a:t> – z-score is calculated as follows</a:t>
            </a:r>
          </a:p>
          <a:p>
            <a:pPr marL="457200" lvl="1" indent="0">
              <a:buNone/>
            </a:pPr>
            <a:endParaRPr lang="en-US" dirty="0"/>
          </a:p>
          <a:p>
            <a:pPr lvl="1"/>
            <a:endParaRPr lang="en-US" dirty="0"/>
          </a:p>
          <a:p>
            <a:pPr lvl="1"/>
            <a:endParaRPr lang="en-US" dirty="0"/>
          </a:p>
          <a:p>
            <a:pPr lvl="1"/>
            <a:r>
              <a:rPr lang="en-US" dirty="0"/>
              <a:t>Pdf of normal distribution will become: </a:t>
            </a:r>
          </a:p>
          <a:p>
            <a:pPr lvl="1"/>
            <a:endParaRPr lang="en-US" dirty="0"/>
          </a:p>
          <a:p>
            <a:pPr lvl="1"/>
            <a:endParaRPr lang="en-US" dirty="0"/>
          </a:p>
          <a:p>
            <a:pPr lvl="1"/>
            <a:endParaRPr lang="en-US" dirty="0"/>
          </a:p>
          <a:p>
            <a:pPr lvl="1"/>
            <a:endParaRPr lang="en-US" dirty="0"/>
          </a:p>
        </p:txBody>
      </p:sp>
      <p:graphicFrame>
        <p:nvGraphicFramePr>
          <p:cNvPr id="6" name="Object 5"/>
          <p:cNvGraphicFramePr>
            <a:graphicFrameLocks noChangeAspect="1"/>
          </p:cNvGraphicFramePr>
          <p:nvPr/>
        </p:nvGraphicFramePr>
        <p:xfrm>
          <a:off x="2648477" y="4278435"/>
          <a:ext cx="4016375" cy="1293813"/>
        </p:xfrm>
        <a:graphic>
          <a:graphicData uri="http://schemas.openxmlformats.org/presentationml/2006/ole">
            <mc:AlternateContent xmlns:mc="http://schemas.openxmlformats.org/markup-compatibility/2006">
              <mc:Choice xmlns:v="urn:schemas-microsoft-com:vml" Requires="v">
                <p:oleObj name="Equation" r:id="rId2" imgW="1422400" imgH="457200" progId="Equation.3">
                  <p:embed/>
                </p:oleObj>
              </mc:Choice>
              <mc:Fallback>
                <p:oleObj name="Equation" r:id="rId2" imgW="1422400" imgH="457200" progId="Equation.3">
                  <p:embed/>
                  <p:pic>
                    <p:nvPicPr>
                      <p:cNvPr id="6" name="Object 5"/>
                      <p:cNvPicPr/>
                      <p:nvPr/>
                    </p:nvPicPr>
                    <p:blipFill>
                      <a:blip r:embed="rId3"/>
                      <a:stretch>
                        <a:fillRect/>
                      </a:stretch>
                    </p:blipFill>
                    <p:spPr>
                      <a:xfrm>
                        <a:off x="2648477" y="4278435"/>
                        <a:ext cx="4016375" cy="1293813"/>
                      </a:xfrm>
                      <a:prstGeom prst="rect">
                        <a:avLst/>
                      </a:prstGeom>
                    </p:spPr>
                  </p:pic>
                </p:oleObj>
              </mc:Fallback>
            </mc:AlternateContent>
          </a:graphicData>
        </a:graphic>
      </p:graphicFrame>
      <p:graphicFrame>
        <p:nvGraphicFramePr>
          <p:cNvPr id="5" name="Object 4"/>
          <p:cNvGraphicFramePr>
            <a:graphicFrameLocks noChangeAspect="1"/>
          </p:cNvGraphicFramePr>
          <p:nvPr/>
        </p:nvGraphicFramePr>
        <p:xfrm>
          <a:off x="4208951" y="2012950"/>
          <a:ext cx="2009775" cy="1149350"/>
        </p:xfrm>
        <a:graphic>
          <a:graphicData uri="http://schemas.openxmlformats.org/presentationml/2006/ole">
            <mc:AlternateContent xmlns:mc="http://schemas.openxmlformats.org/markup-compatibility/2006">
              <mc:Choice xmlns:v="urn:schemas-microsoft-com:vml" Requires="v">
                <p:oleObj name="Equation" r:id="rId4" imgW="711200" imgH="406400" progId="Equation.3">
                  <p:embed/>
                </p:oleObj>
              </mc:Choice>
              <mc:Fallback>
                <p:oleObj name="Equation" r:id="rId4" imgW="711200" imgH="406400" progId="Equation.3">
                  <p:embed/>
                  <p:pic>
                    <p:nvPicPr>
                      <p:cNvPr id="5" name="Object 4"/>
                      <p:cNvPicPr/>
                      <p:nvPr/>
                    </p:nvPicPr>
                    <p:blipFill>
                      <a:blip r:embed="rId5"/>
                      <a:stretch>
                        <a:fillRect/>
                      </a:stretch>
                    </p:blipFill>
                    <p:spPr>
                      <a:xfrm>
                        <a:off x="4208951" y="2012950"/>
                        <a:ext cx="2009775" cy="1149350"/>
                      </a:xfrm>
                      <a:prstGeom prst="rect">
                        <a:avLst/>
                      </a:prstGeom>
                    </p:spPr>
                  </p:pic>
                </p:oleObj>
              </mc:Fallback>
            </mc:AlternateContent>
          </a:graphicData>
        </a:graphic>
      </p:graphicFrame>
    </p:spTree>
    <p:extLst>
      <p:ext uri="{BB962C8B-B14F-4D97-AF65-F5344CB8AC3E}">
        <p14:creationId xmlns:p14="http://schemas.microsoft.com/office/powerpoint/2010/main" val="9134986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31F7966-B56E-1543-A677-302F6B014C85}"/>
              </a:ext>
            </a:extLst>
          </p:cNvPr>
          <p:cNvSpPr>
            <a:spLocks noGrp="1"/>
          </p:cNvSpPr>
          <p:nvPr>
            <p:ph idx="1"/>
          </p:nvPr>
        </p:nvSpPr>
        <p:spPr/>
        <p:txBody>
          <a:bodyPr/>
          <a:lstStyle/>
          <a:p>
            <a:r>
              <a:rPr lang="en-US" dirty="0"/>
              <a:t>What point (z-score) corresponds to 85% of the area under the pdf of normal distribution?</a:t>
            </a:r>
          </a:p>
          <a:p>
            <a:r>
              <a:rPr lang="en-US" dirty="0"/>
              <a:t>What area under the pdf of normal distribution corresponds to z-score=2.0?</a:t>
            </a:r>
          </a:p>
          <a:p>
            <a:endParaRPr lang="en-US" dirty="0"/>
          </a:p>
        </p:txBody>
      </p:sp>
      <p:sp>
        <p:nvSpPr>
          <p:cNvPr id="3" name="Title 2">
            <a:extLst>
              <a:ext uri="{FF2B5EF4-FFF2-40B4-BE49-F238E27FC236}">
                <a16:creationId xmlns:a16="http://schemas.microsoft.com/office/drawing/2014/main" id="{726165A4-C981-7F41-9D94-5CAB8395809B}"/>
              </a:ext>
            </a:extLst>
          </p:cNvPr>
          <p:cNvSpPr>
            <a:spLocks noGrp="1"/>
          </p:cNvSpPr>
          <p:nvPr>
            <p:ph type="title"/>
          </p:nvPr>
        </p:nvSpPr>
        <p:spPr/>
        <p:txBody>
          <a:bodyPr/>
          <a:lstStyle/>
          <a:p>
            <a:r>
              <a:rPr lang="en-US" dirty="0"/>
              <a:t>Example 1 – Normal Distribution</a:t>
            </a:r>
          </a:p>
        </p:txBody>
      </p:sp>
    </p:spTree>
    <p:extLst>
      <p:ext uri="{BB962C8B-B14F-4D97-AF65-F5344CB8AC3E}">
        <p14:creationId xmlns:p14="http://schemas.microsoft.com/office/powerpoint/2010/main" val="7453456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31F7966-B56E-1543-A677-302F6B014C85}"/>
              </a:ext>
            </a:extLst>
          </p:cNvPr>
          <p:cNvSpPr>
            <a:spLocks noGrp="1"/>
          </p:cNvSpPr>
          <p:nvPr>
            <p:ph idx="1"/>
          </p:nvPr>
        </p:nvSpPr>
        <p:spPr/>
        <p:txBody>
          <a:bodyPr/>
          <a:lstStyle/>
          <a:p>
            <a:r>
              <a:rPr lang="en-US" dirty="0" err="1"/>
              <a:t>qnorm</a:t>
            </a:r>
            <a:r>
              <a:rPr lang="en-US" dirty="0"/>
              <a:t>(0.85 , mean=0, </a:t>
            </a:r>
            <a:r>
              <a:rPr lang="en-US" dirty="0" err="1"/>
              <a:t>sd</a:t>
            </a:r>
            <a:r>
              <a:rPr lang="en-US" dirty="0"/>
              <a:t>=1)</a:t>
            </a:r>
          </a:p>
          <a:p>
            <a:r>
              <a:rPr lang="en-US" dirty="0"/>
              <a:t> </a:t>
            </a:r>
            <a:r>
              <a:rPr lang="en-US" dirty="0" err="1"/>
              <a:t>pnorm</a:t>
            </a:r>
            <a:r>
              <a:rPr lang="en-US" dirty="0"/>
              <a:t>(2, mean=0, </a:t>
            </a:r>
            <a:r>
              <a:rPr lang="en-US" dirty="0" err="1"/>
              <a:t>sd</a:t>
            </a:r>
            <a:r>
              <a:rPr lang="en-US" dirty="0"/>
              <a:t>=1)</a:t>
            </a:r>
          </a:p>
          <a:p>
            <a:endParaRPr lang="en-US" dirty="0"/>
          </a:p>
          <a:p>
            <a:endParaRPr lang="en-US" dirty="0"/>
          </a:p>
        </p:txBody>
      </p:sp>
      <p:sp>
        <p:nvSpPr>
          <p:cNvPr id="3" name="Title 2">
            <a:extLst>
              <a:ext uri="{FF2B5EF4-FFF2-40B4-BE49-F238E27FC236}">
                <a16:creationId xmlns:a16="http://schemas.microsoft.com/office/drawing/2014/main" id="{726165A4-C981-7F41-9D94-5CAB8395809B}"/>
              </a:ext>
            </a:extLst>
          </p:cNvPr>
          <p:cNvSpPr>
            <a:spLocks noGrp="1"/>
          </p:cNvSpPr>
          <p:nvPr>
            <p:ph type="title"/>
          </p:nvPr>
        </p:nvSpPr>
        <p:spPr/>
        <p:txBody>
          <a:bodyPr/>
          <a:lstStyle/>
          <a:p>
            <a:r>
              <a:rPr lang="en-US" dirty="0"/>
              <a:t>Example 1 - answer</a:t>
            </a:r>
          </a:p>
        </p:txBody>
      </p:sp>
    </p:spTree>
    <p:extLst>
      <p:ext uri="{BB962C8B-B14F-4D97-AF65-F5344CB8AC3E}">
        <p14:creationId xmlns:p14="http://schemas.microsoft.com/office/powerpoint/2010/main" val="4145947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6533" y="252621"/>
            <a:ext cx="7873999" cy="1244009"/>
          </a:xfrm>
        </p:spPr>
        <p:txBody>
          <a:bodyPr>
            <a:normAutofit fontScale="90000"/>
          </a:bodyPr>
          <a:lstStyle/>
          <a:p>
            <a:r>
              <a:rPr lang="en-US" dirty="0"/>
              <a:t>Central Limit Theorem and Normal Distribution</a:t>
            </a:r>
          </a:p>
        </p:txBody>
      </p:sp>
      <p:sp>
        <p:nvSpPr>
          <p:cNvPr id="3" name="Content Placeholder 2"/>
          <p:cNvSpPr>
            <a:spLocks noGrp="1"/>
          </p:cNvSpPr>
          <p:nvPr>
            <p:ph idx="1"/>
          </p:nvPr>
        </p:nvSpPr>
        <p:spPr>
          <a:xfrm>
            <a:off x="457200" y="1449917"/>
            <a:ext cx="7840134" cy="2074333"/>
          </a:xfrm>
        </p:spPr>
        <p:txBody>
          <a:bodyPr>
            <a:normAutofit/>
          </a:bodyPr>
          <a:lstStyle/>
          <a:p>
            <a:pPr lvl="1"/>
            <a:r>
              <a:rPr lang="en-US" dirty="0"/>
              <a:t>Mean of arbitrary random variables with arbitrary distribution approaches normal distribution as the number of random variables goes to infinity</a:t>
            </a:r>
          </a:p>
          <a:p>
            <a:pPr lvl="1"/>
            <a:endParaRPr lang="en-US" dirty="0"/>
          </a:p>
          <a:p>
            <a:pPr lvl="1"/>
            <a:endParaRPr lang="en-US" dirty="0"/>
          </a:p>
          <a:p>
            <a:pPr lvl="1"/>
            <a:endParaRPr lang="en-US" dirty="0"/>
          </a:p>
          <a:p>
            <a:pPr lvl="1"/>
            <a:endParaRPr lang="en-US" dirty="0"/>
          </a:p>
          <a:p>
            <a:pPr lvl="1"/>
            <a:endParaRPr lang="en-US" dirty="0"/>
          </a:p>
        </p:txBody>
      </p:sp>
      <p:pic>
        <p:nvPicPr>
          <p:cNvPr id="7" name="Picture 2"/>
          <p:cNvPicPr>
            <a:picLocks noChangeAspect="1" noChangeArrowheads="1"/>
          </p:cNvPicPr>
          <p:nvPr/>
        </p:nvPicPr>
        <p:blipFill>
          <a:blip r:embed="rId2"/>
          <a:srcRect/>
          <a:stretch>
            <a:fillRect/>
          </a:stretch>
        </p:blipFill>
        <p:spPr bwMode="auto">
          <a:xfrm>
            <a:off x="5029200" y="3524250"/>
            <a:ext cx="3683000" cy="2762250"/>
          </a:xfrm>
          <a:prstGeom prst="rect">
            <a:avLst/>
          </a:prstGeom>
          <a:noFill/>
          <a:ln w="9525">
            <a:noFill/>
            <a:miter lim="800000"/>
            <a:headEnd/>
            <a:tailEnd/>
          </a:ln>
          <a:effectLst/>
        </p:spPr>
      </p:pic>
      <p:pic>
        <p:nvPicPr>
          <p:cNvPr id="8" name="Picture 5"/>
          <p:cNvPicPr>
            <a:picLocks noChangeAspect="1" noChangeArrowheads="1"/>
          </p:cNvPicPr>
          <p:nvPr/>
        </p:nvPicPr>
        <p:blipFill>
          <a:blip r:embed="rId3"/>
          <a:srcRect/>
          <a:stretch>
            <a:fillRect/>
          </a:stretch>
        </p:blipFill>
        <p:spPr bwMode="auto">
          <a:xfrm>
            <a:off x="457200" y="3219450"/>
            <a:ext cx="2057400" cy="1543050"/>
          </a:xfrm>
          <a:prstGeom prst="rect">
            <a:avLst/>
          </a:prstGeom>
          <a:noFill/>
          <a:ln w="9525">
            <a:noFill/>
            <a:miter lim="800000"/>
            <a:headEnd/>
            <a:tailEnd/>
          </a:ln>
          <a:effectLst/>
        </p:spPr>
      </p:pic>
      <p:sp>
        <p:nvSpPr>
          <p:cNvPr id="9" name="Right Arrow 8"/>
          <p:cNvSpPr/>
          <p:nvPr/>
        </p:nvSpPr>
        <p:spPr>
          <a:xfrm>
            <a:off x="3733800" y="4819650"/>
            <a:ext cx="978408"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5"/>
          <p:cNvPicPr>
            <a:picLocks noChangeAspect="1" noChangeArrowheads="1"/>
          </p:cNvPicPr>
          <p:nvPr/>
        </p:nvPicPr>
        <p:blipFill>
          <a:blip r:embed="rId3"/>
          <a:srcRect/>
          <a:stretch>
            <a:fillRect/>
          </a:stretch>
        </p:blipFill>
        <p:spPr bwMode="auto">
          <a:xfrm>
            <a:off x="914400" y="4057650"/>
            <a:ext cx="2057400" cy="1543050"/>
          </a:xfrm>
          <a:prstGeom prst="rect">
            <a:avLst/>
          </a:prstGeom>
          <a:noFill/>
          <a:ln w="9525">
            <a:noFill/>
            <a:miter lim="800000"/>
            <a:headEnd/>
            <a:tailEnd/>
          </a:ln>
          <a:effectLst/>
        </p:spPr>
      </p:pic>
      <p:pic>
        <p:nvPicPr>
          <p:cNvPr id="11" name="Picture 5"/>
          <p:cNvPicPr>
            <a:picLocks noChangeAspect="1" noChangeArrowheads="1"/>
          </p:cNvPicPr>
          <p:nvPr/>
        </p:nvPicPr>
        <p:blipFill>
          <a:blip r:embed="rId3"/>
          <a:srcRect/>
          <a:stretch>
            <a:fillRect/>
          </a:stretch>
        </p:blipFill>
        <p:spPr bwMode="auto">
          <a:xfrm>
            <a:off x="1371600" y="5029200"/>
            <a:ext cx="2057400" cy="1543050"/>
          </a:xfrm>
          <a:prstGeom prst="rect">
            <a:avLst/>
          </a:prstGeom>
          <a:noFill/>
          <a:ln w="9525">
            <a:noFill/>
            <a:miter lim="800000"/>
            <a:headEnd/>
            <a:tailEnd/>
          </a:ln>
          <a:effectLst/>
        </p:spPr>
      </p:pic>
    </p:spTree>
    <p:extLst>
      <p:ext uri="{BB962C8B-B14F-4D97-AF65-F5344CB8AC3E}">
        <p14:creationId xmlns:p14="http://schemas.microsoft.com/office/powerpoint/2010/main" val="27385538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31F7966-B56E-1543-A677-302F6B014C85}"/>
              </a:ext>
            </a:extLst>
          </p:cNvPr>
          <p:cNvSpPr>
            <a:spLocks noGrp="1"/>
          </p:cNvSpPr>
          <p:nvPr>
            <p:ph idx="1"/>
          </p:nvPr>
        </p:nvSpPr>
        <p:spPr/>
        <p:txBody>
          <a:bodyPr/>
          <a:lstStyle/>
          <a:p>
            <a:r>
              <a:rPr lang="en-US" dirty="0"/>
              <a:t>What point (critical values/z-score) corresponds to 85% of the area of confidence interval for 25-sample of a larger population?</a:t>
            </a:r>
          </a:p>
          <a:p>
            <a:endParaRPr lang="en-US" dirty="0"/>
          </a:p>
          <a:p>
            <a:r>
              <a:rPr lang="en-US" dirty="0"/>
              <a:t>What area under the pdf corresponds to critical value of 2.0 for a 25-sample set of a larger population ?</a:t>
            </a:r>
          </a:p>
          <a:p>
            <a:endParaRPr lang="en-US" dirty="0"/>
          </a:p>
        </p:txBody>
      </p:sp>
      <p:sp>
        <p:nvSpPr>
          <p:cNvPr id="3" name="Title 2">
            <a:extLst>
              <a:ext uri="{FF2B5EF4-FFF2-40B4-BE49-F238E27FC236}">
                <a16:creationId xmlns:a16="http://schemas.microsoft.com/office/drawing/2014/main" id="{726165A4-C981-7F41-9D94-5CAB8395809B}"/>
              </a:ext>
            </a:extLst>
          </p:cNvPr>
          <p:cNvSpPr>
            <a:spLocks noGrp="1"/>
          </p:cNvSpPr>
          <p:nvPr>
            <p:ph type="title"/>
          </p:nvPr>
        </p:nvSpPr>
        <p:spPr/>
        <p:txBody>
          <a:bodyPr/>
          <a:lstStyle/>
          <a:p>
            <a:r>
              <a:rPr lang="en-US" dirty="0"/>
              <a:t>Example 2 – T-test</a:t>
            </a:r>
          </a:p>
        </p:txBody>
      </p:sp>
    </p:spTree>
    <p:extLst>
      <p:ext uri="{BB962C8B-B14F-4D97-AF65-F5344CB8AC3E}">
        <p14:creationId xmlns:p14="http://schemas.microsoft.com/office/powerpoint/2010/main" val="14433070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31F7966-B56E-1543-A677-302F6B014C85}"/>
              </a:ext>
            </a:extLst>
          </p:cNvPr>
          <p:cNvSpPr>
            <a:spLocks noGrp="1"/>
          </p:cNvSpPr>
          <p:nvPr>
            <p:ph idx="1"/>
          </p:nvPr>
        </p:nvSpPr>
        <p:spPr/>
        <p:txBody>
          <a:bodyPr/>
          <a:lstStyle/>
          <a:p>
            <a:r>
              <a:rPr lang="en-US" dirty="0"/>
              <a:t>qt (0.85 , df=24)</a:t>
            </a:r>
          </a:p>
          <a:p>
            <a:r>
              <a:rPr lang="en-US" dirty="0"/>
              <a:t> </a:t>
            </a:r>
            <a:r>
              <a:rPr lang="en-US" dirty="0" err="1"/>
              <a:t>pt</a:t>
            </a:r>
            <a:r>
              <a:rPr lang="en-US" dirty="0"/>
              <a:t> (2, df=24)</a:t>
            </a:r>
          </a:p>
          <a:p>
            <a:endParaRPr lang="en-US" dirty="0"/>
          </a:p>
          <a:p>
            <a:endParaRPr lang="en-US" dirty="0"/>
          </a:p>
        </p:txBody>
      </p:sp>
      <p:sp>
        <p:nvSpPr>
          <p:cNvPr id="3" name="Title 2">
            <a:extLst>
              <a:ext uri="{FF2B5EF4-FFF2-40B4-BE49-F238E27FC236}">
                <a16:creationId xmlns:a16="http://schemas.microsoft.com/office/drawing/2014/main" id="{726165A4-C981-7F41-9D94-5CAB8395809B}"/>
              </a:ext>
            </a:extLst>
          </p:cNvPr>
          <p:cNvSpPr>
            <a:spLocks noGrp="1"/>
          </p:cNvSpPr>
          <p:nvPr>
            <p:ph type="title"/>
          </p:nvPr>
        </p:nvSpPr>
        <p:spPr/>
        <p:txBody>
          <a:bodyPr/>
          <a:lstStyle/>
          <a:p>
            <a:r>
              <a:rPr lang="en-US" dirty="0"/>
              <a:t>Example 2 - answer</a:t>
            </a:r>
          </a:p>
        </p:txBody>
      </p:sp>
    </p:spTree>
    <p:extLst>
      <p:ext uri="{BB962C8B-B14F-4D97-AF65-F5344CB8AC3E}">
        <p14:creationId xmlns:p14="http://schemas.microsoft.com/office/powerpoint/2010/main" val="13137673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835D61-8BC4-744C-8042-B7BFCD81A70B}"/>
              </a:ext>
            </a:extLst>
          </p:cNvPr>
          <p:cNvSpPr>
            <a:spLocks noGrp="1"/>
          </p:cNvSpPr>
          <p:nvPr>
            <p:ph type="title"/>
          </p:nvPr>
        </p:nvSpPr>
        <p:spPr/>
        <p:txBody>
          <a:bodyPr/>
          <a:lstStyle/>
          <a:p>
            <a:r>
              <a:rPr lang="en-US" dirty="0"/>
              <a:t>T-Test with df 2 &amp; 8</a:t>
            </a:r>
          </a:p>
        </p:txBody>
      </p:sp>
      <p:pic>
        <p:nvPicPr>
          <p:cNvPr id="4" name="Picture 3">
            <a:extLst>
              <a:ext uri="{FF2B5EF4-FFF2-40B4-BE49-F238E27FC236}">
                <a16:creationId xmlns:a16="http://schemas.microsoft.com/office/drawing/2014/main" id="{206BBDB1-CE16-8E4A-9FB2-FD71D2C56BA7}"/>
              </a:ext>
            </a:extLst>
          </p:cNvPr>
          <p:cNvPicPr>
            <a:picLocks noChangeAspect="1"/>
          </p:cNvPicPr>
          <p:nvPr/>
        </p:nvPicPr>
        <p:blipFill>
          <a:blip r:embed="rId3"/>
          <a:stretch>
            <a:fillRect/>
          </a:stretch>
        </p:blipFill>
        <p:spPr>
          <a:xfrm>
            <a:off x="2316513" y="1574222"/>
            <a:ext cx="4820557" cy="4702571"/>
          </a:xfrm>
          <a:prstGeom prst="rect">
            <a:avLst/>
          </a:prstGeom>
        </p:spPr>
      </p:pic>
    </p:spTree>
    <p:extLst>
      <p:ext uri="{BB962C8B-B14F-4D97-AF65-F5344CB8AC3E}">
        <p14:creationId xmlns:p14="http://schemas.microsoft.com/office/powerpoint/2010/main" val="1158146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C92DD2E-833D-1044-9E76-C00D89BD415F}"/>
              </a:ext>
            </a:extLst>
          </p:cNvPr>
          <p:cNvSpPr>
            <a:spLocks noGrp="1"/>
          </p:cNvSpPr>
          <p:nvPr>
            <p:ph idx="1"/>
          </p:nvPr>
        </p:nvSpPr>
        <p:spPr/>
        <p:txBody>
          <a:bodyPr>
            <a:normAutofit fontScale="70000" lnSpcReduction="20000"/>
          </a:bodyPr>
          <a:lstStyle/>
          <a:p>
            <a:pPr marL="0" indent="0">
              <a:buNone/>
            </a:pPr>
            <a:r>
              <a:rPr lang="en-US" i="1" dirty="0"/>
              <a:t>Remark. </a:t>
            </a:r>
            <a:r>
              <a:rPr lang="en-US" dirty="0"/>
              <a:t>What if </a:t>
            </a:r>
            <a:r>
              <a:rPr lang="el-GR" dirty="0"/>
              <a:t>σ </a:t>
            </a:r>
            <a:r>
              <a:rPr lang="en-US" dirty="0"/>
              <a:t>is unknown? We instead use the interval</a:t>
            </a:r>
          </a:p>
          <a:p>
            <a:endParaRPr lang="en-US" dirty="0"/>
          </a:p>
          <a:p>
            <a:endParaRPr lang="en-US" dirty="0"/>
          </a:p>
          <a:p>
            <a:pPr marL="0" indent="0">
              <a:buNone/>
            </a:pPr>
            <a:r>
              <a:rPr lang="en-US" dirty="0"/>
              <a:t>where </a:t>
            </a:r>
            <a:r>
              <a:rPr lang="en-US" i="1" dirty="0"/>
              <a:t>S </a:t>
            </a:r>
            <a:r>
              <a:rPr lang="en-US" dirty="0"/>
              <a:t>is the sample standard deviation. </a:t>
            </a:r>
          </a:p>
          <a:p>
            <a:endParaRPr lang="en-US" dirty="0"/>
          </a:p>
          <a:p>
            <a:r>
              <a:rPr lang="en-US" dirty="0"/>
              <a:t>If </a:t>
            </a:r>
            <a:r>
              <a:rPr lang="en-US" i="1" dirty="0"/>
              <a:t>n </a:t>
            </a:r>
            <a:r>
              <a:rPr lang="en-US" dirty="0"/>
              <a:t>is large, then </a:t>
            </a:r>
            <a:r>
              <a:rPr lang="en-US" i="1" dirty="0"/>
              <a:t>X </a:t>
            </a:r>
            <a:r>
              <a:rPr lang="en-US" dirty="0"/>
              <a:t>will have an approximately normal distribution regardless of the underlying population (by the CLT) and </a:t>
            </a:r>
            <a:r>
              <a:rPr lang="en-US" i="1" dirty="0"/>
              <a:t>S </a:t>
            </a:r>
            <a:r>
              <a:rPr lang="en-US" dirty="0"/>
              <a:t>will be very close to the parameter </a:t>
            </a:r>
            <a:r>
              <a:rPr lang="el-GR" dirty="0"/>
              <a:t>σ (</a:t>
            </a:r>
            <a:r>
              <a:rPr lang="en-US" dirty="0"/>
              <a:t>by the SLLN – strong low of large numbers); thus ~ 100(1 − </a:t>
            </a:r>
            <a:r>
              <a:rPr lang="el-GR" dirty="0"/>
              <a:t>α)% </a:t>
            </a:r>
            <a:r>
              <a:rPr lang="en-US" dirty="0"/>
              <a:t>confidence of covering </a:t>
            </a:r>
            <a:r>
              <a:rPr lang="el-GR" dirty="0"/>
              <a:t>μ. </a:t>
            </a:r>
          </a:p>
          <a:p>
            <a:r>
              <a:rPr lang="en-US" dirty="0"/>
              <a:t>If </a:t>
            </a:r>
            <a:r>
              <a:rPr lang="en-US" i="1" dirty="0"/>
              <a:t>n </a:t>
            </a:r>
            <a:r>
              <a:rPr lang="en-US" dirty="0"/>
              <a:t>is small, then</a:t>
            </a:r>
            <a:br>
              <a:rPr lang="en-US" dirty="0"/>
            </a:br>
            <a:r>
              <a:rPr lang="en-US" dirty="0"/>
              <a:t>◦ If the underlying population is normal then we may replace </a:t>
            </a:r>
            <a:r>
              <a:rPr lang="en-US" i="1" dirty="0"/>
              <a:t>z</a:t>
            </a:r>
            <a:r>
              <a:rPr lang="el-GR" baseline="-25000" dirty="0"/>
              <a:t>α/2</a:t>
            </a:r>
            <a:r>
              <a:rPr lang="el-GR" dirty="0"/>
              <a:t> </a:t>
            </a:r>
            <a:r>
              <a:rPr lang="en-US" dirty="0"/>
              <a:t>with t-distribution with degree of freedom of n-1 OR </a:t>
            </a:r>
            <a:r>
              <a:rPr lang="en-US" i="1" dirty="0"/>
              <a:t>t</a:t>
            </a:r>
            <a:r>
              <a:rPr lang="el-GR" baseline="-25000" dirty="0"/>
              <a:t>α/2</a:t>
            </a:r>
            <a:r>
              <a:rPr lang="el-GR" dirty="0"/>
              <a:t>(</a:t>
            </a:r>
            <a:r>
              <a:rPr lang="en-US" dirty="0"/>
              <a:t>df = </a:t>
            </a:r>
            <a:r>
              <a:rPr lang="en-US" i="1" dirty="0"/>
              <a:t>n </a:t>
            </a:r>
            <a:r>
              <a:rPr lang="en-US" dirty="0"/>
              <a:t>− 1). </a:t>
            </a:r>
          </a:p>
          <a:p>
            <a:r>
              <a:rPr lang="en-US" dirty="0"/>
              <a:t>The resulting 100(1 − </a:t>
            </a:r>
            <a:r>
              <a:rPr lang="el-GR" dirty="0"/>
              <a:t>α)% </a:t>
            </a:r>
            <a:r>
              <a:rPr lang="en-US" dirty="0"/>
              <a:t>confidence interval is </a:t>
            </a:r>
          </a:p>
          <a:p>
            <a:endParaRPr lang="en-US" dirty="0"/>
          </a:p>
        </p:txBody>
      </p:sp>
      <p:pic>
        <p:nvPicPr>
          <p:cNvPr id="5" name="Picture 4" descr="Logo, company name&#10;&#10;Description automatically generated">
            <a:extLst>
              <a:ext uri="{FF2B5EF4-FFF2-40B4-BE49-F238E27FC236}">
                <a16:creationId xmlns:a16="http://schemas.microsoft.com/office/drawing/2014/main" id="{6B897570-8A3E-AA4A-ABEA-5F0835CB8B0B}"/>
              </a:ext>
            </a:extLst>
          </p:cNvPr>
          <p:cNvPicPr>
            <a:picLocks noChangeAspect="1"/>
          </p:cNvPicPr>
          <p:nvPr/>
        </p:nvPicPr>
        <p:blipFill>
          <a:blip r:embed="rId2"/>
          <a:stretch>
            <a:fillRect/>
          </a:stretch>
        </p:blipFill>
        <p:spPr>
          <a:xfrm>
            <a:off x="5456062" y="1991784"/>
            <a:ext cx="1663700" cy="774700"/>
          </a:xfrm>
          <a:prstGeom prst="rect">
            <a:avLst/>
          </a:prstGeom>
        </p:spPr>
      </p:pic>
      <p:pic>
        <p:nvPicPr>
          <p:cNvPr id="7" name="Picture 6" descr="A picture containing text&#10;&#10;Description automatically generated">
            <a:extLst>
              <a:ext uri="{FF2B5EF4-FFF2-40B4-BE49-F238E27FC236}">
                <a16:creationId xmlns:a16="http://schemas.microsoft.com/office/drawing/2014/main" id="{73860E9F-D81D-EB48-9CCE-CD485F53CC6E}"/>
              </a:ext>
            </a:extLst>
          </p:cNvPr>
          <p:cNvPicPr>
            <a:picLocks noChangeAspect="1"/>
          </p:cNvPicPr>
          <p:nvPr/>
        </p:nvPicPr>
        <p:blipFill>
          <a:blip r:embed="rId3"/>
          <a:stretch>
            <a:fillRect/>
          </a:stretch>
        </p:blipFill>
        <p:spPr>
          <a:xfrm>
            <a:off x="3480506" y="5656263"/>
            <a:ext cx="2679700" cy="939800"/>
          </a:xfrm>
          <a:prstGeom prst="rect">
            <a:avLst/>
          </a:prstGeom>
        </p:spPr>
      </p:pic>
      <p:sp>
        <p:nvSpPr>
          <p:cNvPr id="8" name="Title 2">
            <a:extLst>
              <a:ext uri="{FF2B5EF4-FFF2-40B4-BE49-F238E27FC236}">
                <a16:creationId xmlns:a16="http://schemas.microsoft.com/office/drawing/2014/main" id="{1E478D54-887B-8641-BA74-28ACA09D17A7}"/>
              </a:ext>
            </a:extLst>
          </p:cNvPr>
          <p:cNvSpPr>
            <a:spLocks noGrp="1"/>
          </p:cNvSpPr>
          <p:nvPr>
            <p:ph type="title"/>
          </p:nvPr>
        </p:nvSpPr>
        <p:spPr>
          <a:xfrm>
            <a:off x="457200" y="274638"/>
            <a:ext cx="8229600" cy="1143000"/>
          </a:xfrm>
        </p:spPr>
        <p:txBody>
          <a:bodyPr/>
          <a:lstStyle/>
          <a:p>
            <a:pPr algn="l"/>
            <a:r>
              <a:rPr lang="en-US" b="1" dirty="0">
                <a:solidFill>
                  <a:srgbClr val="FF0000"/>
                </a:solidFill>
              </a:rPr>
              <a:t>Confidence Interval based on Sample</a:t>
            </a:r>
          </a:p>
        </p:txBody>
      </p:sp>
    </p:spTree>
    <p:extLst>
      <p:ext uri="{BB962C8B-B14F-4D97-AF65-F5344CB8AC3E}">
        <p14:creationId xmlns:p14="http://schemas.microsoft.com/office/powerpoint/2010/main" val="30804917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8895E044-46DE-7F44-B1E4-96C5543449C2}"/>
                  </a:ext>
                </a:extLst>
              </p:cNvPr>
              <p:cNvSpPr>
                <a:spLocks noGrp="1"/>
              </p:cNvSpPr>
              <p:nvPr>
                <p:ph idx="1"/>
              </p:nvPr>
            </p:nvSpPr>
            <p:spPr/>
            <p:txBody>
              <a:bodyPr>
                <a:normAutofit/>
              </a:bodyPr>
              <a:lstStyle/>
              <a:p>
                <a:r>
                  <a:rPr lang="en-US" dirty="0"/>
                  <a:t>For (n&lt;30)</a:t>
                </a:r>
              </a:p>
              <a:p>
                <a:pPr marL="0" indent="0">
                  <a:buNone/>
                </a:pPr>
                <a14:m>
                  <m:oMathPara xmlns:m="http://schemas.openxmlformats.org/officeDocument/2006/math">
                    <m:oMathParaPr>
                      <m:jc m:val="centerGroup"/>
                    </m:oMathParaPr>
                    <m:oMath xmlns:m="http://schemas.openxmlformats.org/officeDocument/2006/math">
                      <m:acc>
                        <m:accPr>
                          <m:chr m:val="̅"/>
                          <m:ctrlPr>
                            <a:rPr lang="en-US" i="1">
                              <a:latin typeface="Cambria Math" panose="02040503050406030204" pitchFamily="18" charset="0"/>
                            </a:rPr>
                          </m:ctrlPr>
                        </m:accPr>
                        <m:e>
                          <m:r>
                            <a:rPr lang="en-US" i="1">
                              <a:latin typeface="Cambria Math" panose="02040503050406030204" pitchFamily="18" charset="0"/>
                            </a:rPr>
                            <m:t>𝑥</m:t>
                          </m:r>
                        </m:e>
                      </m:acc>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rPr>
                        <m:t>𝑡</m:t>
                      </m:r>
                      <m:f>
                        <m:fPr>
                          <m:ctrlPr>
                            <a:rPr lang="en-US" i="1">
                              <a:latin typeface="Cambria Math" panose="02040503050406030204" pitchFamily="18" charset="0"/>
                            </a:rPr>
                          </m:ctrlPr>
                        </m:fPr>
                        <m:num>
                          <m:r>
                            <a:rPr lang="en-US" i="1" smtClean="0">
                              <a:latin typeface="Cambria Math" panose="02040503050406030204" pitchFamily="18" charset="0"/>
                              <a:ea typeface="Cambria Math" panose="02040503050406030204" pitchFamily="18" charset="0"/>
                            </a:rPr>
                            <m:t>𝜎</m:t>
                          </m:r>
                        </m:num>
                        <m:den>
                          <m:rad>
                            <m:radPr>
                              <m:degHide m:val="on"/>
                              <m:ctrlPr>
                                <a:rPr lang="en-US" i="1">
                                  <a:latin typeface="Cambria Math" panose="02040503050406030204" pitchFamily="18" charset="0"/>
                                </a:rPr>
                              </m:ctrlPr>
                            </m:radPr>
                            <m:deg/>
                            <m:e>
                              <m:r>
                                <a:rPr lang="en-US" i="1">
                                  <a:latin typeface="Cambria Math" panose="02040503050406030204" pitchFamily="18" charset="0"/>
                                </a:rPr>
                                <m:t>𝑛</m:t>
                              </m:r>
                            </m:e>
                          </m:rad>
                        </m:den>
                      </m:f>
                      <m:r>
                        <a:rPr lang="en-US" b="0" i="1" smtClean="0">
                          <a:latin typeface="Cambria Math" panose="02040503050406030204" pitchFamily="18" charset="0"/>
                        </a:rPr>
                        <m:t>,  </m:t>
                      </m:r>
                      <m:acc>
                        <m:accPr>
                          <m:chr m:val="̅"/>
                          <m:ctrlPr>
                            <a:rPr lang="en-US" i="1" smtClean="0">
                              <a:latin typeface="Cambria Math" panose="02040503050406030204" pitchFamily="18" charset="0"/>
                            </a:rPr>
                          </m:ctrlPr>
                        </m:accPr>
                        <m:e>
                          <m:r>
                            <a:rPr lang="en-US" b="0" i="1" smtClean="0">
                              <a:latin typeface="Cambria Math" panose="02040503050406030204" pitchFamily="18" charset="0"/>
                            </a:rPr>
                            <m:t>𝑥</m:t>
                          </m:r>
                        </m:e>
                      </m:acc>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rPr>
                        <m:t>𝑡</m:t>
                      </m:r>
                      <m:f>
                        <m:fPr>
                          <m:ctrlPr>
                            <a:rPr lang="en-US" b="0" i="1" smtClean="0">
                              <a:latin typeface="Cambria Math" panose="02040503050406030204" pitchFamily="18" charset="0"/>
                            </a:rPr>
                          </m:ctrlPr>
                        </m:fPr>
                        <m:num>
                          <m:r>
                            <a:rPr lang="en-US" b="0" i="1" smtClean="0">
                              <a:latin typeface="Cambria Math" panose="02040503050406030204" pitchFamily="18" charset="0"/>
                            </a:rPr>
                            <m:t>𝑆</m:t>
                          </m:r>
                        </m:num>
                        <m:den>
                          <m:rad>
                            <m:radPr>
                              <m:degHide m:val="on"/>
                              <m:ctrlPr>
                                <a:rPr lang="en-US" b="0" i="1" smtClean="0">
                                  <a:latin typeface="Cambria Math" panose="02040503050406030204" pitchFamily="18" charset="0"/>
                                </a:rPr>
                              </m:ctrlPr>
                            </m:radPr>
                            <m:deg/>
                            <m:e>
                              <m:r>
                                <a:rPr lang="en-US" b="0" i="1" smtClean="0">
                                  <a:latin typeface="Cambria Math" panose="02040503050406030204" pitchFamily="18" charset="0"/>
                                </a:rPr>
                                <m:t>𝑛</m:t>
                              </m:r>
                            </m:e>
                          </m:rad>
                        </m:den>
                      </m:f>
                    </m:oMath>
                  </m:oMathPara>
                </a14:m>
                <a:endParaRPr lang="en-US" dirty="0"/>
              </a:p>
              <a:p>
                <a:pPr marL="0" indent="0">
                  <a:buNone/>
                </a:pPr>
                <a:endParaRPr lang="en-US" dirty="0"/>
              </a:p>
              <a:p>
                <a:r>
                  <a:rPr lang="en-US" dirty="0"/>
                  <a:t>For (n&gt;=30)</a:t>
                </a:r>
              </a:p>
              <a:p>
                <a:pPr marL="0" indent="0">
                  <a:buNone/>
                </a:pPr>
                <a14:m>
                  <m:oMathPara xmlns:m="http://schemas.openxmlformats.org/officeDocument/2006/math">
                    <m:oMathParaPr>
                      <m:jc m:val="centerGroup"/>
                    </m:oMathParaPr>
                    <m:oMath xmlns:m="http://schemas.openxmlformats.org/officeDocument/2006/math">
                      <m:acc>
                        <m:accPr>
                          <m:chr m:val="̅"/>
                          <m:ctrlPr>
                            <a:rPr lang="en-US" i="1">
                              <a:latin typeface="Cambria Math" panose="02040503050406030204" pitchFamily="18" charset="0"/>
                            </a:rPr>
                          </m:ctrlPr>
                        </m:accPr>
                        <m:e>
                          <m:r>
                            <a:rPr lang="en-US" i="1">
                              <a:latin typeface="Cambria Math" panose="02040503050406030204" pitchFamily="18" charset="0"/>
                            </a:rPr>
                            <m:t>𝑥</m:t>
                          </m:r>
                        </m:e>
                      </m:acc>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𝑧</m:t>
                      </m:r>
                      <m:f>
                        <m:fPr>
                          <m:ctrlPr>
                            <a:rPr lang="en-US" i="1">
                              <a:latin typeface="Cambria Math" panose="02040503050406030204" pitchFamily="18" charset="0"/>
                            </a:rPr>
                          </m:ctrlPr>
                        </m:fPr>
                        <m:num>
                          <m:r>
                            <a:rPr lang="en-US" i="1" smtClean="0">
                              <a:latin typeface="Cambria Math" panose="02040503050406030204" pitchFamily="18" charset="0"/>
                              <a:ea typeface="Cambria Math" panose="02040503050406030204" pitchFamily="18" charset="0"/>
                            </a:rPr>
                            <m:t>𝜎</m:t>
                          </m:r>
                        </m:num>
                        <m:den>
                          <m:rad>
                            <m:radPr>
                              <m:degHide m:val="on"/>
                              <m:ctrlPr>
                                <a:rPr lang="en-US" i="1">
                                  <a:latin typeface="Cambria Math" panose="02040503050406030204" pitchFamily="18" charset="0"/>
                                </a:rPr>
                              </m:ctrlPr>
                            </m:radPr>
                            <m:deg/>
                            <m:e>
                              <m:r>
                                <a:rPr lang="en-US" i="1">
                                  <a:latin typeface="Cambria Math" panose="02040503050406030204" pitchFamily="18" charset="0"/>
                                </a:rPr>
                                <m:t>𝑛</m:t>
                              </m:r>
                            </m:e>
                          </m:rad>
                        </m:den>
                      </m:f>
                      <m:r>
                        <a:rPr lang="en-US" b="0" i="1" smtClean="0">
                          <a:latin typeface="Cambria Math" panose="02040503050406030204" pitchFamily="18" charset="0"/>
                        </a:rPr>
                        <m:t>,  </m:t>
                      </m:r>
                      <m:acc>
                        <m:accPr>
                          <m:chr m:val="̅"/>
                          <m:ctrlPr>
                            <a:rPr lang="en-US" i="1">
                              <a:latin typeface="Cambria Math" panose="02040503050406030204" pitchFamily="18" charset="0"/>
                            </a:rPr>
                          </m:ctrlPr>
                        </m:accPr>
                        <m:e>
                          <m:r>
                            <a:rPr lang="en-US" b="0" i="1" smtClean="0">
                              <a:latin typeface="Cambria Math" panose="02040503050406030204" pitchFamily="18" charset="0"/>
                            </a:rPr>
                            <m:t> </m:t>
                          </m:r>
                          <m:r>
                            <a:rPr lang="en-US" i="1">
                              <a:latin typeface="Cambria Math" panose="02040503050406030204" pitchFamily="18" charset="0"/>
                            </a:rPr>
                            <m:t>𝑥</m:t>
                          </m:r>
                        </m:e>
                      </m:acc>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𝑧</m:t>
                      </m:r>
                      <m:f>
                        <m:fPr>
                          <m:ctrlPr>
                            <a:rPr lang="en-US" i="1">
                              <a:latin typeface="Cambria Math" panose="02040503050406030204" pitchFamily="18" charset="0"/>
                            </a:rPr>
                          </m:ctrlPr>
                        </m:fPr>
                        <m:num>
                          <m:r>
                            <a:rPr lang="en-US" i="1">
                              <a:latin typeface="Cambria Math" panose="02040503050406030204" pitchFamily="18" charset="0"/>
                            </a:rPr>
                            <m:t>𝑆</m:t>
                          </m:r>
                        </m:num>
                        <m:den>
                          <m:rad>
                            <m:radPr>
                              <m:degHide m:val="on"/>
                              <m:ctrlPr>
                                <a:rPr lang="en-US" i="1">
                                  <a:latin typeface="Cambria Math" panose="02040503050406030204" pitchFamily="18" charset="0"/>
                                </a:rPr>
                              </m:ctrlPr>
                            </m:radPr>
                            <m:deg/>
                            <m:e>
                              <m:r>
                                <a:rPr lang="en-US" i="1">
                                  <a:latin typeface="Cambria Math" panose="02040503050406030204" pitchFamily="18" charset="0"/>
                                </a:rPr>
                                <m:t>𝑛</m:t>
                              </m:r>
                            </m:e>
                          </m:rad>
                        </m:den>
                      </m:f>
                    </m:oMath>
                  </m:oMathPara>
                </a14:m>
                <a:endParaRPr lang="en-US" dirty="0"/>
              </a:p>
              <a:p>
                <a:endParaRPr lang="en-US" dirty="0"/>
              </a:p>
            </p:txBody>
          </p:sp>
        </mc:Choice>
        <mc:Fallback xmlns="">
          <p:sp>
            <p:nvSpPr>
              <p:cNvPr id="2" name="Content Placeholder 1">
                <a:extLst>
                  <a:ext uri="{FF2B5EF4-FFF2-40B4-BE49-F238E27FC236}">
                    <a16:creationId xmlns:a16="http://schemas.microsoft.com/office/drawing/2014/main" id="{8895E044-46DE-7F44-B1E4-96C5543449C2}"/>
                  </a:ext>
                </a:extLst>
              </p:cNvPr>
              <p:cNvSpPr>
                <a:spLocks noGrp="1" noRot="1" noChangeAspect="1" noMove="1" noResize="1" noEditPoints="1" noAdjustHandles="1" noChangeArrowheads="1" noChangeShapeType="1" noTextEdit="1"/>
              </p:cNvSpPr>
              <p:nvPr>
                <p:ph idx="1"/>
              </p:nvPr>
            </p:nvSpPr>
            <p:spPr>
              <a:blipFill>
                <a:blip r:embed="rId2"/>
                <a:stretch>
                  <a:fillRect t="-1681"/>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16ADA2AC-EC38-D54D-BC5F-A0E6A52D8900}"/>
              </a:ext>
            </a:extLst>
          </p:cNvPr>
          <p:cNvSpPr>
            <a:spLocks noGrp="1"/>
          </p:cNvSpPr>
          <p:nvPr>
            <p:ph type="title"/>
          </p:nvPr>
        </p:nvSpPr>
        <p:spPr/>
        <p:txBody>
          <a:bodyPr/>
          <a:lstStyle/>
          <a:p>
            <a:r>
              <a:rPr lang="en-US" dirty="0"/>
              <a:t>Confidence Interval </a:t>
            </a:r>
          </a:p>
        </p:txBody>
      </p:sp>
    </p:spTree>
    <p:extLst>
      <p:ext uri="{BB962C8B-B14F-4D97-AF65-F5344CB8AC3E}">
        <p14:creationId xmlns:p14="http://schemas.microsoft.com/office/powerpoint/2010/main" val="22336869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84EBD6-9DFE-EC4B-9064-C75813DE4DC3}"/>
              </a:ext>
            </a:extLst>
          </p:cNvPr>
          <p:cNvSpPr>
            <a:spLocks noGrp="1"/>
          </p:cNvSpPr>
          <p:nvPr>
            <p:ph type="title"/>
          </p:nvPr>
        </p:nvSpPr>
        <p:spPr/>
        <p:txBody>
          <a:bodyPr/>
          <a:lstStyle/>
          <a:p>
            <a:pPr algn="l"/>
            <a:r>
              <a:rPr lang="en-US" b="1" dirty="0">
                <a:solidFill>
                  <a:srgbClr val="FF0000"/>
                </a:solidFill>
              </a:rPr>
              <a:t>Confidence intervals for proportion</a:t>
            </a:r>
          </a:p>
        </p:txBody>
      </p:sp>
      <p:pic>
        <p:nvPicPr>
          <p:cNvPr id="6" name="Picture 5" descr="Graphical user interface, text&#10;&#10;Description automatically generated with medium confidence">
            <a:extLst>
              <a:ext uri="{FF2B5EF4-FFF2-40B4-BE49-F238E27FC236}">
                <a16:creationId xmlns:a16="http://schemas.microsoft.com/office/drawing/2014/main" id="{010BF686-6902-6A4E-BAE6-C2B5669C5132}"/>
              </a:ext>
            </a:extLst>
          </p:cNvPr>
          <p:cNvPicPr>
            <a:picLocks noChangeAspect="1"/>
          </p:cNvPicPr>
          <p:nvPr/>
        </p:nvPicPr>
        <p:blipFill>
          <a:blip r:embed="rId2"/>
          <a:stretch>
            <a:fillRect/>
          </a:stretch>
        </p:blipFill>
        <p:spPr>
          <a:xfrm>
            <a:off x="279400" y="3924300"/>
            <a:ext cx="8407400" cy="1689100"/>
          </a:xfrm>
          <a:prstGeom prst="rect">
            <a:avLst/>
          </a:prstGeom>
        </p:spPr>
      </p:pic>
      <mc:AlternateContent xmlns:mc="http://schemas.openxmlformats.org/markup-compatibility/2006" xmlns:a14="http://schemas.microsoft.com/office/drawing/2010/main">
        <mc:Choice Requires="a14">
          <p:sp>
            <p:nvSpPr>
              <p:cNvPr id="7" name="Content Placeholder 1">
                <a:extLst>
                  <a:ext uri="{FF2B5EF4-FFF2-40B4-BE49-F238E27FC236}">
                    <a16:creationId xmlns:a16="http://schemas.microsoft.com/office/drawing/2014/main" id="{0CCC0B3F-A417-C74C-A594-33FC39347A95}"/>
                  </a:ext>
                </a:extLst>
              </p:cNvPr>
              <p:cNvSpPr txBox="1">
                <a:spLocks/>
              </p:cNvSpPr>
              <p:nvPr/>
            </p:nvSpPr>
            <p:spPr>
              <a:xfrm>
                <a:off x="457198" y="1600200"/>
                <a:ext cx="8229599" cy="2097157"/>
              </a:xfrm>
              <a:prstGeom prst="rect">
                <a:avLst/>
              </a:prstGeom>
            </p:spPr>
            <p:txBody>
              <a:bodyPr>
                <a:normAutofit lnSpcReduction="10000"/>
              </a:bodyPr>
              <a:lstStyle>
                <a:lvl1pPr marL="342900" indent="-342900" algn="l" defTabSz="457200" rtl="0" eaLnBrk="1" latinLnBrk="0" hangingPunct="1">
                  <a:spcBef>
                    <a:spcPct val="20000"/>
                  </a:spcBef>
                  <a:buClr>
                    <a:schemeClr val="accent4"/>
                  </a:buClr>
                  <a:buSzPct val="75000"/>
                  <a:buFontTx/>
                  <a:buBlip>
                    <a:blip r:embed="rId3"/>
                  </a:buBlip>
                  <a:defRPr sz="3200" kern="1200">
                    <a:solidFill>
                      <a:schemeClr val="tx1"/>
                    </a:solidFill>
                    <a:latin typeface="Source Sans Pro Light"/>
                    <a:ea typeface="+mn-ea"/>
                    <a:cs typeface="Source Sans Pro Light"/>
                  </a:defRPr>
                </a:lvl1pPr>
                <a:lvl2pPr marL="742950" indent="-285750" algn="l" defTabSz="457200" rtl="0" eaLnBrk="1" latinLnBrk="0" hangingPunct="1">
                  <a:spcBef>
                    <a:spcPct val="20000"/>
                  </a:spcBef>
                  <a:buClr>
                    <a:schemeClr val="accent4"/>
                  </a:buClr>
                  <a:buSzPct val="75000"/>
                  <a:buFontTx/>
                  <a:buBlip>
                    <a:blip r:embed="rId3"/>
                  </a:buBlip>
                  <a:defRPr sz="2800" kern="1200">
                    <a:solidFill>
                      <a:schemeClr val="tx1"/>
                    </a:solidFill>
                    <a:latin typeface="Source Sans Pro Light"/>
                    <a:ea typeface="+mn-ea"/>
                    <a:cs typeface="Source Sans Pro Light"/>
                  </a:defRPr>
                </a:lvl2pPr>
                <a:lvl3pPr marL="1143000" indent="-228600" algn="l" defTabSz="457200" rtl="0" eaLnBrk="1" latinLnBrk="0" hangingPunct="1">
                  <a:spcBef>
                    <a:spcPct val="20000"/>
                  </a:spcBef>
                  <a:buClr>
                    <a:schemeClr val="accent4"/>
                  </a:buClr>
                  <a:buSzPct val="75000"/>
                  <a:buFontTx/>
                  <a:buBlip>
                    <a:blip r:embed="rId3"/>
                  </a:buBlip>
                  <a:defRPr sz="2400" kern="1200">
                    <a:solidFill>
                      <a:schemeClr val="tx1"/>
                    </a:solidFill>
                    <a:latin typeface="Source Sans Pro Light"/>
                    <a:ea typeface="+mn-ea"/>
                    <a:cs typeface="Source Sans Pro Light"/>
                  </a:defRPr>
                </a:lvl3pPr>
                <a:lvl4pPr marL="1600200" indent="-228600" algn="l" defTabSz="457200" rtl="0" eaLnBrk="1" latinLnBrk="0" hangingPunct="1">
                  <a:spcBef>
                    <a:spcPct val="20000"/>
                  </a:spcBef>
                  <a:buClr>
                    <a:schemeClr val="accent4"/>
                  </a:buClr>
                  <a:buSzPct val="75000"/>
                  <a:buFontTx/>
                  <a:buBlip>
                    <a:blip r:embed="rId3"/>
                  </a:buBlip>
                  <a:defRPr sz="2000" kern="1200">
                    <a:solidFill>
                      <a:schemeClr val="tx1"/>
                    </a:solidFill>
                    <a:latin typeface="Source Sans Pro Light"/>
                    <a:ea typeface="+mn-ea"/>
                    <a:cs typeface="Source Sans Pro Light"/>
                  </a:defRPr>
                </a:lvl4pPr>
                <a:lvl5pPr marL="2057400" indent="-228600" algn="l" defTabSz="457200" rtl="0" eaLnBrk="1" latinLnBrk="0" hangingPunct="1">
                  <a:spcBef>
                    <a:spcPct val="20000"/>
                  </a:spcBef>
                  <a:buClr>
                    <a:schemeClr val="accent4"/>
                  </a:buClr>
                  <a:buSzPct val="75000"/>
                  <a:buFontTx/>
                  <a:buBlip>
                    <a:blip r:embed="rId3"/>
                  </a:buBlip>
                  <a:defRPr sz="2000" kern="1200">
                    <a:solidFill>
                      <a:schemeClr val="tx1"/>
                    </a:solidFill>
                    <a:latin typeface="Source Sans Pro Light"/>
                    <a:ea typeface="+mn-ea"/>
                    <a:cs typeface="Source Sans Pro Light"/>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dirty="0"/>
                  <a:t>If what we are interested to know is a proportion, the resulting sample is a binomial distribution. </a:t>
                </a:r>
              </a:p>
              <a:p>
                <a:r>
                  <a:rPr lang="en-US" dirty="0"/>
                  <a:t>For a binomial distribution we know</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𝐸</m:t>
                      </m:r>
                      <m:d>
                        <m:dPr>
                          <m:ctrlPr>
                            <a:rPr lang="en-US" b="0" i="1" smtClean="0">
                              <a:latin typeface="Cambria Math" panose="02040503050406030204" pitchFamily="18" charset="0"/>
                            </a:rPr>
                          </m:ctrlPr>
                        </m:dPr>
                        <m:e>
                          <m:r>
                            <a:rPr lang="en-US" b="0" i="1" smtClean="0">
                              <a:latin typeface="Cambria Math" panose="02040503050406030204" pitchFamily="18" charset="0"/>
                            </a:rPr>
                            <m:t>𝑋</m:t>
                          </m:r>
                        </m:e>
                      </m:d>
                      <m:r>
                        <a:rPr lang="en-US" b="0" i="1" smtClean="0">
                          <a:latin typeface="Cambria Math" panose="02040503050406030204" pitchFamily="18" charset="0"/>
                        </a:rPr>
                        <m:t>=</m:t>
                      </m:r>
                      <m:r>
                        <a:rPr lang="en-US" b="0" i="1" smtClean="0">
                          <a:latin typeface="Cambria Math" panose="02040503050406030204" pitchFamily="18" charset="0"/>
                        </a:rPr>
                        <m:t>𝑝</m:t>
                      </m:r>
                      <m:r>
                        <a:rPr lang="en-US" b="0" i="1" smtClean="0">
                          <a:latin typeface="Cambria Math" panose="02040503050406030204" pitchFamily="18" charset="0"/>
                        </a:rPr>
                        <m:t> </m:t>
                      </m:r>
                      <m:r>
                        <a:rPr lang="en-US" b="0" i="1" smtClean="0">
                          <a:latin typeface="Cambria Math" panose="02040503050406030204" pitchFamily="18" charset="0"/>
                        </a:rPr>
                        <m:t>𝑎𝑛𝑑</m:t>
                      </m:r>
                      <m:r>
                        <a:rPr lang="en-US" b="0" i="1" smtClean="0">
                          <a:latin typeface="Cambria Math" panose="02040503050406030204" pitchFamily="18" charset="0"/>
                        </a:rPr>
                        <m:t> </m:t>
                      </m:r>
                      <m:r>
                        <a:rPr lang="en-US" b="0" i="1" smtClean="0">
                          <a:latin typeface="Cambria Math" panose="02040503050406030204" pitchFamily="18" charset="0"/>
                        </a:rPr>
                        <m:t>𝐸</m:t>
                      </m:r>
                      <m:d>
                        <m:dPr>
                          <m:ctrlPr>
                            <a:rPr lang="en-US" b="0" i="1" smtClean="0">
                              <a:latin typeface="Cambria Math" panose="02040503050406030204" pitchFamily="18" charset="0"/>
                            </a:rPr>
                          </m:ctrlPr>
                        </m:dPr>
                        <m:e>
                          <m:r>
                            <a:rPr lang="en-US" b="0" i="1" smtClean="0">
                              <a:latin typeface="Cambria Math" panose="02040503050406030204" pitchFamily="18" charset="0"/>
                            </a:rPr>
                            <m:t>𝑋</m:t>
                          </m:r>
                          <m:r>
                            <a:rPr lang="en-US" b="0" i="1" smtClean="0">
                              <a:latin typeface="Cambria Math" panose="02040503050406030204" pitchFamily="18" charset="0"/>
                            </a:rPr>
                            <m:t>−</m:t>
                          </m:r>
                          <m:r>
                            <a:rPr lang="en-US" b="0" i="1" smtClean="0">
                              <a:latin typeface="Cambria Math" panose="02040503050406030204" pitchFamily="18" charset="0"/>
                            </a:rPr>
                            <m:t>𝑃</m:t>
                          </m:r>
                        </m:e>
                      </m:d>
                      <m:r>
                        <a:rPr lang="en-US" b="0" i="1" baseline="30000" smtClean="0">
                          <a:latin typeface="Cambria Math" panose="02040503050406030204" pitchFamily="18" charset="0"/>
                        </a:rPr>
                        <m:t>2</m:t>
                      </m:r>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(1−</m:t>
                      </m:r>
                      <m:r>
                        <a:rPr lang="en-US" b="0" i="1" smtClean="0">
                          <a:latin typeface="Cambria Math" panose="02040503050406030204" pitchFamily="18" charset="0"/>
                        </a:rPr>
                        <m:t>𝑝</m:t>
                      </m:r>
                      <m:r>
                        <a:rPr lang="en-US" b="0" i="1" smtClean="0">
                          <a:latin typeface="Cambria Math" panose="02040503050406030204" pitchFamily="18" charset="0"/>
                        </a:rPr>
                        <m:t>)</m:t>
                      </m:r>
                    </m:oMath>
                  </m:oMathPara>
                </a14:m>
                <a:endParaRPr lang="en-US" dirty="0"/>
              </a:p>
            </p:txBody>
          </p:sp>
        </mc:Choice>
        <mc:Fallback xmlns="">
          <p:sp>
            <p:nvSpPr>
              <p:cNvPr id="7" name="Content Placeholder 1">
                <a:extLst>
                  <a:ext uri="{FF2B5EF4-FFF2-40B4-BE49-F238E27FC236}">
                    <a16:creationId xmlns:a16="http://schemas.microsoft.com/office/drawing/2014/main" id="{0CCC0B3F-A417-C74C-A594-33FC39347A95}"/>
                  </a:ext>
                </a:extLst>
              </p:cNvPr>
              <p:cNvSpPr txBox="1">
                <a:spLocks noRot="1" noChangeAspect="1" noMove="1" noResize="1" noEditPoints="1" noAdjustHandles="1" noChangeArrowheads="1" noChangeShapeType="1" noTextEdit="1"/>
              </p:cNvSpPr>
              <p:nvPr/>
            </p:nvSpPr>
            <p:spPr>
              <a:xfrm>
                <a:off x="457198" y="1600200"/>
                <a:ext cx="8229599" cy="2097157"/>
              </a:xfrm>
              <a:prstGeom prst="rect">
                <a:avLst/>
              </a:prstGeom>
              <a:blipFill>
                <a:blip r:embed="rId4"/>
                <a:stretch>
                  <a:fillRect l="-1852" t="-6627" r="-2315" b="-1205"/>
                </a:stretch>
              </a:blipFill>
            </p:spPr>
            <p:txBody>
              <a:bodyPr/>
              <a:lstStyle/>
              <a:p>
                <a:r>
                  <a:rPr lang="en-US">
                    <a:noFill/>
                  </a:rPr>
                  <a:t> </a:t>
                </a:r>
              </a:p>
            </p:txBody>
          </p:sp>
        </mc:Fallback>
      </mc:AlternateContent>
    </p:spTree>
    <p:extLst>
      <p:ext uri="{BB962C8B-B14F-4D97-AF65-F5344CB8AC3E}">
        <p14:creationId xmlns:p14="http://schemas.microsoft.com/office/powerpoint/2010/main" val="16553048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31F7966-B56E-1543-A677-302F6B014C85}"/>
              </a:ext>
            </a:extLst>
          </p:cNvPr>
          <p:cNvSpPr>
            <a:spLocks noGrp="1"/>
          </p:cNvSpPr>
          <p:nvPr>
            <p:ph idx="1"/>
          </p:nvPr>
        </p:nvSpPr>
        <p:spPr/>
        <p:txBody>
          <a:bodyPr>
            <a:normAutofit fontScale="92500" lnSpcReduction="10000"/>
          </a:bodyPr>
          <a:lstStyle/>
          <a:p>
            <a:r>
              <a:rPr lang="en-US" dirty="0"/>
              <a:t>Comparing the distribution of the sample means from two populations</a:t>
            </a:r>
          </a:p>
          <a:p>
            <a:r>
              <a:rPr lang="en-US" dirty="0"/>
              <a:t>Example:</a:t>
            </a:r>
          </a:p>
          <a:p>
            <a:pPr lvl="1"/>
            <a:r>
              <a:rPr lang="en-US" dirty="0"/>
              <a:t>Clinical trials - where subjects are divided randomly into one of two groups, each of which is exposed to two different treatments. </a:t>
            </a:r>
          </a:p>
          <a:p>
            <a:pPr lvl="1"/>
            <a:r>
              <a:rPr lang="en-US" dirty="0"/>
              <a:t>Taking random samples from two different populations (for example, males and females or younger versus older patients). Each experimental unit belongs only to one population or is treated with only one treatment.</a:t>
            </a:r>
          </a:p>
        </p:txBody>
      </p:sp>
      <p:sp>
        <p:nvSpPr>
          <p:cNvPr id="3" name="Title 2">
            <a:extLst>
              <a:ext uri="{FF2B5EF4-FFF2-40B4-BE49-F238E27FC236}">
                <a16:creationId xmlns:a16="http://schemas.microsoft.com/office/drawing/2014/main" id="{726165A4-C981-7F41-9D94-5CAB8395809B}"/>
              </a:ext>
            </a:extLst>
          </p:cNvPr>
          <p:cNvSpPr>
            <a:spLocks noGrp="1"/>
          </p:cNvSpPr>
          <p:nvPr>
            <p:ph type="title"/>
          </p:nvPr>
        </p:nvSpPr>
        <p:spPr/>
        <p:txBody>
          <a:bodyPr/>
          <a:lstStyle/>
          <a:p>
            <a:r>
              <a:rPr lang="en-US" dirty="0"/>
              <a:t>Two Sample Test/Procedure</a:t>
            </a:r>
          </a:p>
        </p:txBody>
      </p:sp>
    </p:spTree>
    <p:extLst>
      <p:ext uri="{BB962C8B-B14F-4D97-AF65-F5344CB8AC3E}">
        <p14:creationId xmlns:p14="http://schemas.microsoft.com/office/powerpoint/2010/main" val="24832349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731F7966-B56E-1543-A677-302F6B014C85}"/>
                  </a:ext>
                </a:extLst>
              </p:cNvPr>
              <p:cNvSpPr>
                <a:spLocks noGrp="1"/>
              </p:cNvSpPr>
              <p:nvPr>
                <p:ph idx="1"/>
              </p:nvPr>
            </p:nvSpPr>
            <p:spPr/>
            <p:txBody>
              <a:bodyPr>
                <a:normAutofit/>
              </a:bodyPr>
              <a:lstStyle/>
              <a:p>
                <a:r>
                  <a:rPr lang="en-US" dirty="0"/>
                  <a:t>Comparing the distribution of the sample means from two populations and generally interested to </a:t>
                </a:r>
              </a:p>
              <a:p>
                <a:pPr lvl="1"/>
                <a:r>
                  <a:rPr lang="en-US" dirty="0"/>
                  <a:t>H0: </a:t>
                </a:r>
                <a14:m>
                  <m:oMath xmlns:m="http://schemas.openxmlformats.org/officeDocument/2006/math">
                    <m:r>
                      <a:rPr lang="en-US" i="1" smtClean="0">
                        <a:latin typeface="Cambria Math" panose="02040503050406030204" pitchFamily="18" charset="0"/>
                        <a:ea typeface="Cambria Math" panose="02040503050406030204" pitchFamily="18" charset="0"/>
                      </a:rPr>
                      <m:t>𝜇</m:t>
                    </m:r>
                    <m:r>
                      <a:rPr lang="en-US" i="1" baseline="-25000">
                        <a:latin typeface="Cambria Math" panose="02040503050406030204" pitchFamily="18" charset="0"/>
                        <a:ea typeface="Cambria Math" panose="02040503050406030204" pitchFamily="18" charset="0"/>
                      </a:rPr>
                      <m:t>1</m:t>
                    </m:r>
                    <m:r>
                      <a:rPr lang="en-US" i="1">
                        <a:latin typeface="Cambria Math" panose="02040503050406030204" pitchFamily="18" charset="0"/>
                        <a:ea typeface="Cambria Math" panose="02040503050406030204" pitchFamily="18" charset="0"/>
                      </a:rPr>
                      <m:t>=</m:t>
                    </m:r>
                    <m:r>
                      <a:rPr lang="en-US" i="1" smtClean="0">
                        <a:latin typeface="Cambria Math" panose="02040503050406030204" pitchFamily="18" charset="0"/>
                        <a:ea typeface="Cambria Math" panose="02040503050406030204" pitchFamily="18" charset="0"/>
                      </a:rPr>
                      <m:t>𝜇</m:t>
                    </m:r>
                    <m:r>
                      <a:rPr lang="en-US" i="1" baseline="-25000">
                        <a:latin typeface="Cambria Math" panose="02040503050406030204" pitchFamily="18" charset="0"/>
                        <a:ea typeface="Cambria Math" panose="02040503050406030204" pitchFamily="18" charset="0"/>
                      </a:rPr>
                      <m:t>2</m:t>
                    </m:r>
                    <m:r>
                      <a:rPr lang="en-US" b="0" i="1" baseline="-25000"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𝑜𝑟</m:t>
                    </m:r>
                    <m:r>
                      <a:rPr lang="en-US" b="0" i="1" smtClean="0">
                        <a:latin typeface="Cambria Math" panose="02040503050406030204" pitchFamily="18" charset="0"/>
                        <a:ea typeface="Cambria Math" panose="02040503050406030204" pitchFamily="18" charset="0"/>
                      </a:rPr>
                      <m:t>  </m:t>
                    </m:r>
                    <m:r>
                      <a:rPr lang="en-US" i="1" smtClean="0">
                        <a:latin typeface="Cambria Math" panose="02040503050406030204" pitchFamily="18" charset="0"/>
                        <a:ea typeface="Cambria Math" panose="02040503050406030204" pitchFamily="18" charset="0"/>
                      </a:rPr>
                      <m:t>𝜇</m:t>
                    </m:r>
                    <m:r>
                      <a:rPr lang="en-US" b="0" i="1" baseline="-25000" smtClean="0">
                        <a:latin typeface="Cambria Math" panose="02040503050406030204" pitchFamily="18" charset="0"/>
                        <a:ea typeface="Cambria Math" panose="02040503050406030204" pitchFamily="18" charset="0"/>
                      </a:rPr>
                      <m:t>1</m:t>
                    </m:r>
                    <m:r>
                      <a:rPr lang="en-US" b="0" i="1" smtClean="0">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𝜇</m:t>
                    </m:r>
                    <m:r>
                      <a:rPr lang="en-US" b="0" i="1" baseline="-25000" smtClean="0">
                        <a:latin typeface="Cambria Math" panose="02040503050406030204" pitchFamily="18" charset="0"/>
                        <a:ea typeface="Cambria Math" panose="02040503050406030204" pitchFamily="18" charset="0"/>
                      </a:rPr>
                      <m:t>2</m:t>
                    </m:r>
                    <m:r>
                      <a:rPr lang="en-US" b="0" i="1" smtClean="0">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0</m:t>
                    </m:r>
                  </m:oMath>
                </a14:m>
                <a:endParaRPr lang="en-US" dirty="0"/>
              </a:p>
              <a:p>
                <a:pPr lvl="1"/>
                <a:r>
                  <a:rPr lang="en-US" dirty="0"/>
                  <a:t>H1: means are not equal or difference is not zero</a:t>
                </a:r>
              </a:p>
              <a:p>
                <a:endParaRPr lang="en-US" dirty="0"/>
              </a:p>
              <a:p>
                <a:endParaRPr lang="en-US" dirty="0"/>
              </a:p>
              <a:p>
                <a:endParaRPr lang="en-US" dirty="0"/>
              </a:p>
            </p:txBody>
          </p:sp>
        </mc:Choice>
        <mc:Fallback xmlns="">
          <p:sp>
            <p:nvSpPr>
              <p:cNvPr id="2" name="Content Placeholder 1">
                <a:extLst>
                  <a:ext uri="{FF2B5EF4-FFF2-40B4-BE49-F238E27FC236}">
                    <a16:creationId xmlns:a16="http://schemas.microsoft.com/office/drawing/2014/main" id="{731F7966-B56E-1543-A677-302F6B014C85}"/>
                  </a:ext>
                </a:extLst>
              </p:cNvPr>
              <p:cNvSpPr>
                <a:spLocks noGrp="1" noRot="1" noChangeAspect="1" noMove="1" noResize="1" noEditPoints="1" noAdjustHandles="1" noChangeArrowheads="1" noChangeShapeType="1" noTextEdit="1"/>
              </p:cNvSpPr>
              <p:nvPr>
                <p:ph idx="1"/>
              </p:nvPr>
            </p:nvSpPr>
            <p:spPr>
              <a:blipFill>
                <a:blip r:embed="rId2"/>
                <a:stretch>
                  <a:fillRect t="-1681"/>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726165A4-C981-7F41-9D94-5CAB8395809B}"/>
              </a:ext>
            </a:extLst>
          </p:cNvPr>
          <p:cNvSpPr>
            <a:spLocks noGrp="1"/>
          </p:cNvSpPr>
          <p:nvPr>
            <p:ph type="title"/>
          </p:nvPr>
        </p:nvSpPr>
        <p:spPr/>
        <p:txBody>
          <a:bodyPr/>
          <a:lstStyle/>
          <a:p>
            <a:r>
              <a:rPr lang="en-US" dirty="0"/>
              <a:t>Two Sample Test/Procedure</a:t>
            </a:r>
          </a:p>
        </p:txBody>
      </p:sp>
      <p:pic>
        <p:nvPicPr>
          <p:cNvPr id="5" name="Picture 4">
            <a:extLst>
              <a:ext uri="{FF2B5EF4-FFF2-40B4-BE49-F238E27FC236}">
                <a16:creationId xmlns:a16="http://schemas.microsoft.com/office/drawing/2014/main" id="{F2871A56-CAF3-B642-B9A2-4079056C51C3}"/>
              </a:ext>
            </a:extLst>
          </p:cNvPr>
          <p:cNvPicPr>
            <a:picLocks noChangeAspect="1"/>
          </p:cNvPicPr>
          <p:nvPr/>
        </p:nvPicPr>
        <p:blipFill>
          <a:blip r:embed="rId3"/>
          <a:stretch>
            <a:fillRect/>
          </a:stretch>
        </p:blipFill>
        <p:spPr>
          <a:xfrm>
            <a:off x="896587" y="4143744"/>
            <a:ext cx="7928524" cy="2304557"/>
          </a:xfrm>
          <a:prstGeom prst="rect">
            <a:avLst/>
          </a:prstGeom>
        </p:spPr>
      </p:pic>
    </p:spTree>
    <p:extLst>
      <p:ext uri="{BB962C8B-B14F-4D97-AF65-F5344CB8AC3E}">
        <p14:creationId xmlns:p14="http://schemas.microsoft.com/office/powerpoint/2010/main" val="41058913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FB16576D-62E7-0543-9818-D8C495D5D5EA}"/>
                  </a:ext>
                </a:extLst>
              </p:cNvPr>
              <p:cNvSpPr>
                <a:spLocks noGrp="1"/>
              </p:cNvSpPr>
              <p:nvPr>
                <p:ph idx="1"/>
              </p:nvPr>
            </p:nvSpPr>
            <p:spPr/>
            <p:txBody>
              <a:bodyPr>
                <a:normAutofit lnSpcReduction="10000"/>
              </a:bodyPr>
              <a:lstStyle/>
              <a:p>
                <a:r>
                  <a:rPr lang="en-US" dirty="0"/>
                  <a:t>Standard deviation of </a:t>
                </a:r>
                <a14:m>
                  <m:oMath xmlns:m="http://schemas.openxmlformats.org/officeDocument/2006/math">
                    <m:r>
                      <a:rPr lang="en-US" i="1" smtClean="0">
                        <a:latin typeface="Cambria Math" panose="02040503050406030204" pitchFamily="18" charset="0"/>
                        <a:ea typeface="Cambria Math" panose="02040503050406030204" pitchFamily="18" charset="0"/>
                      </a:rPr>
                      <m:t>𝜇</m:t>
                    </m:r>
                    <m:r>
                      <a:rPr lang="en-US" b="0" i="1" smtClean="0">
                        <a:latin typeface="Cambria Math" panose="02040503050406030204" pitchFamily="18" charset="0"/>
                        <a:ea typeface="Cambria Math" panose="02040503050406030204" pitchFamily="18" charset="0"/>
                      </a:rPr>
                      <m:t>1−</m:t>
                    </m:r>
                    <m:r>
                      <a:rPr lang="en-US" b="0" i="1" smtClean="0">
                        <a:latin typeface="Cambria Math" panose="02040503050406030204" pitchFamily="18" charset="0"/>
                        <a:ea typeface="Cambria Math" panose="02040503050406030204" pitchFamily="18" charset="0"/>
                      </a:rPr>
                      <m:t>𝜇</m:t>
                    </m:r>
                    <m:r>
                      <a:rPr lang="en-US" b="0" i="1" smtClean="0">
                        <a:latin typeface="Cambria Math" panose="02040503050406030204" pitchFamily="18" charset="0"/>
                        <a:ea typeface="Cambria Math" panose="02040503050406030204" pitchFamily="18" charset="0"/>
                      </a:rPr>
                      <m:t>2</m:t>
                    </m:r>
                  </m:oMath>
                </a14:m>
                <a:r>
                  <a:rPr lang="en-US" dirty="0"/>
                  <a:t> is as follows</a:t>
                </a:r>
              </a:p>
              <a:p>
                <a:pPr marL="0" indent="0">
                  <a:buNone/>
                </a:pPr>
                <a14:m>
                  <m:oMathPara xmlns:m="http://schemas.openxmlformats.org/officeDocument/2006/math">
                    <m:oMathParaPr>
                      <m:jc m:val="centerGroup"/>
                    </m:oMathParaPr>
                    <m:oMath xmlns:m="http://schemas.openxmlformats.org/officeDocument/2006/math">
                      <m:rad>
                        <m:radPr>
                          <m:degHide m:val="on"/>
                          <m:ctrlPr>
                            <a:rPr lang="en-US" i="1" smtClean="0">
                              <a:latin typeface="Cambria Math" panose="02040503050406030204" pitchFamily="18" charset="0"/>
                            </a:rPr>
                          </m:ctrlPr>
                        </m:radPr>
                        <m:deg/>
                        <m:e>
                          <m:f>
                            <m:fPr>
                              <m:ctrlPr>
                                <a:rPr lang="en-US" i="1" smtClean="0">
                                  <a:latin typeface="Cambria Math" panose="02040503050406030204" pitchFamily="18" charset="0"/>
                                </a:rPr>
                              </m:ctrlPr>
                            </m:fPr>
                            <m:num>
                              <m:r>
                                <a:rPr lang="en-US" i="1" smtClean="0">
                                  <a:latin typeface="Cambria Math" panose="02040503050406030204" pitchFamily="18" charset="0"/>
                                  <a:ea typeface="Cambria Math" panose="02040503050406030204" pitchFamily="18" charset="0"/>
                                </a:rPr>
                                <m:t>𝜎</m:t>
                              </m:r>
                              <m:r>
                                <a:rPr lang="en-US" b="0" i="1" baseline="-25000" smtClean="0">
                                  <a:latin typeface="Cambria Math" panose="02040503050406030204" pitchFamily="18" charset="0"/>
                                  <a:ea typeface="Cambria Math" panose="02040503050406030204" pitchFamily="18" charset="0"/>
                                </a:rPr>
                                <m:t>1</m:t>
                              </m:r>
                              <m:r>
                                <a:rPr lang="en-US" b="0" i="1" baseline="30000" smtClean="0">
                                  <a:latin typeface="Cambria Math" panose="02040503050406030204" pitchFamily="18" charset="0"/>
                                  <a:ea typeface="Cambria Math" panose="02040503050406030204" pitchFamily="18" charset="0"/>
                                </a:rPr>
                                <m:t>2</m:t>
                              </m:r>
                            </m:num>
                            <m:den>
                              <m:r>
                                <a:rPr lang="en-US" b="0" i="1" smtClean="0">
                                  <a:latin typeface="Cambria Math" panose="02040503050406030204" pitchFamily="18" charset="0"/>
                                </a:rPr>
                                <m:t>𝑛</m:t>
                              </m:r>
                              <m:r>
                                <a:rPr lang="en-US" b="0" i="1" baseline="-25000" smtClean="0">
                                  <a:latin typeface="Cambria Math" panose="02040503050406030204" pitchFamily="18" charset="0"/>
                                </a:rPr>
                                <m:t>1</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i="1">
                                  <a:latin typeface="Cambria Math" panose="02040503050406030204" pitchFamily="18" charset="0"/>
                                  <a:ea typeface="Cambria Math" panose="02040503050406030204" pitchFamily="18" charset="0"/>
                                </a:rPr>
                                <m:t>𝜎</m:t>
                              </m:r>
                              <m:r>
                                <a:rPr lang="en-US" b="0" i="1" baseline="-25000" smtClean="0">
                                  <a:latin typeface="Cambria Math" panose="02040503050406030204" pitchFamily="18" charset="0"/>
                                  <a:ea typeface="Cambria Math" panose="02040503050406030204" pitchFamily="18" charset="0"/>
                                </a:rPr>
                                <m:t>2</m:t>
                              </m:r>
                              <m:r>
                                <a:rPr lang="en-US" i="1" baseline="30000">
                                  <a:latin typeface="Cambria Math" panose="02040503050406030204" pitchFamily="18" charset="0"/>
                                  <a:ea typeface="Cambria Math" panose="02040503050406030204" pitchFamily="18" charset="0"/>
                                </a:rPr>
                                <m:t>2</m:t>
                              </m:r>
                            </m:num>
                            <m:den>
                              <m:r>
                                <a:rPr lang="en-US" b="0" i="1" smtClean="0">
                                  <a:latin typeface="Cambria Math" panose="02040503050406030204" pitchFamily="18" charset="0"/>
                                </a:rPr>
                                <m:t>𝑛</m:t>
                              </m:r>
                              <m:r>
                                <a:rPr lang="en-US" b="0" i="1" baseline="-25000" smtClean="0">
                                  <a:latin typeface="Cambria Math" panose="02040503050406030204" pitchFamily="18" charset="0"/>
                                </a:rPr>
                                <m:t>2</m:t>
                              </m:r>
                            </m:den>
                          </m:f>
                        </m:e>
                      </m:rad>
                      <m:r>
                        <a:rPr lang="en-US" b="0" i="0" smtClean="0">
                          <a:latin typeface="Cambria Math" panose="02040503050406030204" pitchFamily="18" charset="0"/>
                        </a:rPr>
                        <m:t>  , </m:t>
                      </m:r>
                      <m:rad>
                        <m:radPr>
                          <m:degHide m:val="on"/>
                          <m:ctrlPr>
                            <a:rPr lang="en-US" i="1">
                              <a:latin typeface="Cambria Math" panose="02040503050406030204" pitchFamily="18" charset="0"/>
                            </a:rPr>
                          </m:ctrlPr>
                        </m:radPr>
                        <m:deg/>
                        <m:e>
                          <m:f>
                            <m:fPr>
                              <m:ctrlPr>
                                <a:rPr lang="en-US" i="1">
                                  <a:latin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𝑆</m:t>
                              </m:r>
                              <m:r>
                                <a:rPr lang="en-US" i="1" baseline="-25000">
                                  <a:latin typeface="Cambria Math" panose="02040503050406030204" pitchFamily="18" charset="0"/>
                                  <a:ea typeface="Cambria Math" panose="02040503050406030204" pitchFamily="18" charset="0"/>
                                </a:rPr>
                                <m:t>1</m:t>
                              </m:r>
                              <m:r>
                                <a:rPr lang="en-US" i="1" baseline="30000">
                                  <a:latin typeface="Cambria Math" panose="02040503050406030204" pitchFamily="18" charset="0"/>
                                  <a:ea typeface="Cambria Math" panose="02040503050406030204" pitchFamily="18" charset="0"/>
                                </a:rPr>
                                <m:t>2</m:t>
                              </m:r>
                            </m:num>
                            <m:den>
                              <m:r>
                                <a:rPr lang="en-US" i="1">
                                  <a:latin typeface="Cambria Math" panose="02040503050406030204" pitchFamily="18" charset="0"/>
                                </a:rPr>
                                <m:t>𝑛</m:t>
                              </m:r>
                              <m:r>
                                <a:rPr lang="en-US" i="1" baseline="-25000">
                                  <a:latin typeface="Cambria Math" panose="02040503050406030204" pitchFamily="18" charset="0"/>
                                </a:rPr>
                                <m:t>1</m:t>
                              </m:r>
                            </m:den>
                          </m:f>
                          <m:r>
                            <a:rPr lang="en-US" i="1">
                              <a:latin typeface="Cambria Math" panose="02040503050406030204" pitchFamily="18" charset="0"/>
                            </a:rPr>
                            <m:t>+</m:t>
                          </m:r>
                          <m:f>
                            <m:fPr>
                              <m:ctrlPr>
                                <a:rPr lang="en-US" i="1">
                                  <a:latin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𝑆</m:t>
                              </m:r>
                              <m:r>
                                <a:rPr lang="en-US" i="1" baseline="-25000">
                                  <a:latin typeface="Cambria Math" panose="02040503050406030204" pitchFamily="18" charset="0"/>
                                  <a:ea typeface="Cambria Math" panose="02040503050406030204" pitchFamily="18" charset="0"/>
                                </a:rPr>
                                <m:t>2</m:t>
                              </m:r>
                              <m:r>
                                <a:rPr lang="en-US" i="1" baseline="30000">
                                  <a:latin typeface="Cambria Math" panose="02040503050406030204" pitchFamily="18" charset="0"/>
                                  <a:ea typeface="Cambria Math" panose="02040503050406030204" pitchFamily="18" charset="0"/>
                                </a:rPr>
                                <m:t>2</m:t>
                              </m:r>
                            </m:num>
                            <m:den>
                              <m:r>
                                <a:rPr lang="en-US" i="1">
                                  <a:latin typeface="Cambria Math" panose="02040503050406030204" pitchFamily="18" charset="0"/>
                                </a:rPr>
                                <m:t>𝑛</m:t>
                              </m:r>
                              <m:r>
                                <a:rPr lang="en-US" i="1" baseline="-25000">
                                  <a:latin typeface="Cambria Math" panose="02040503050406030204" pitchFamily="18" charset="0"/>
                                </a:rPr>
                                <m:t>2</m:t>
                              </m:r>
                            </m:den>
                          </m:f>
                        </m:e>
                      </m:rad>
                    </m:oMath>
                  </m:oMathPara>
                </a14:m>
                <a:endParaRPr lang="en-US" dirty="0"/>
              </a:p>
              <a:p>
                <a:pPr marL="0" indent="0">
                  <a:buNone/>
                </a:pPr>
                <a:r>
                  <a:rPr lang="en-US" dirty="0"/>
                  <a:t>Confidence Interval </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𝑡</m:t>
                      </m:r>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r>
                            <a:rPr lang="en-US" b="0" i="1" baseline="-25000" smtClean="0">
                              <a:latin typeface="Cambria Math" panose="02040503050406030204" pitchFamily="18" charset="0"/>
                            </a:rPr>
                            <m:t>1</m:t>
                          </m:r>
                        </m:e>
                      </m:acc>
                      <m:r>
                        <a:rPr lang="en-US" b="0" i="1" smtClean="0">
                          <a:latin typeface="Cambria Math" panose="02040503050406030204" pitchFamily="18" charset="0"/>
                        </a:rPr>
                        <m:t>−</m:t>
                      </m:r>
                      <m:acc>
                        <m:accPr>
                          <m:chr m:val="̅"/>
                          <m:ctrlPr>
                            <a:rPr lang="en-US" i="1">
                              <a:latin typeface="Cambria Math" panose="02040503050406030204" pitchFamily="18" charset="0"/>
                            </a:rPr>
                          </m:ctrlPr>
                        </m:accPr>
                        <m:e>
                          <m:r>
                            <a:rPr lang="en-US" i="1">
                              <a:latin typeface="Cambria Math" panose="02040503050406030204" pitchFamily="18" charset="0"/>
                            </a:rPr>
                            <m:t>𝑥</m:t>
                          </m:r>
                          <m:r>
                            <a:rPr lang="en-US" b="0" i="1" baseline="-25000" smtClean="0">
                              <a:latin typeface="Cambria Math" panose="02040503050406030204" pitchFamily="18" charset="0"/>
                            </a:rPr>
                            <m:t>2</m:t>
                          </m:r>
                        </m:e>
                      </m:acc>
                      <m:r>
                        <a:rPr lang="en-US" b="0" i="1" smtClean="0">
                          <a:latin typeface="Cambria Math" panose="02040503050406030204" pitchFamily="18" charset="0"/>
                        </a:rPr>
                        <m:t>)/</m:t>
                      </m:r>
                      <m:rad>
                        <m:radPr>
                          <m:degHide m:val="on"/>
                          <m:ctrlPr>
                            <a:rPr lang="en-US" i="1">
                              <a:latin typeface="Cambria Math" panose="02040503050406030204" pitchFamily="18" charset="0"/>
                            </a:rPr>
                          </m:ctrlPr>
                        </m:radPr>
                        <m:deg/>
                        <m:e>
                          <m:f>
                            <m:fPr>
                              <m:ctrlPr>
                                <a:rPr lang="en-US" i="1">
                                  <a:latin typeface="Cambria Math" panose="02040503050406030204" pitchFamily="18" charset="0"/>
                                </a:rPr>
                              </m:ctrlPr>
                            </m:fPr>
                            <m:num>
                              <m:r>
                                <a:rPr lang="en-US" i="1">
                                  <a:latin typeface="Cambria Math" panose="02040503050406030204" pitchFamily="18" charset="0"/>
                                  <a:ea typeface="Cambria Math" panose="02040503050406030204" pitchFamily="18" charset="0"/>
                                </a:rPr>
                                <m:t>𝑆</m:t>
                              </m:r>
                              <m:r>
                                <a:rPr lang="en-US" i="1" baseline="-25000">
                                  <a:latin typeface="Cambria Math" panose="02040503050406030204" pitchFamily="18" charset="0"/>
                                  <a:ea typeface="Cambria Math" panose="02040503050406030204" pitchFamily="18" charset="0"/>
                                </a:rPr>
                                <m:t>1</m:t>
                              </m:r>
                              <m:r>
                                <a:rPr lang="en-US" i="1" baseline="30000">
                                  <a:latin typeface="Cambria Math" panose="02040503050406030204" pitchFamily="18" charset="0"/>
                                  <a:ea typeface="Cambria Math" panose="02040503050406030204" pitchFamily="18" charset="0"/>
                                </a:rPr>
                                <m:t>2</m:t>
                              </m:r>
                            </m:num>
                            <m:den>
                              <m:r>
                                <a:rPr lang="en-US" i="1">
                                  <a:latin typeface="Cambria Math" panose="02040503050406030204" pitchFamily="18" charset="0"/>
                                </a:rPr>
                                <m:t>𝑛</m:t>
                              </m:r>
                              <m:r>
                                <a:rPr lang="en-US" i="1" baseline="-25000">
                                  <a:latin typeface="Cambria Math" panose="02040503050406030204" pitchFamily="18" charset="0"/>
                                </a:rPr>
                                <m:t>1</m:t>
                              </m:r>
                            </m:den>
                          </m:f>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ea typeface="Cambria Math" panose="02040503050406030204" pitchFamily="18" charset="0"/>
                                </a:rPr>
                                <m:t>𝑆</m:t>
                              </m:r>
                              <m:r>
                                <a:rPr lang="en-US" i="1" baseline="-25000">
                                  <a:latin typeface="Cambria Math" panose="02040503050406030204" pitchFamily="18" charset="0"/>
                                  <a:ea typeface="Cambria Math" panose="02040503050406030204" pitchFamily="18" charset="0"/>
                                </a:rPr>
                                <m:t>2</m:t>
                              </m:r>
                              <m:r>
                                <a:rPr lang="en-US" i="1" baseline="30000">
                                  <a:latin typeface="Cambria Math" panose="02040503050406030204" pitchFamily="18" charset="0"/>
                                  <a:ea typeface="Cambria Math" panose="02040503050406030204" pitchFamily="18" charset="0"/>
                                </a:rPr>
                                <m:t>2</m:t>
                              </m:r>
                            </m:num>
                            <m:den>
                              <m:r>
                                <a:rPr lang="en-US" i="1">
                                  <a:latin typeface="Cambria Math" panose="02040503050406030204" pitchFamily="18" charset="0"/>
                                </a:rPr>
                                <m:t>𝑛</m:t>
                              </m:r>
                              <m:r>
                                <a:rPr lang="en-US" i="1" baseline="-25000">
                                  <a:latin typeface="Cambria Math" panose="02040503050406030204" pitchFamily="18" charset="0"/>
                                </a:rPr>
                                <m:t>2</m:t>
                              </m:r>
                            </m:den>
                          </m:f>
                        </m:e>
                      </m:rad>
                    </m:oMath>
                  </m:oMathPara>
                </a14:m>
                <a:endParaRPr lang="en-US" dirty="0"/>
              </a:p>
              <a:p>
                <a:pPr marL="0" indent="0">
                  <a:buNone/>
                </a:pPr>
                <a:r>
                  <a:rPr lang="en-US" dirty="0"/>
                  <a:t>Degree of freedom: </a:t>
                </a:r>
                <a14:m>
                  <m:oMath xmlns:m="http://schemas.openxmlformats.org/officeDocument/2006/math">
                    <m:r>
                      <m:rPr>
                        <m:sty m:val="p"/>
                      </m:rPr>
                      <a:rPr lang="en-US" b="0" i="0" smtClean="0">
                        <a:latin typeface="Cambria Math" panose="02040503050406030204" pitchFamily="18" charset="0"/>
                      </a:rPr>
                      <m:t>min</m:t>
                    </m:r>
                    <m:r>
                      <a:rPr lang="en-US" b="0" i="1" smtClean="0">
                        <a:latin typeface="Cambria Math" panose="02040503050406030204" pitchFamily="18" charset="0"/>
                      </a:rPr>
                      <m:t>⁡(</m:t>
                    </m:r>
                    <m:r>
                      <a:rPr lang="en-US" b="0" i="1" smtClean="0">
                        <a:latin typeface="Cambria Math" panose="02040503050406030204" pitchFamily="18" charset="0"/>
                      </a:rPr>
                      <m:t>𝑛</m:t>
                    </m:r>
                    <m:r>
                      <a:rPr lang="en-US" b="0" i="1" baseline="-25000" smtClean="0">
                        <a:latin typeface="Cambria Math" panose="02040503050406030204" pitchFamily="18" charset="0"/>
                      </a:rPr>
                      <m:t>1</m:t>
                    </m:r>
                    <m:r>
                      <a:rPr lang="en-US" b="0" i="1" smtClean="0">
                        <a:latin typeface="Cambria Math" panose="02040503050406030204" pitchFamily="18" charset="0"/>
                      </a:rPr>
                      <m:t>−1,</m:t>
                    </m:r>
                    <m:r>
                      <a:rPr lang="en-US" b="0" i="1" smtClean="0">
                        <a:latin typeface="Cambria Math" panose="02040503050406030204" pitchFamily="18" charset="0"/>
                      </a:rPr>
                      <m:t>𝑛</m:t>
                    </m:r>
                    <m:r>
                      <a:rPr lang="en-US" b="0" i="1" baseline="-25000" smtClean="0">
                        <a:latin typeface="Cambria Math" panose="02040503050406030204" pitchFamily="18" charset="0"/>
                      </a:rPr>
                      <m:t>2</m:t>
                    </m:r>
                    <m:r>
                      <a:rPr lang="en-US" b="0" i="1" smtClean="0">
                        <a:latin typeface="Cambria Math" panose="02040503050406030204" pitchFamily="18" charset="0"/>
                      </a:rPr>
                      <m:t>−1)</m:t>
                    </m:r>
                  </m:oMath>
                </a14:m>
                <a:endParaRPr lang="en-US" dirty="0"/>
              </a:p>
            </p:txBody>
          </p:sp>
        </mc:Choice>
        <mc:Fallback xmlns="">
          <p:sp>
            <p:nvSpPr>
              <p:cNvPr id="2" name="Content Placeholder 1">
                <a:extLst>
                  <a:ext uri="{FF2B5EF4-FFF2-40B4-BE49-F238E27FC236}">
                    <a16:creationId xmlns:a16="http://schemas.microsoft.com/office/drawing/2014/main" id="{FB16576D-62E7-0543-9818-D8C495D5D5EA}"/>
                  </a:ext>
                </a:extLst>
              </p:cNvPr>
              <p:cNvSpPr>
                <a:spLocks noGrp="1" noRot="1" noChangeAspect="1" noMove="1" noResize="1" noEditPoints="1" noAdjustHandles="1" noChangeArrowheads="1" noChangeShapeType="1" noTextEdit="1"/>
              </p:cNvSpPr>
              <p:nvPr>
                <p:ph idx="1"/>
              </p:nvPr>
            </p:nvSpPr>
            <p:spPr>
              <a:blipFill>
                <a:blip r:embed="rId2"/>
                <a:stretch>
                  <a:fillRect l="-1852" t="-3081" b="-3361"/>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5285535F-99C3-6F42-BD31-ECED06E9DD7B}"/>
              </a:ext>
            </a:extLst>
          </p:cNvPr>
          <p:cNvSpPr>
            <a:spLocks noGrp="1"/>
          </p:cNvSpPr>
          <p:nvPr>
            <p:ph type="title"/>
          </p:nvPr>
        </p:nvSpPr>
        <p:spPr/>
        <p:txBody>
          <a:bodyPr/>
          <a:lstStyle/>
          <a:p>
            <a:r>
              <a:rPr lang="en-US" dirty="0"/>
              <a:t>Confidence Interval</a:t>
            </a:r>
          </a:p>
        </p:txBody>
      </p:sp>
    </p:spTree>
    <p:extLst>
      <p:ext uri="{BB962C8B-B14F-4D97-AF65-F5344CB8AC3E}">
        <p14:creationId xmlns:p14="http://schemas.microsoft.com/office/powerpoint/2010/main" val="33656051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2335F43-CE5C-5541-AF49-01B361EA02D8}"/>
              </a:ext>
            </a:extLst>
          </p:cNvPr>
          <p:cNvSpPr>
            <a:spLocks noGrp="1"/>
          </p:cNvSpPr>
          <p:nvPr>
            <p:ph idx="1"/>
          </p:nvPr>
        </p:nvSpPr>
        <p:spPr>
          <a:xfrm>
            <a:off x="457200" y="1588168"/>
            <a:ext cx="8229600" cy="4525963"/>
          </a:xfrm>
        </p:spPr>
        <p:txBody>
          <a:bodyPr>
            <a:normAutofit fontScale="85000" lnSpcReduction="20000"/>
          </a:bodyPr>
          <a:lstStyle/>
          <a:p>
            <a:r>
              <a:rPr lang="en-US" dirty="0"/>
              <a:t>Null hypothesis – H</a:t>
            </a:r>
            <a:r>
              <a:rPr lang="en-US" baseline="-25000" dirty="0"/>
              <a:t>0</a:t>
            </a:r>
          </a:p>
          <a:p>
            <a:r>
              <a:rPr lang="en-US" dirty="0"/>
              <a:t>Alternative hypothesis – H</a:t>
            </a:r>
            <a:r>
              <a:rPr lang="en-US" baseline="-25000" dirty="0"/>
              <a:t>1</a:t>
            </a:r>
          </a:p>
          <a:p>
            <a:r>
              <a:rPr lang="en-US" dirty="0"/>
              <a:t>Processes/procedure</a:t>
            </a:r>
          </a:p>
          <a:p>
            <a:pPr lvl="1"/>
            <a:r>
              <a:rPr lang="en-US" dirty="0"/>
              <a:t>Collect random samples</a:t>
            </a:r>
          </a:p>
          <a:p>
            <a:pPr lvl="1"/>
            <a:r>
              <a:rPr lang="en-US" dirty="0"/>
              <a:t>Construct confidence interval for P</a:t>
            </a:r>
          </a:p>
          <a:p>
            <a:pPr lvl="1"/>
            <a:r>
              <a:rPr lang="en-US" dirty="0"/>
              <a:t>If the confidence interval covers H0, we “fail to reject H0”.  Otherwise, “reject H0”.</a:t>
            </a:r>
          </a:p>
          <a:p>
            <a:r>
              <a:rPr lang="en-US" dirty="0"/>
              <a:t>The rejection region is called “critical region” or “critical area”.</a:t>
            </a:r>
          </a:p>
          <a:p>
            <a:pPr lvl="1"/>
            <a:r>
              <a:rPr lang="en-US" dirty="0"/>
              <a:t>One sided :  H1&gt;=  or  H1&lt;=</a:t>
            </a:r>
          </a:p>
          <a:p>
            <a:pPr lvl="1"/>
            <a:r>
              <a:rPr lang="en-US" dirty="0"/>
              <a:t>Two sided</a:t>
            </a:r>
          </a:p>
          <a:p>
            <a:r>
              <a:rPr lang="en-US" dirty="0"/>
              <a:t>Critical Value </a:t>
            </a:r>
          </a:p>
        </p:txBody>
      </p:sp>
      <p:sp>
        <p:nvSpPr>
          <p:cNvPr id="3" name="Title 2">
            <a:extLst>
              <a:ext uri="{FF2B5EF4-FFF2-40B4-BE49-F238E27FC236}">
                <a16:creationId xmlns:a16="http://schemas.microsoft.com/office/drawing/2014/main" id="{85473844-1572-E04E-A42C-0F21F0B38B1C}"/>
              </a:ext>
            </a:extLst>
          </p:cNvPr>
          <p:cNvSpPr>
            <a:spLocks noGrp="1"/>
          </p:cNvSpPr>
          <p:nvPr>
            <p:ph type="title"/>
          </p:nvPr>
        </p:nvSpPr>
        <p:spPr/>
        <p:txBody>
          <a:bodyPr/>
          <a:lstStyle/>
          <a:p>
            <a:r>
              <a:rPr lang="en-US" dirty="0"/>
              <a:t>Terminology	</a:t>
            </a:r>
          </a:p>
        </p:txBody>
      </p:sp>
    </p:spTree>
    <p:extLst>
      <p:ext uri="{BB962C8B-B14F-4D97-AF65-F5344CB8AC3E}">
        <p14:creationId xmlns:p14="http://schemas.microsoft.com/office/powerpoint/2010/main" val="24136295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D46AB63-E862-AA4C-B372-14535E775319}"/>
              </a:ext>
            </a:extLst>
          </p:cNvPr>
          <p:cNvSpPr>
            <a:spLocks noGrp="1"/>
          </p:cNvSpPr>
          <p:nvPr>
            <p:ph idx="1"/>
          </p:nvPr>
        </p:nvSpPr>
        <p:spPr/>
        <p:txBody>
          <a:bodyPr/>
          <a:lstStyle/>
          <a:p>
            <a:pPr marL="514350" indent="-514350">
              <a:buAutoNum type="arabicPeriod"/>
            </a:pPr>
            <a:r>
              <a:rPr lang="en-US" dirty="0"/>
              <a:t>Set up the hypotheses and select the alpha level</a:t>
            </a:r>
          </a:p>
          <a:p>
            <a:pPr marL="514350" indent="-514350">
              <a:buAutoNum type="arabicPeriod"/>
            </a:pPr>
            <a:r>
              <a:rPr lang="en-US" dirty="0"/>
              <a:t>Select the appropriate test statistic</a:t>
            </a:r>
          </a:p>
          <a:p>
            <a:pPr marL="514350" indent="-514350">
              <a:buAutoNum type="arabicPeriod"/>
            </a:pPr>
            <a:r>
              <a:rPr lang="en-US" dirty="0"/>
              <a:t>State the decision rule</a:t>
            </a:r>
          </a:p>
          <a:p>
            <a:pPr marL="514350" indent="-514350">
              <a:buAutoNum type="arabicPeriod"/>
            </a:pPr>
            <a:r>
              <a:rPr lang="en-US" dirty="0"/>
              <a:t>Compute the test statistic and the associated p-value</a:t>
            </a:r>
          </a:p>
          <a:p>
            <a:pPr marL="514350" indent="-514350">
              <a:buAutoNum type="arabicPeriod"/>
            </a:pPr>
            <a:r>
              <a:rPr lang="en-US" dirty="0"/>
              <a:t>State your conclusion</a:t>
            </a:r>
          </a:p>
          <a:p>
            <a:pPr marL="0" indent="0">
              <a:buNone/>
            </a:pPr>
            <a:endParaRPr lang="en-US" dirty="0"/>
          </a:p>
        </p:txBody>
      </p:sp>
      <p:sp>
        <p:nvSpPr>
          <p:cNvPr id="3" name="Title 2">
            <a:extLst>
              <a:ext uri="{FF2B5EF4-FFF2-40B4-BE49-F238E27FC236}">
                <a16:creationId xmlns:a16="http://schemas.microsoft.com/office/drawing/2014/main" id="{2A5C0C85-23A0-9543-A125-E3E07F88E509}"/>
              </a:ext>
            </a:extLst>
          </p:cNvPr>
          <p:cNvSpPr>
            <a:spLocks noGrp="1"/>
          </p:cNvSpPr>
          <p:nvPr>
            <p:ph type="title"/>
          </p:nvPr>
        </p:nvSpPr>
        <p:spPr/>
        <p:txBody>
          <a:bodyPr/>
          <a:lstStyle/>
          <a:p>
            <a:r>
              <a:rPr lang="en-US" dirty="0"/>
              <a:t>Significant Test Recipe</a:t>
            </a:r>
          </a:p>
        </p:txBody>
      </p:sp>
    </p:spTree>
    <p:extLst>
      <p:ext uri="{BB962C8B-B14F-4D97-AF65-F5344CB8AC3E}">
        <p14:creationId xmlns:p14="http://schemas.microsoft.com/office/powerpoint/2010/main" val="13297435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hart, line chart&#10;&#10;Description automatically generated">
            <a:extLst>
              <a:ext uri="{FF2B5EF4-FFF2-40B4-BE49-F238E27FC236}">
                <a16:creationId xmlns:a16="http://schemas.microsoft.com/office/drawing/2014/main" id="{1484CD25-D907-1E42-B3FB-F1E99A5EBDAA}"/>
              </a:ext>
            </a:extLst>
          </p:cNvPr>
          <p:cNvPicPr>
            <a:picLocks noChangeAspect="1"/>
          </p:cNvPicPr>
          <p:nvPr/>
        </p:nvPicPr>
        <p:blipFill>
          <a:blip r:embed="rId2"/>
          <a:stretch>
            <a:fillRect/>
          </a:stretch>
        </p:blipFill>
        <p:spPr>
          <a:xfrm>
            <a:off x="149029" y="0"/>
            <a:ext cx="8256213" cy="6400800"/>
          </a:xfrm>
          <a:prstGeom prst="rect">
            <a:avLst/>
          </a:prstGeom>
        </p:spPr>
      </p:pic>
    </p:spTree>
    <p:extLst>
      <p:ext uri="{BB962C8B-B14F-4D97-AF65-F5344CB8AC3E}">
        <p14:creationId xmlns:p14="http://schemas.microsoft.com/office/powerpoint/2010/main" val="25272350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1AC4070-D21C-F75D-FA1E-24EA33C3B402}"/>
              </a:ext>
            </a:extLst>
          </p:cNvPr>
          <p:cNvSpPr txBox="1"/>
          <p:nvPr/>
        </p:nvSpPr>
        <p:spPr>
          <a:xfrm>
            <a:off x="3067291" y="4942390"/>
            <a:ext cx="0" cy="0"/>
          </a:xfrm>
          <a:prstGeom prst="rect">
            <a:avLst/>
          </a:prstGeom>
        </p:spPr>
        <p:txBody>
          <a:bodyPr vert="horz" wrap="none" lIns="91440" tIns="45720" rIns="91440" bIns="45720" rtlCol="0">
            <a:normAutofit fontScale="25000" lnSpcReduction="20000"/>
          </a:bodyPr>
          <a:lstStyle/>
          <a:p>
            <a:endParaRPr lang="en-US" sz="2000" dirty="0">
              <a:solidFill>
                <a:prstClr val="black"/>
              </a:solidFill>
              <a:latin typeface="Source Sans Pro Light"/>
              <a:cs typeface="Source Sans Pro Light"/>
            </a:endParaRPr>
          </a:p>
        </p:txBody>
      </p:sp>
      <p:pic>
        <p:nvPicPr>
          <p:cNvPr id="4" name="Picture 3" descr="Chart, line chart&#10;&#10;Description automatically generated">
            <a:extLst>
              <a:ext uri="{FF2B5EF4-FFF2-40B4-BE49-F238E27FC236}">
                <a16:creationId xmlns:a16="http://schemas.microsoft.com/office/drawing/2014/main" id="{8FB36EC4-D0DE-5060-AD02-0CF0098DF59F}"/>
              </a:ext>
            </a:extLst>
          </p:cNvPr>
          <p:cNvPicPr>
            <a:picLocks noChangeAspect="1"/>
          </p:cNvPicPr>
          <p:nvPr/>
        </p:nvPicPr>
        <p:blipFill>
          <a:blip r:embed="rId2"/>
          <a:stretch>
            <a:fillRect/>
          </a:stretch>
        </p:blipFill>
        <p:spPr>
          <a:xfrm>
            <a:off x="1250066" y="334624"/>
            <a:ext cx="7772400" cy="5614623"/>
          </a:xfrm>
          <a:prstGeom prst="rect">
            <a:avLst/>
          </a:prstGeom>
        </p:spPr>
      </p:pic>
    </p:spTree>
    <p:extLst>
      <p:ext uri="{BB962C8B-B14F-4D97-AF65-F5344CB8AC3E}">
        <p14:creationId xmlns:p14="http://schemas.microsoft.com/office/powerpoint/2010/main" val="148927345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5CF9B6E3-46F8-B74F-BD8E-64E1EED729EE}"/>
                  </a:ext>
                </a:extLst>
              </p:cNvPr>
              <p:cNvSpPr>
                <a:spLocks noGrp="1"/>
              </p:cNvSpPr>
              <p:nvPr>
                <p:ph idx="1"/>
              </p:nvPr>
            </p:nvSpPr>
            <p:spPr/>
            <p:txBody>
              <a:bodyPr>
                <a:normAutofit lnSpcReduction="10000"/>
              </a:bodyPr>
              <a:lstStyle/>
              <a:p>
                <a:r>
                  <a:rPr lang="en-US" dirty="0"/>
                  <a:t>Proportion P:</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𝑍</m:t>
                      </m:r>
                      <m:r>
                        <a:rPr lang="en-US" b="0" i="1" smtClean="0">
                          <a:latin typeface="Cambria Math" panose="02040503050406030204" pitchFamily="18" charset="0"/>
                        </a:rPr>
                        <m:t>=</m:t>
                      </m:r>
                      <m:f>
                        <m:fPr>
                          <m:ctrlPr>
                            <a:rPr lang="en-US" b="0" i="1" smtClean="0">
                              <a:latin typeface="Cambria Math" panose="02040503050406030204" pitchFamily="18" charset="0"/>
                            </a:rPr>
                          </m:ctrlPr>
                        </m:fPr>
                        <m:num>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𝑝</m:t>
                              </m:r>
                            </m:e>
                          </m:acc>
                          <m:r>
                            <a:rPr lang="en-US" b="0" i="1" smtClean="0">
                              <a:latin typeface="Cambria Math" panose="02040503050406030204" pitchFamily="18" charset="0"/>
                            </a:rPr>
                            <m:t>−</m:t>
                          </m:r>
                          <m:r>
                            <a:rPr lang="en-US" b="0" i="1" smtClean="0">
                              <a:latin typeface="Cambria Math" panose="02040503050406030204" pitchFamily="18" charset="0"/>
                            </a:rPr>
                            <m:t>𝑝</m:t>
                          </m:r>
                        </m:num>
                        <m:den>
                          <m:rad>
                            <m:radPr>
                              <m:degHide m:val="on"/>
                              <m:ctrlPr>
                                <a:rPr lang="en-US" b="0" i="1" smtClean="0">
                                  <a:latin typeface="Cambria Math" panose="02040503050406030204" pitchFamily="18" charset="0"/>
                                </a:rPr>
                              </m:ctrlPr>
                            </m:radPr>
                            <m:deg/>
                            <m:e>
                              <m:f>
                                <m:fPr>
                                  <m:ctrlPr>
                                    <a:rPr lang="en-US" b="0" i="1" smtClean="0">
                                      <a:latin typeface="Cambria Math" panose="02040503050406030204" pitchFamily="18" charset="0"/>
                                    </a:rPr>
                                  </m:ctrlPr>
                                </m:fPr>
                                <m:num>
                                  <m:r>
                                    <a:rPr lang="en-US" b="0" i="1" smtClean="0">
                                      <a:latin typeface="Cambria Math" panose="02040503050406030204" pitchFamily="18" charset="0"/>
                                    </a:rPr>
                                    <m:t>𝑝</m:t>
                                  </m:r>
                                  <m:r>
                                    <a:rPr lang="en-US" b="0" i="1" smtClean="0">
                                      <a:latin typeface="Cambria Math" panose="02040503050406030204" pitchFamily="18" charset="0"/>
                                    </a:rPr>
                                    <m:t>(1−</m:t>
                                  </m:r>
                                  <m:r>
                                    <a:rPr lang="en-US" b="0" i="1" smtClean="0">
                                      <a:latin typeface="Cambria Math" panose="02040503050406030204" pitchFamily="18" charset="0"/>
                                    </a:rPr>
                                    <m:t>𝑝</m:t>
                                  </m:r>
                                  <m:r>
                                    <a:rPr lang="en-US" b="0" i="1" smtClean="0">
                                      <a:latin typeface="Cambria Math" panose="02040503050406030204" pitchFamily="18" charset="0"/>
                                    </a:rPr>
                                    <m:t>)</m:t>
                                  </m:r>
                                </m:num>
                                <m:den>
                                  <m:r>
                                    <a:rPr lang="en-US" b="0" i="1" smtClean="0">
                                      <a:latin typeface="Cambria Math" panose="02040503050406030204" pitchFamily="18" charset="0"/>
                                    </a:rPr>
                                    <m:t>𝑛</m:t>
                                  </m:r>
                                </m:den>
                              </m:f>
                            </m:e>
                          </m:rad>
                        </m:den>
                      </m:f>
                    </m:oMath>
                  </m:oMathPara>
                </a14:m>
                <a:endParaRPr lang="en-US" dirty="0"/>
              </a:p>
              <a:p>
                <a:r>
                  <a:rPr lang="en-US" dirty="0"/>
                  <a:t>Mean </a:t>
                </a:r>
                <a14:m>
                  <m:oMath xmlns:m="http://schemas.openxmlformats.org/officeDocument/2006/math">
                    <m:r>
                      <a:rPr lang="en-US" i="1" smtClean="0">
                        <a:latin typeface="Cambria Math" panose="02040503050406030204" pitchFamily="18" charset="0"/>
                        <a:ea typeface="Cambria Math" panose="02040503050406030204" pitchFamily="18" charset="0"/>
                      </a:rPr>
                      <m:t>𝜇</m:t>
                    </m:r>
                    <m:r>
                      <a:rPr lang="en-US" b="0" i="1" smtClean="0">
                        <a:latin typeface="Cambria Math" panose="02040503050406030204" pitchFamily="18" charset="0"/>
                        <a:ea typeface="Cambria Math" panose="02040503050406030204" pitchFamily="18" charset="0"/>
                      </a:rPr>
                      <m:t>:</m:t>
                    </m:r>
                  </m:oMath>
                </a14:m>
                <a:endParaRPr lang="en-US" dirty="0"/>
              </a:p>
              <a:p>
                <a:pPr marL="0" indent="0">
                  <a:buNone/>
                </a:pPr>
                <a:r>
                  <a:rPr lang="en-US" dirty="0"/>
                  <a:t>		</a:t>
                </a:r>
                <a14:m>
                  <m:oMath xmlns:m="http://schemas.openxmlformats.org/officeDocument/2006/math">
                    <m:r>
                      <a:rPr lang="en-US" i="1">
                        <a:latin typeface="Cambria Math" panose="02040503050406030204" pitchFamily="18" charset="0"/>
                      </a:rPr>
                      <m:t>𝑍</m:t>
                    </m:r>
                    <m:r>
                      <a:rPr lang="en-US" i="1">
                        <a:latin typeface="Cambria Math" panose="02040503050406030204" pitchFamily="18" charset="0"/>
                      </a:rPr>
                      <m:t>=</m:t>
                    </m:r>
                    <m:f>
                      <m:fPr>
                        <m:ctrlPr>
                          <a:rPr lang="en-US" i="1">
                            <a:latin typeface="Cambria Math" panose="02040503050406030204" pitchFamily="18" charset="0"/>
                          </a:rPr>
                        </m:ctrlPr>
                      </m:fPr>
                      <m:num>
                        <m:acc>
                          <m:accPr>
                            <m:chr m:val="̂"/>
                            <m:ctrlPr>
                              <a:rPr lang="en-US" i="1">
                                <a:latin typeface="Cambria Math" panose="02040503050406030204" pitchFamily="18" charset="0"/>
                              </a:rPr>
                            </m:ctrlPr>
                          </m:accPr>
                          <m:e>
                            <m:r>
                              <a:rPr lang="en-US" b="0" i="1" smtClean="0">
                                <a:latin typeface="Cambria Math" panose="02040503050406030204" pitchFamily="18" charset="0"/>
                              </a:rPr>
                              <m:t>𝑥</m:t>
                            </m:r>
                          </m:e>
                        </m:acc>
                        <m:r>
                          <a:rPr lang="en-US" i="1">
                            <a:latin typeface="Cambria Math" panose="02040503050406030204" pitchFamily="18" charset="0"/>
                          </a:rPr>
                          <m:t>−</m:t>
                        </m:r>
                        <m:r>
                          <a:rPr lang="en-US" i="1" smtClean="0">
                            <a:latin typeface="Cambria Math" panose="02040503050406030204" pitchFamily="18" charset="0"/>
                            <a:ea typeface="Cambria Math" panose="02040503050406030204" pitchFamily="18" charset="0"/>
                          </a:rPr>
                          <m:t>𝜇</m:t>
                        </m:r>
                      </m:num>
                      <m:den>
                        <m:r>
                          <a:rPr lang="en-US" i="1" smtClean="0">
                            <a:latin typeface="Cambria Math" panose="02040503050406030204" pitchFamily="18" charset="0"/>
                            <a:ea typeface="Cambria Math" panose="02040503050406030204" pitchFamily="18" charset="0"/>
                          </a:rPr>
                          <m:t>𝜎</m:t>
                        </m:r>
                        <m:r>
                          <a:rPr lang="en-US" b="0" i="1" smtClean="0">
                            <a:latin typeface="Cambria Math" panose="02040503050406030204" pitchFamily="18" charset="0"/>
                            <a:ea typeface="Cambria Math" panose="02040503050406030204" pitchFamily="18" charset="0"/>
                          </a:rPr>
                          <m:t>/</m:t>
                        </m:r>
                        <m:rad>
                          <m:radPr>
                            <m:degHide m:val="on"/>
                            <m:ctrlPr>
                              <a:rPr lang="en-US" i="1">
                                <a:latin typeface="Cambria Math" panose="02040503050406030204" pitchFamily="18" charset="0"/>
                              </a:rPr>
                            </m:ctrlPr>
                          </m:radPr>
                          <m:deg/>
                          <m:e>
                            <m:r>
                              <a:rPr lang="en-US" b="0" i="1" smtClean="0">
                                <a:latin typeface="Cambria Math" panose="02040503050406030204" pitchFamily="18" charset="0"/>
                              </a:rPr>
                              <m:t>𝑛</m:t>
                            </m:r>
                          </m:e>
                        </m:rad>
                      </m:den>
                    </m:f>
                  </m:oMath>
                </a14:m>
                <a:r>
                  <a:rPr lang="en-US" dirty="0"/>
                  <a:t>  (if population </a:t>
                </a:r>
                <a:r>
                  <a:rPr lang="en-US" dirty="0" err="1"/>
                  <a:t>sd</a:t>
                </a:r>
                <a:r>
                  <a:rPr lang="en-US" dirty="0"/>
                  <a:t> in known) or </a:t>
                </a:r>
              </a:p>
              <a:p>
                <a:pPr marL="0" indent="0">
                  <a:buNone/>
                </a:pPr>
                <a:r>
                  <a:rPr lang="en-US" dirty="0"/>
                  <a:t>		</a:t>
                </a:r>
                <a14:m>
                  <m:oMath xmlns:m="http://schemas.openxmlformats.org/officeDocument/2006/math">
                    <m:r>
                      <a:rPr lang="en-US" i="1">
                        <a:latin typeface="Cambria Math" panose="02040503050406030204" pitchFamily="18" charset="0"/>
                      </a:rPr>
                      <m:t>𝑍</m:t>
                    </m:r>
                    <m:r>
                      <a:rPr lang="en-US" i="1">
                        <a:latin typeface="Cambria Math" panose="02040503050406030204" pitchFamily="18" charset="0"/>
                      </a:rPr>
                      <m:t>=</m:t>
                    </m:r>
                    <m:f>
                      <m:fPr>
                        <m:ctrlPr>
                          <a:rPr lang="en-US" i="1">
                            <a:latin typeface="Cambria Math" panose="02040503050406030204" pitchFamily="18" charset="0"/>
                          </a:rPr>
                        </m:ctrlPr>
                      </m:fPr>
                      <m:num>
                        <m:acc>
                          <m:accPr>
                            <m:chr m:val="̂"/>
                            <m:ctrlPr>
                              <a:rPr lang="en-US" i="1">
                                <a:latin typeface="Cambria Math" panose="02040503050406030204" pitchFamily="18" charset="0"/>
                              </a:rPr>
                            </m:ctrlPr>
                          </m:accPr>
                          <m:e>
                            <m:r>
                              <a:rPr lang="en-US" i="1">
                                <a:latin typeface="Cambria Math" panose="02040503050406030204" pitchFamily="18" charset="0"/>
                              </a:rPr>
                              <m:t>𝑥</m:t>
                            </m:r>
                          </m:e>
                        </m:acc>
                        <m:r>
                          <a:rPr lang="en-US" i="1">
                            <a:latin typeface="Cambria Math" panose="02040503050406030204" pitchFamily="18" charset="0"/>
                          </a:rPr>
                          <m:t>−</m:t>
                        </m:r>
                        <m:r>
                          <a:rPr lang="en-US" i="1">
                            <a:latin typeface="Cambria Math" panose="02040503050406030204" pitchFamily="18" charset="0"/>
                            <a:ea typeface="Cambria Math" panose="02040503050406030204" pitchFamily="18" charset="0"/>
                          </a:rPr>
                          <m:t>𝜇</m:t>
                        </m:r>
                      </m:num>
                      <m:den>
                        <m:r>
                          <a:rPr lang="en-US" b="0" i="1" smtClean="0">
                            <a:latin typeface="Cambria Math" panose="02040503050406030204" pitchFamily="18" charset="0"/>
                            <a:ea typeface="Cambria Math" panose="02040503050406030204" pitchFamily="18" charset="0"/>
                          </a:rPr>
                          <m:t>𝑆</m:t>
                        </m:r>
                        <m:r>
                          <a:rPr lang="en-US" i="1">
                            <a:latin typeface="Cambria Math" panose="02040503050406030204" pitchFamily="18" charset="0"/>
                            <a:ea typeface="Cambria Math" panose="02040503050406030204" pitchFamily="18" charset="0"/>
                          </a:rPr>
                          <m:t>/</m:t>
                        </m:r>
                        <m:rad>
                          <m:radPr>
                            <m:degHide m:val="on"/>
                            <m:ctrlPr>
                              <a:rPr lang="en-US" i="1">
                                <a:latin typeface="Cambria Math" panose="02040503050406030204" pitchFamily="18" charset="0"/>
                              </a:rPr>
                            </m:ctrlPr>
                          </m:radPr>
                          <m:deg/>
                          <m:e>
                            <m:r>
                              <a:rPr lang="en-US" i="1">
                                <a:latin typeface="Cambria Math" panose="02040503050406030204" pitchFamily="18" charset="0"/>
                              </a:rPr>
                              <m:t>𝑛</m:t>
                            </m:r>
                          </m:e>
                        </m:rad>
                      </m:den>
                    </m:f>
                  </m:oMath>
                </a14:m>
                <a:r>
                  <a:rPr lang="en-US" dirty="0"/>
                  <a:t> (if population </a:t>
                </a:r>
                <a:r>
                  <a:rPr lang="en-US" dirty="0" err="1"/>
                  <a:t>sd</a:t>
                </a:r>
                <a:r>
                  <a:rPr lang="en-US" dirty="0"/>
                  <a:t> is unknown)</a:t>
                </a:r>
              </a:p>
              <a:p>
                <a:endParaRPr lang="en-US" dirty="0"/>
              </a:p>
            </p:txBody>
          </p:sp>
        </mc:Choice>
        <mc:Fallback xmlns="">
          <p:sp>
            <p:nvSpPr>
              <p:cNvPr id="2" name="Content Placeholder 1">
                <a:extLst>
                  <a:ext uri="{FF2B5EF4-FFF2-40B4-BE49-F238E27FC236}">
                    <a16:creationId xmlns:a16="http://schemas.microsoft.com/office/drawing/2014/main" id="{5CF9B6E3-46F8-B74F-BD8E-64E1EED729EE}"/>
                  </a:ext>
                </a:extLst>
              </p:cNvPr>
              <p:cNvSpPr>
                <a:spLocks noGrp="1" noRot="1" noChangeAspect="1" noMove="1" noResize="1" noEditPoints="1" noAdjustHandles="1" noChangeArrowheads="1" noChangeShapeType="1" noTextEdit="1"/>
              </p:cNvSpPr>
              <p:nvPr>
                <p:ph idx="1"/>
              </p:nvPr>
            </p:nvSpPr>
            <p:spPr>
              <a:blipFill>
                <a:blip r:embed="rId2"/>
                <a:stretch>
                  <a:fillRect t="-3081"/>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E5313080-E360-5A42-992B-AA4E1A1053B2}"/>
              </a:ext>
            </a:extLst>
          </p:cNvPr>
          <p:cNvSpPr>
            <a:spLocks noGrp="1"/>
          </p:cNvSpPr>
          <p:nvPr>
            <p:ph type="title"/>
          </p:nvPr>
        </p:nvSpPr>
        <p:spPr/>
        <p:txBody>
          <a:bodyPr/>
          <a:lstStyle/>
          <a:p>
            <a:r>
              <a:rPr lang="en-US" dirty="0"/>
              <a:t>Test statistics</a:t>
            </a:r>
          </a:p>
        </p:txBody>
      </p:sp>
    </p:spTree>
    <p:extLst>
      <p:ext uri="{BB962C8B-B14F-4D97-AF65-F5344CB8AC3E}">
        <p14:creationId xmlns:p14="http://schemas.microsoft.com/office/powerpoint/2010/main" val="38937323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35127F-AE5A-DA48-82D6-2235D1BCE670}"/>
              </a:ext>
            </a:extLst>
          </p:cNvPr>
          <p:cNvSpPr>
            <a:spLocks noGrp="1"/>
          </p:cNvSpPr>
          <p:nvPr>
            <p:ph type="ctrTitle"/>
          </p:nvPr>
        </p:nvSpPr>
        <p:spPr/>
        <p:txBody>
          <a:bodyPr/>
          <a:lstStyle/>
          <a:p>
            <a:r>
              <a:rPr lang="en-US" dirty="0" err="1"/>
              <a:t>Corrolation</a:t>
            </a:r>
            <a:endParaRPr lang="en-US" dirty="0"/>
          </a:p>
        </p:txBody>
      </p:sp>
      <p:sp>
        <p:nvSpPr>
          <p:cNvPr id="3" name="Subtitle 2">
            <a:extLst>
              <a:ext uri="{FF2B5EF4-FFF2-40B4-BE49-F238E27FC236}">
                <a16:creationId xmlns:a16="http://schemas.microsoft.com/office/drawing/2014/main" id="{9706EBE1-79AC-9846-A2B0-757468C59231}"/>
              </a:ext>
            </a:extLst>
          </p:cNvPr>
          <p:cNvSpPr>
            <a:spLocks noGrp="1"/>
          </p:cNvSpPr>
          <p:nvPr>
            <p:ph type="subTitle" idx="1"/>
          </p:nvPr>
        </p:nvSpPr>
        <p:spPr/>
        <p:txBody>
          <a:bodyPr/>
          <a:lstStyle/>
          <a:p>
            <a:r>
              <a:rPr lang="en-US" dirty="0"/>
              <a:t>Cor()</a:t>
            </a:r>
          </a:p>
        </p:txBody>
      </p:sp>
    </p:spTree>
    <p:extLst>
      <p:ext uri="{BB962C8B-B14F-4D97-AF65-F5344CB8AC3E}">
        <p14:creationId xmlns:p14="http://schemas.microsoft.com/office/powerpoint/2010/main" val="355634546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Text, email&#10;&#10;Description automatically generated">
            <a:extLst>
              <a:ext uri="{FF2B5EF4-FFF2-40B4-BE49-F238E27FC236}">
                <a16:creationId xmlns:a16="http://schemas.microsoft.com/office/drawing/2014/main" id="{88432EB4-6E48-0348-AB76-5E26185E32E2}"/>
              </a:ext>
            </a:extLst>
          </p:cNvPr>
          <p:cNvPicPr>
            <a:picLocks noChangeAspect="1"/>
          </p:cNvPicPr>
          <p:nvPr/>
        </p:nvPicPr>
        <p:blipFill>
          <a:blip r:embed="rId2"/>
          <a:stretch>
            <a:fillRect/>
          </a:stretch>
        </p:blipFill>
        <p:spPr>
          <a:xfrm>
            <a:off x="0" y="195614"/>
            <a:ext cx="9144000" cy="6466772"/>
          </a:xfrm>
          <a:prstGeom prst="rect">
            <a:avLst/>
          </a:prstGeom>
        </p:spPr>
      </p:pic>
    </p:spTree>
    <p:extLst>
      <p:ext uri="{BB962C8B-B14F-4D97-AF65-F5344CB8AC3E}">
        <p14:creationId xmlns:p14="http://schemas.microsoft.com/office/powerpoint/2010/main" val="292726835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Graphical user interface, text, email&#10;&#10;Description automatically generated">
            <a:extLst>
              <a:ext uri="{FF2B5EF4-FFF2-40B4-BE49-F238E27FC236}">
                <a16:creationId xmlns:a16="http://schemas.microsoft.com/office/drawing/2014/main" id="{59F05385-6F11-F146-B063-7A26384B2386}"/>
              </a:ext>
            </a:extLst>
          </p:cNvPr>
          <p:cNvPicPr>
            <a:picLocks noChangeAspect="1"/>
          </p:cNvPicPr>
          <p:nvPr/>
        </p:nvPicPr>
        <p:blipFill>
          <a:blip r:embed="rId2"/>
          <a:stretch>
            <a:fillRect/>
          </a:stretch>
        </p:blipFill>
        <p:spPr>
          <a:xfrm>
            <a:off x="0" y="415376"/>
            <a:ext cx="9144000" cy="6027248"/>
          </a:xfrm>
          <a:prstGeom prst="rect">
            <a:avLst/>
          </a:prstGeom>
        </p:spPr>
      </p:pic>
    </p:spTree>
    <p:extLst>
      <p:ext uri="{BB962C8B-B14F-4D97-AF65-F5344CB8AC3E}">
        <p14:creationId xmlns:p14="http://schemas.microsoft.com/office/powerpoint/2010/main" val="91012576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Graphical user interface, text, application, email&#10;&#10;Description automatically generated">
            <a:extLst>
              <a:ext uri="{FF2B5EF4-FFF2-40B4-BE49-F238E27FC236}">
                <a16:creationId xmlns:a16="http://schemas.microsoft.com/office/drawing/2014/main" id="{11E5AFF3-8D35-8E49-8E47-396F158F5E94}"/>
              </a:ext>
            </a:extLst>
          </p:cNvPr>
          <p:cNvPicPr>
            <a:picLocks noChangeAspect="1"/>
          </p:cNvPicPr>
          <p:nvPr/>
        </p:nvPicPr>
        <p:blipFill>
          <a:blip r:embed="rId2"/>
          <a:stretch>
            <a:fillRect/>
          </a:stretch>
        </p:blipFill>
        <p:spPr>
          <a:xfrm>
            <a:off x="0" y="182995"/>
            <a:ext cx="9144000" cy="6492010"/>
          </a:xfrm>
          <a:prstGeom prst="rect">
            <a:avLst/>
          </a:prstGeom>
        </p:spPr>
      </p:pic>
    </p:spTree>
    <p:extLst>
      <p:ext uri="{BB962C8B-B14F-4D97-AF65-F5344CB8AC3E}">
        <p14:creationId xmlns:p14="http://schemas.microsoft.com/office/powerpoint/2010/main" val="21710849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35127F-AE5A-DA48-82D6-2235D1BCE670}"/>
              </a:ext>
            </a:extLst>
          </p:cNvPr>
          <p:cNvSpPr>
            <a:spLocks noGrp="1"/>
          </p:cNvSpPr>
          <p:nvPr>
            <p:ph type="ctrTitle"/>
          </p:nvPr>
        </p:nvSpPr>
        <p:spPr/>
        <p:txBody>
          <a:bodyPr/>
          <a:lstStyle/>
          <a:p>
            <a:r>
              <a:rPr lang="en-US" dirty="0"/>
              <a:t>Linear Regression</a:t>
            </a:r>
          </a:p>
        </p:txBody>
      </p:sp>
      <p:sp>
        <p:nvSpPr>
          <p:cNvPr id="3" name="Subtitle 2">
            <a:extLst>
              <a:ext uri="{FF2B5EF4-FFF2-40B4-BE49-F238E27FC236}">
                <a16:creationId xmlns:a16="http://schemas.microsoft.com/office/drawing/2014/main" id="{9706EBE1-79AC-9846-A2B0-757468C59231}"/>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89227637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picture containing graphical user interface&#10;&#10;Description automatically generated">
            <a:extLst>
              <a:ext uri="{FF2B5EF4-FFF2-40B4-BE49-F238E27FC236}">
                <a16:creationId xmlns:a16="http://schemas.microsoft.com/office/drawing/2014/main" id="{E67FFFC0-39BF-064B-B4F0-20D6C2F4D84E}"/>
              </a:ext>
            </a:extLst>
          </p:cNvPr>
          <p:cNvPicPr>
            <a:picLocks noChangeAspect="1"/>
          </p:cNvPicPr>
          <p:nvPr/>
        </p:nvPicPr>
        <p:blipFill>
          <a:blip r:embed="rId2"/>
          <a:stretch>
            <a:fillRect/>
          </a:stretch>
        </p:blipFill>
        <p:spPr>
          <a:xfrm>
            <a:off x="0" y="129575"/>
            <a:ext cx="9144000" cy="6598850"/>
          </a:xfrm>
          <a:prstGeom prst="rect">
            <a:avLst/>
          </a:prstGeom>
        </p:spPr>
      </p:pic>
    </p:spTree>
    <p:extLst>
      <p:ext uri="{BB962C8B-B14F-4D97-AF65-F5344CB8AC3E}">
        <p14:creationId xmlns:p14="http://schemas.microsoft.com/office/powerpoint/2010/main" val="118208866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hart&#10;&#10;Description automatically generated with medium confidence">
            <a:extLst>
              <a:ext uri="{FF2B5EF4-FFF2-40B4-BE49-F238E27FC236}">
                <a16:creationId xmlns:a16="http://schemas.microsoft.com/office/drawing/2014/main" id="{5032496A-5C71-7C43-976B-DE935811280C}"/>
              </a:ext>
            </a:extLst>
          </p:cNvPr>
          <p:cNvPicPr>
            <a:picLocks noChangeAspect="1"/>
          </p:cNvPicPr>
          <p:nvPr/>
        </p:nvPicPr>
        <p:blipFill>
          <a:blip r:embed="rId2"/>
          <a:stretch>
            <a:fillRect/>
          </a:stretch>
        </p:blipFill>
        <p:spPr>
          <a:xfrm>
            <a:off x="0" y="148264"/>
            <a:ext cx="9144000" cy="6561472"/>
          </a:xfrm>
          <a:prstGeom prst="rect">
            <a:avLst/>
          </a:prstGeom>
        </p:spPr>
      </p:pic>
    </p:spTree>
    <p:extLst>
      <p:ext uri="{BB962C8B-B14F-4D97-AF65-F5344CB8AC3E}">
        <p14:creationId xmlns:p14="http://schemas.microsoft.com/office/powerpoint/2010/main" val="362369593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Graphical user interface, text, application, email&#10;&#10;Description automatically generated">
            <a:extLst>
              <a:ext uri="{FF2B5EF4-FFF2-40B4-BE49-F238E27FC236}">
                <a16:creationId xmlns:a16="http://schemas.microsoft.com/office/drawing/2014/main" id="{5AC8CBCC-7273-104D-8541-4862DBDE7AC0}"/>
              </a:ext>
            </a:extLst>
          </p:cNvPr>
          <p:cNvPicPr>
            <a:picLocks noChangeAspect="1"/>
          </p:cNvPicPr>
          <p:nvPr/>
        </p:nvPicPr>
        <p:blipFill>
          <a:blip r:embed="rId3"/>
          <a:stretch>
            <a:fillRect/>
          </a:stretch>
        </p:blipFill>
        <p:spPr>
          <a:xfrm>
            <a:off x="0" y="98570"/>
            <a:ext cx="9144000" cy="6660859"/>
          </a:xfrm>
          <a:prstGeom prst="rect">
            <a:avLst/>
          </a:prstGeom>
        </p:spPr>
      </p:pic>
    </p:spTree>
    <p:extLst>
      <p:ext uri="{BB962C8B-B14F-4D97-AF65-F5344CB8AC3E}">
        <p14:creationId xmlns:p14="http://schemas.microsoft.com/office/powerpoint/2010/main" val="355544225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Text, letter&#10;&#10;Description automatically generated">
            <a:extLst>
              <a:ext uri="{FF2B5EF4-FFF2-40B4-BE49-F238E27FC236}">
                <a16:creationId xmlns:a16="http://schemas.microsoft.com/office/drawing/2014/main" id="{80EDD7DF-39A4-6A49-83B5-BACA0B9DCCF7}"/>
              </a:ext>
            </a:extLst>
          </p:cNvPr>
          <p:cNvPicPr>
            <a:picLocks noChangeAspect="1"/>
          </p:cNvPicPr>
          <p:nvPr/>
        </p:nvPicPr>
        <p:blipFill>
          <a:blip r:embed="rId3"/>
          <a:stretch>
            <a:fillRect/>
          </a:stretch>
        </p:blipFill>
        <p:spPr>
          <a:xfrm>
            <a:off x="0" y="127233"/>
            <a:ext cx="9144000" cy="6603533"/>
          </a:xfrm>
          <a:prstGeom prst="rect">
            <a:avLst/>
          </a:prstGeom>
        </p:spPr>
      </p:pic>
    </p:spTree>
    <p:extLst>
      <p:ext uri="{BB962C8B-B14F-4D97-AF65-F5344CB8AC3E}">
        <p14:creationId xmlns:p14="http://schemas.microsoft.com/office/powerpoint/2010/main" val="288704839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6571D41-C717-8E41-8869-B1C504026281}"/>
              </a:ext>
            </a:extLst>
          </p:cNvPr>
          <p:cNvSpPr>
            <a:spLocks noGrp="1"/>
          </p:cNvSpPr>
          <p:nvPr>
            <p:ph idx="1"/>
          </p:nvPr>
        </p:nvSpPr>
        <p:spPr/>
        <p:txBody>
          <a:bodyPr/>
          <a:lstStyle/>
          <a:p>
            <a:r>
              <a:rPr lang="en-US" dirty="0"/>
              <a:t>Adding any new parameter always results to increase in R</a:t>
            </a:r>
            <a:r>
              <a:rPr lang="en-US" baseline="30000" dirty="0"/>
              <a:t>2</a:t>
            </a:r>
            <a:r>
              <a:rPr lang="en-US" dirty="0"/>
              <a:t>, even if the new parameter is not significant</a:t>
            </a:r>
          </a:p>
          <a:p>
            <a:r>
              <a:rPr lang="en-US" dirty="0"/>
              <a:t>As number of parameters increase, R</a:t>
            </a:r>
            <a:r>
              <a:rPr lang="en-US" baseline="30000" dirty="0"/>
              <a:t>2</a:t>
            </a:r>
            <a:r>
              <a:rPr lang="en-US" dirty="0"/>
              <a:t> approaches 1</a:t>
            </a:r>
          </a:p>
          <a:p>
            <a:r>
              <a:rPr lang="en-US" dirty="0"/>
              <a:t>Overfitting would also make R</a:t>
            </a:r>
            <a:r>
              <a:rPr lang="en-US" baseline="30000" dirty="0"/>
              <a:t>2</a:t>
            </a:r>
            <a:r>
              <a:rPr lang="en-US" dirty="0"/>
              <a:t> approach one ( -&gt; 1)</a:t>
            </a:r>
          </a:p>
          <a:p>
            <a:r>
              <a:rPr lang="en-US" dirty="0"/>
              <a:t>Can not be used to assess multiple parameters</a:t>
            </a:r>
          </a:p>
        </p:txBody>
      </p:sp>
      <p:sp>
        <p:nvSpPr>
          <p:cNvPr id="3" name="Title 2">
            <a:extLst>
              <a:ext uri="{FF2B5EF4-FFF2-40B4-BE49-F238E27FC236}">
                <a16:creationId xmlns:a16="http://schemas.microsoft.com/office/drawing/2014/main" id="{0A2D3FDE-D832-1741-85F0-420FBAAA3038}"/>
              </a:ext>
            </a:extLst>
          </p:cNvPr>
          <p:cNvSpPr>
            <a:spLocks noGrp="1"/>
          </p:cNvSpPr>
          <p:nvPr>
            <p:ph type="title"/>
          </p:nvPr>
        </p:nvSpPr>
        <p:spPr/>
        <p:txBody>
          <a:bodyPr/>
          <a:lstStyle/>
          <a:p>
            <a:r>
              <a:rPr lang="en-US" dirty="0"/>
              <a:t>R</a:t>
            </a:r>
            <a:r>
              <a:rPr lang="en-US" baseline="30000" dirty="0"/>
              <a:t>2</a:t>
            </a:r>
            <a:r>
              <a:rPr lang="en-US" dirty="0"/>
              <a:t> Issues</a:t>
            </a:r>
          </a:p>
        </p:txBody>
      </p:sp>
    </p:spTree>
    <p:extLst>
      <p:ext uri="{BB962C8B-B14F-4D97-AF65-F5344CB8AC3E}">
        <p14:creationId xmlns:p14="http://schemas.microsoft.com/office/powerpoint/2010/main" val="249229070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Graphical user interface, text, application, email&#10;&#10;Description automatically generated">
            <a:extLst>
              <a:ext uri="{FF2B5EF4-FFF2-40B4-BE49-F238E27FC236}">
                <a16:creationId xmlns:a16="http://schemas.microsoft.com/office/drawing/2014/main" id="{9505D009-E4CA-F745-A333-5FAC69879D70}"/>
              </a:ext>
            </a:extLst>
          </p:cNvPr>
          <p:cNvPicPr>
            <a:picLocks noChangeAspect="1"/>
          </p:cNvPicPr>
          <p:nvPr/>
        </p:nvPicPr>
        <p:blipFill>
          <a:blip r:embed="rId3"/>
          <a:stretch>
            <a:fillRect/>
          </a:stretch>
        </p:blipFill>
        <p:spPr>
          <a:xfrm>
            <a:off x="0" y="126066"/>
            <a:ext cx="9144000" cy="6605868"/>
          </a:xfrm>
          <a:prstGeom prst="rect">
            <a:avLst/>
          </a:prstGeom>
        </p:spPr>
      </p:pic>
    </p:spTree>
    <p:extLst>
      <p:ext uri="{BB962C8B-B14F-4D97-AF65-F5344CB8AC3E}">
        <p14:creationId xmlns:p14="http://schemas.microsoft.com/office/powerpoint/2010/main" val="320688848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3B2DC0EC-F7FC-6C47-89D6-46A766B1F7F6}"/>
                  </a:ext>
                </a:extLst>
              </p:cNvPr>
              <p:cNvSpPr>
                <a:spLocks noGrp="1"/>
              </p:cNvSpPr>
              <p:nvPr>
                <p:ph idx="1"/>
              </p:nvPr>
            </p:nvSpPr>
            <p:spPr/>
            <p:txBody>
              <a:bodyPr/>
              <a:lstStyle/>
              <a:p>
                <a:r>
                  <a:rPr lang="en-US" dirty="0"/>
                  <a:t>Adjusted R2 can be written as follows which make it easier to understand</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𝑅</m:t>
                      </m:r>
                      <m:r>
                        <a:rPr lang="en-US" b="0" i="1" baseline="30000" smtClean="0">
                          <a:latin typeface="Cambria Math" panose="02040503050406030204" pitchFamily="18" charset="0"/>
                        </a:rPr>
                        <m:t>2</m:t>
                      </m:r>
                      <m:r>
                        <a:rPr lang="en-US" b="0" i="1" baseline="-25000" smtClean="0">
                          <a:latin typeface="Cambria Math" panose="02040503050406030204" pitchFamily="18" charset="0"/>
                        </a:rPr>
                        <m:t>𝑎𝑑𝑗</m:t>
                      </m:r>
                      <m:r>
                        <a:rPr lang="en-US" b="0" i="1" smtClean="0">
                          <a:latin typeface="Cambria Math" panose="02040503050406030204" pitchFamily="18" charset="0"/>
                        </a:rPr>
                        <m:t>=1−(</m:t>
                      </m:r>
                      <m:f>
                        <m:fPr>
                          <m:ctrlPr>
                            <a:rPr lang="en-US" b="0" i="1" smtClean="0">
                              <a:latin typeface="Cambria Math" panose="02040503050406030204" pitchFamily="18" charset="0"/>
                            </a:rPr>
                          </m:ctrlPr>
                        </m:fPr>
                        <m:num>
                          <m:f>
                            <m:fPr>
                              <m:type m:val="skw"/>
                              <m:ctrlPr>
                                <a:rPr lang="en-US" b="0" i="1" smtClean="0">
                                  <a:latin typeface="Cambria Math" panose="02040503050406030204" pitchFamily="18" charset="0"/>
                                </a:rPr>
                              </m:ctrlPr>
                            </m:fPr>
                            <m:num>
                              <m:r>
                                <a:rPr lang="en-US" b="0" i="1" smtClean="0">
                                  <a:latin typeface="Cambria Math" panose="02040503050406030204" pitchFamily="18" charset="0"/>
                                </a:rPr>
                                <m:t>𝑅𝑒𝑠</m:t>
                              </m:r>
                              <m:r>
                                <a:rPr lang="en-US" b="0" i="1" smtClean="0">
                                  <a:latin typeface="Cambria Math" panose="02040503050406030204" pitchFamily="18" charset="0"/>
                                </a:rPr>
                                <m:t> </m:t>
                              </m:r>
                              <m:r>
                                <a:rPr lang="en-US" b="0" i="1" smtClean="0">
                                  <a:latin typeface="Cambria Math" panose="02040503050406030204" pitchFamily="18" charset="0"/>
                                </a:rPr>
                                <m:t>𝑆𝑆</m:t>
                              </m:r>
                            </m:num>
                            <m:den>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m:t>
                              </m:r>
                              <m:r>
                                <a:rPr lang="en-US" b="0" i="1" smtClean="0">
                                  <a:latin typeface="Cambria Math" panose="02040503050406030204" pitchFamily="18" charset="0"/>
                                </a:rPr>
                                <m:t>𝑘</m:t>
                              </m:r>
                              <m:r>
                                <a:rPr lang="en-US" b="0" i="1" smtClean="0">
                                  <a:latin typeface="Cambria Math" panose="02040503050406030204" pitchFamily="18" charset="0"/>
                                </a:rPr>
                                <m:t>−1)</m:t>
                              </m:r>
                            </m:den>
                          </m:f>
                        </m:num>
                        <m:den>
                          <m:f>
                            <m:fPr>
                              <m:type m:val="skw"/>
                              <m:ctrlPr>
                                <a:rPr lang="en-US" b="0" i="1" smtClean="0">
                                  <a:latin typeface="Cambria Math" panose="02040503050406030204" pitchFamily="18" charset="0"/>
                                </a:rPr>
                              </m:ctrlPr>
                            </m:fPr>
                            <m:num>
                              <m:r>
                                <a:rPr lang="en-US" b="0" i="1" smtClean="0">
                                  <a:latin typeface="Cambria Math" panose="02040503050406030204" pitchFamily="18" charset="0"/>
                                </a:rPr>
                                <m:t>𝑇𝑜𝑡𝑎𝑙</m:t>
                              </m:r>
                              <m:r>
                                <a:rPr lang="en-US" b="0" i="1" smtClean="0">
                                  <a:latin typeface="Cambria Math" panose="02040503050406030204" pitchFamily="18" charset="0"/>
                                </a:rPr>
                                <m:t> </m:t>
                              </m:r>
                              <m:r>
                                <a:rPr lang="en-US" b="0" i="1" smtClean="0">
                                  <a:latin typeface="Cambria Math" panose="02040503050406030204" pitchFamily="18" charset="0"/>
                                </a:rPr>
                                <m:t>𝑆𝑆</m:t>
                              </m:r>
                            </m:num>
                            <m:den>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−1)</m:t>
                              </m:r>
                            </m:den>
                          </m:f>
                        </m:den>
                      </m:f>
                      <m:r>
                        <a:rPr lang="en-US" b="0" i="1" smtClean="0">
                          <a:latin typeface="Cambria Math" panose="02040503050406030204" pitchFamily="18" charset="0"/>
                        </a:rPr>
                        <m:t>)</m:t>
                      </m:r>
                    </m:oMath>
                  </m:oMathPara>
                </a14:m>
                <a:endParaRPr lang="en-US" dirty="0"/>
              </a:p>
              <a:p>
                <a:pPr marL="0" indent="0">
                  <a:buNone/>
                </a:pPr>
                <a:r>
                  <a:rPr lang="en-US" dirty="0"/>
                  <a:t>Note: simple equation and no need to calculate standard deviation of noise and also works for </a:t>
                </a:r>
                <a:r>
                  <a:rPr lang="en-US" b="1" i="1" dirty="0"/>
                  <a:t>n&lt;p</a:t>
                </a:r>
                <a:r>
                  <a:rPr lang="en-US" dirty="0"/>
                  <a:t>.</a:t>
                </a:r>
              </a:p>
            </p:txBody>
          </p:sp>
        </mc:Choice>
        <mc:Fallback xmlns="">
          <p:sp>
            <p:nvSpPr>
              <p:cNvPr id="2" name="Content Placeholder 1">
                <a:extLst>
                  <a:ext uri="{FF2B5EF4-FFF2-40B4-BE49-F238E27FC236}">
                    <a16:creationId xmlns:a16="http://schemas.microsoft.com/office/drawing/2014/main" id="{3B2DC0EC-F7FC-6C47-89D6-46A766B1F7F6}"/>
                  </a:ext>
                </a:extLst>
              </p:cNvPr>
              <p:cNvSpPr>
                <a:spLocks noGrp="1" noRot="1" noChangeAspect="1" noMove="1" noResize="1" noEditPoints="1" noAdjustHandles="1" noChangeArrowheads="1" noChangeShapeType="1" noTextEdit="1"/>
              </p:cNvSpPr>
              <p:nvPr>
                <p:ph idx="1"/>
              </p:nvPr>
            </p:nvSpPr>
            <p:spPr>
              <a:blipFill>
                <a:blip r:embed="rId3"/>
                <a:stretch>
                  <a:fillRect l="-1852" t="-1681"/>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D0E14989-DF2F-4144-A2C6-DCBB36BC41AD}"/>
              </a:ext>
            </a:extLst>
          </p:cNvPr>
          <p:cNvSpPr>
            <a:spLocks noGrp="1"/>
          </p:cNvSpPr>
          <p:nvPr>
            <p:ph type="title"/>
          </p:nvPr>
        </p:nvSpPr>
        <p:spPr/>
        <p:txBody>
          <a:bodyPr/>
          <a:lstStyle/>
          <a:p>
            <a:r>
              <a:rPr lang="en-US" dirty="0"/>
              <a:t>Another way of writing R</a:t>
            </a:r>
            <a:r>
              <a:rPr lang="en-US" baseline="30000" dirty="0"/>
              <a:t>2</a:t>
            </a:r>
          </a:p>
        </p:txBody>
      </p:sp>
    </p:spTree>
    <p:extLst>
      <p:ext uri="{BB962C8B-B14F-4D97-AF65-F5344CB8AC3E}">
        <p14:creationId xmlns:p14="http://schemas.microsoft.com/office/powerpoint/2010/main" val="205338969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8F5153-F6F7-FD48-BE41-726C1F52EE4A}"/>
              </a:ext>
            </a:extLst>
          </p:cNvPr>
          <p:cNvSpPr>
            <a:spLocks noGrp="1"/>
          </p:cNvSpPr>
          <p:nvPr>
            <p:ph type="ctrTitle"/>
          </p:nvPr>
        </p:nvSpPr>
        <p:spPr/>
        <p:txBody>
          <a:bodyPr/>
          <a:lstStyle/>
          <a:p>
            <a:r>
              <a:rPr lang="en-US" dirty="0"/>
              <a:t>One parameter – Linear Regression </a:t>
            </a:r>
          </a:p>
        </p:txBody>
      </p:sp>
      <p:sp>
        <p:nvSpPr>
          <p:cNvPr id="3" name="Subtitle 2">
            <a:extLst>
              <a:ext uri="{FF2B5EF4-FFF2-40B4-BE49-F238E27FC236}">
                <a16:creationId xmlns:a16="http://schemas.microsoft.com/office/drawing/2014/main" id="{57DE8756-E1BE-2345-A12D-EE4B8A82F496}"/>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92569468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Graphical user interface, text, application, email&#10;&#10;Description automatically generated">
            <a:extLst>
              <a:ext uri="{FF2B5EF4-FFF2-40B4-BE49-F238E27FC236}">
                <a16:creationId xmlns:a16="http://schemas.microsoft.com/office/drawing/2014/main" id="{3F0785CF-757D-E74B-A497-712C5B5DA9FF}"/>
              </a:ext>
            </a:extLst>
          </p:cNvPr>
          <p:cNvPicPr>
            <a:picLocks noChangeAspect="1"/>
          </p:cNvPicPr>
          <p:nvPr/>
        </p:nvPicPr>
        <p:blipFill>
          <a:blip r:embed="rId2"/>
          <a:stretch>
            <a:fillRect/>
          </a:stretch>
        </p:blipFill>
        <p:spPr>
          <a:xfrm>
            <a:off x="0" y="111563"/>
            <a:ext cx="9144000" cy="6634873"/>
          </a:xfrm>
          <a:prstGeom prst="rect">
            <a:avLst/>
          </a:prstGeom>
        </p:spPr>
      </p:pic>
    </p:spTree>
    <p:extLst>
      <p:ext uri="{BB962C8B-B14F-4D97-AF65-F5344CB8AC3E}">
        <p14:creationId xmlns:p14="http://schemas.microsoft.com/office/powerpoint/2010/main" val="388289912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Text&#10;&#10;Description automatically generated">
            <a:extLst>
              <a:ext uri="{FF2B5EF4-FFF2-40B4-BE49-F238E27FC236}">
                <a16:creationId xmlns:a16="http://schemas.microsoft.com/office/drawing/2014/main" id="{0634830D-1FCC-634D-B012-5BB14E47ADF4}"/>
              </a:ext>
            </a:extLst>
          </p:cNvPr>
          <p:cNvPicPr>
            <a:picLocks noChangeAspect="1"/>
          </p:cNvPicPr>
          <p:nvPr/>
        </p:nvPicPr>
        <p:blipFill>
          <a:blip r:embed="rId3"/>
          <a:stretch>
            <a:fillRect/>
          </a:stretch>
        </p:blipFill>
        <p:spPr>
          <a:xfrm>
            <a:off x="0" y="344581"/>
            <a:ext cx="9144000" cy="6513419"/>
          </a:xfrm>
          <a:prstGeom prst="rect">
            <a:avLst/>
          </a:prstGeom>
        </p:spPr>
      </p:pic>
      <p:sp>
        <p:nvSpPr>
          <p:cNvPr id="2" name="TextBox 1">
            <a:extLst>
              <a:ext uri="{FF2B5EF4-FFF2-40B4-BE49-F238E27FC236}">
                <a16:creationId xmlns:a16="http://schemas.microsoft.com/office/drawing/2014/main" id="{AEB5B099-BAF0-3E3A-BCE7-C1D3555A42C3}"/>
              </a:ext>
            </a:extLst>
          </p:cNvPr>
          <p:cNvSpPr txBox="1"/>
          <p:nvPr/>
        </p:nvSpPr>
        <p:spPr>
          <a:xfrm>
            <a:off x="2615878" y="2987831"/>
            <a:ext cx="509286" cy="613459"/>
          </a:xfrm>
          <a:prstGeom prst="rect">
            <a:avLst/>
          </a:prstGeom>
          <a:solidFill>
            <a:schemeClr val="bg1"/>
          </a:solidFill>
        </p:spPr>
        <p:txBody>
          <a:bodyPr vert="horz" wrap="none" lIns="91440" tIns="45720" rIns="91440" bIns="45720" rtlCol="0">
            <a:normAutofit/>
          </a:bodyPr>
          <a:lstStyle/>
          <a:p>
            <a:r>
              <a:rPr lang="en-US" sz="2400" b="1" dirty="0">
                <a:solidFill>
                  <a:prstClr val="black"/>
                </a:solidFill>
                <a:latin typeface="Source Sans Pro Light"/>
                <a:cs typeface="Source Sans Pro Light"/>
              </a:rPr>
              <a:t>SE</a:t>
            </a:r>
          </a:p>
        </p:txBody>
      </p:sp>
    </p:spTree>
    <p:extLst>
      <p:ext uri="{BB962C8B-B14F-4D97-AF65-F5344CB8AC3E}">
        <p14:creationId xmlns:p14="http://schemas.microsoft.com/office/powerpoint/2010/main" val="279790838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Graphical user interface, text, application, email&#10;&#10;Description automatically generated">
            <a:extLst>
              <a:ext uri="{FF2B5EF4-FFF2-40B4-BE49-F238E27FC236}">
                <a16:creationId xmlns:a16="http://schemas.microsoft.com/office/drawing/2014/main" id="{0D73CCB6-B883-C743-BD82-AEA042371CDD}"/>
              </a:ext>
            </a:extLst>
          </p:cNvPr>
          <p:cNvPicPr>
            <a:picLocks noChangeAspect="1"/>
          </p:cNvPicPr>
          <p:nvPr/>
        </p:nvPicPr>
        <p:blipFill>
          <a:blip r:embed="rId2"/>
          <a:stretch>
            <a:fillRect/>
          </a:stretch>
        </p:blipFill>
        <p:spPr>
          <a:xfrm>
            <a:off x="0" y="141694"/>
            <a:ext cx="9144000" cy="6574612"/>
          </a:xfrm>
          <a:prstGeom prst="rect">
            <a:avLst/>
          </a:prstGeom>
        </p:spPr>
      </p:pic>
    </p:spTree>
    <p:extLst>
      <p:ext uri="{BB962C8B-B14F-4D97-AF65-F5344CB8AC3E}">
        <p14:creationId xmlns:p14="http://schemas.microsoft.com/office/powerpoint/2010/main" val="192763927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Graphical user interface, text, application, email&#10;&#10;Description automatically generated">
            <a:extLst>
              <a:ext uri="{FF2B5EF4-FFF2-40B4-BE49-F238E27FC236}">
                <a16:creationId xmlns:a16="http://schemas.microsoft.com/office/drawing/2014/main" id="{79FAAFD2-1650-DB47-B4A8-8B501D09B47F}"/>
              </a:ext>
            </a:extLst>
          </p:cNvPr>
          <p:cNvPicPr>
            <a:picLocks noChangeAspect="1"/>
          </p:cNvPicPr>
          <p:nvPr/>
        </p:nvPicPr>
        <p:blipFill>
          <a:blip r:embed="rId2"/>
          <a:stretch>
            <a:fillRect/>
          </a:stretch>
        </p:blipFill>
        <p:spPr>
          <a:xfrm>
            <a:off x="0" y="131272"/>
            <a:ext cx="9144000" cy="6618033"/>
          </a:xfrm>
          <a:prstGeom prst="rect">
            <a:avLst/>
          </a:prstGeom>
        </p:spPr>
      </p:pic>
    </p:spTree>
    <p:extLst>
      <p:ext uri="{BB962C8B-B14F-4D97-AF65-F5344CB8AC3E}">
        <p14:creationId xmlns:p14="http://schemas.microsoft.com/office/powerpoint/2010/main" val="224052962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DC17C2E-44BB-F74B-B417-19E9B992101C}"/>
              </a:ext>
            </a:extLst>
          </p:cNvPr>
          <p:cNvSpPr>
            <a:spLocks noGrp="1"/>
          </p:cNvSpPr>
          <p:nvPr>
            <p:ph idx="1"/>
          </p:nvPr>
        </p:nvSpPr>
        <p:spPr/>
        <p:txBody>
          <a:bodyPr>
            <a:normAutofit lnSpcReduction="10000"/>
          </a:bodyPr>
          <a:lstStyle/>
          <a:p>
            <a:r>
              <a:rPr lang="en-US" dirty="0"/>
              <a:t>For the company X we calculated its stock value as a linear function of its PE ratio, which is </a:t>
            </a:r>
          </a:p>
          <a:p>
            <a:r>
              <a:rPr lang="en-US" dirty="0" err="1"/>
              <a:t>StockValue</a:t>
            </a:r>
            <a:r>
              <a:rPr lang="en-US" dirty="0"/>
              <a:t> = 6.25 + 20.3 x PE</a:t>
            </a:r>
          </a:p>
          <a:p>
            <a:r>
              <a:rPr lang="en-US" dirty="0"/>
              <a:t>Sum of residual square = 1848</a:t>
            </a:r>
          </a:p>
          <a:p>
            <a:r>
              <a:rPr lang="en-US" dirty="0"/>
              <a:t>PE ratio has been gathered every quarter for 2 years – variance of PE samples = 3.6</a:t>
            </a:r>
          </a:p>
          <a:p>
            <a:pPr marL="0" indent="0">
              <a:buNone/>
            </a:pPr>
            <a:r>
              <a:rPr lang="en-US" dirty="0"/>
              <a:t>Question: is there a linear relationship with 95% confidence? </a:t>
            </a:r>
          </a:p>
        </p:txBody>
      </p:sp>
      <p:sp>
        <p:nvSpPr>
          <p:cNvPr id="3" name="Title 2">
            <a:extLst>
              <a:ext uri="{FF2B5EF4-FFF2-40B4-BE49-F238E27FC236}">
                <a16:creationId xmlns:a16="http://schemas.microsoft.com/office/drawing/2014/main" id="{6B17B573-1848-974F-AA7B-EE15B859D7E5}"/>
              </a:ext>
            </a:extLst>
          </p:cNvPr>
          <p:cNvSpPr>
            <a:spLocks noGrp="1"/>
          </p:cNvSpPr>
          <p:nvPr>
            <p:ph type="title"/>
          </p:nvPr>
        </p:nvSpPr>
        <p:spPr/>
        <p:txBody>
          <a:bodyPr>
            <a:normAutofit fontScale="90000"/>
          </a:bodyPr>
          <a:lstStyle/>
          <a:p>
            <a:r>
              <a:rPr lang="en-US" dirty="0"/>
              <a:t>Example – Predicting Stock value of company X based on PE</a:t>
            </a:r>
          </a:p>
        </p:txBody>
      </p:sp>
    </p:spTree>
    <p:extLst>
      <p:ext uri="{BB962C8B-B14F-4D97-AF65-F5344CB8AC3E}">
        <p14:creationId xmlns:p14="http://schemas.microsoft.com/office/powerpoint/2010/main" val="161722727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ADC17C2E-44BB-F74B-B417-19E9B992101C}"/>
                  </a:ext>
                </a:extLst>
              </p:cNvPr>
              <p:cNvSpPr>
                <a:spLocks noGrp="1"/>
              </p:cNvSpPr>
              <p:nvPr>
                <p:ph idx="1"/>
              </p:nvPr>
            </p:nvSpPr>
            <p:spPr/>
            <p:txBody>
              <a:bodyPr>
                <a:normAutofit fontScale="92500" lnSpcReduction="20000"/>
              </a:bodyPr>
              <a:lstStyle/>
              <a:p>
                <a:r>
                  <a:rPr lang="en-US" dirty="0"/>
                  <a:t>StockValue = 6.25 + 20.3 x PE</a:t>
                </a:r>
              </a:p>
              <a:p>
                <a:r>
                  <a:rPr lang="en-US" dirty="0"/>
                  <a:t>Sum of residual square = 1848</a:t>
                </a:r>
              </a:p>
              <a:p>
                <a:r>
                  <a:rPr lang="en-US" dirty="0"/>
                  <a:t>Every quarter for 2 years: n=8</a:t>
                </a:r>
              </a:p>
              <a:p>
                <a:r>
                  <a:rPr lang="en-US" dirty="0"/>
                  <a:t>Sum of square of PE samples = 3.6</a:t>
                </a:r>
              </a:p>
              <a:p>
                <a:pPr marL="0" indent="0">
                  <a:buNone/>
                </a:pPr>
                <a:r>
                  <a:rPr lang="en-US" dirty="0"/>
                  <a:t>Solution</a:t>
                </a:r>
              </a:p>
              <a:p>
                <a:r>
                  <a:rPr lang="en-US" dirty="0"/>
                  <a:t>CI = 20.3 +/- qt(0.95, df=8-2) </a:t>
                </a:r>
                <a14:m>
                  <m:oMath xmlns:m="http://schemas.openxmlformats.org/officeDocument/2006/math">
                    <m:r>
                      <a:rPr lang="en-US" i="1" smtClean="0">
                        <a:latin typeface="Cambria Math" panose="02040503050406030204" pitchFamily="18" charset="0"/>
                        <a:ea typeface="Cambria Math" panose="02040503050406030204" pitchFamily="18" charset="0"/>
                      </a:rPr>
                      <m:t>×</m:t>
                    </m:r>
                    <m:rad>
                      <m:radPr>
                        <m:degHide m:val="on"/>
                        <m:ctrlPr>
                          <a:rPr lang="en-US" i="1" smtClean="0">
                            <a:latin typeface="Cambria Math" panose="02040503050406030204" pitchFamily="18" charset="0"/>
                            <a:ea typeface="Cambria Math" panose="02040503050406030204" pitchFamily="18" charset="0"/>
                          </a:rPr>
                        </m:ctrlPr>
                      </m:radPr>
                      <m:deg/>
                      <m:e>
                        <m:f>
                          <m:fPr>
                            <m:ctrlPr>
                              <a:rPr lang="en-US" i="1" smtClean="0">
                                <a:latin typeface="Cambria Math" panose="02040503050406030204" pitchFamily="18" charset="0"/>
                                <a:ea typeface="Cambria Math" panose="02040503050406030204" pitchFamily="18" charset="0"/>
                              </a:rPr>
                            </m:ctrlPr>
                          </m:fPr>
                          <m:num>
                            <m:f>
                              <m:fPr>
                                <m:type m:val="skw"/>
                                <m:ctrlPr>
                                  <a:rPr lang="en-US"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1848</m:t>
                                </m:r>
                              </m:num>
                              <m:den>
                                <m:r>
                                  <a:rPr lang="en-US" b="0" i="1" smtClean="0">
                                    <a:latin typeface="Cambria Math" panose="02040503050406030204" pitchFamily="18" charset="0"/>
                                    <a:ea typeface="Cambria Math" panose="02040503050406030204" pitchFamily="18" charset="0"/>
                                  </a:rPr>
                                  <m:t>(8−2)</m:t>
                                </m:r>
                              </m:den>
                            </m:f>
                          </m:num>
                          <m:den>
                            <m:r>
                              <a:rPr lang="en-US" b="0" i="1" smtClean="0">
                                <a:latin typeface="Cambria Math" panose="02040503050406030204" pitchFamily="18" charset="0"/>
                                <a:ea typeface="Cambria Math" panose="02040503050406030204" pitchFamily="18" charset="0"/>
                              </a:rPr>
                              <m:t>3.6</m:t>
                            </m:r>
                          </m:den>
                        </m:f>
                      </m:e>
                    </m:rad>
                  </m:oMath>
                </a14:m>
                <a:r>
                  <a:rPr lang="en-US" dirty="0"/>
                  <a:t>=20.3+/-17.97</a:t>
                </a:r>
              </a:p>
              <a:p>
                <a:r>
                  <a:rPr lang="en-US" dirty="0"/>
                  <a:t>20.3/9.2496=2.19 , qt(0.95,df=8-2)=1.94318 </a:t>
                </a:r>
              </a:p>
              <a:p>
                <a:r>
                  <a:rPr lang="en-US" dirty="0"/>
                  <a:t>=&gt; </a:t>
                </a:r>
                <a:r>
                  <a:rPr lang="en-US" b="1" dirty="0"/>
                  <a:t>2.19 &gt; 1.943</a:t>
                </a:r>
              </a:p>
              <a:p>
                <a:pPr marL="0" indent="0">
                  <a:buNone/>
                </a:pPr>
                <a:endParaRPr lang="en-US" dirty="0"/>
              </a:p>
              <a:p>
                <a:pPr marL="0" indent="0">
                  <a:buNone/>
                </a:pPr>
                <a:endParaRPr lang="en-US" dirty="0"/>
              </a:p>
            </p:txBody>
          </p:sp>
        </mc:Choice>
        <mc:Fallback xmlns="">
          <p:sp>
            <p:nvSpPr>
              <p:cNvPr id="2" name="Content Placeholder 1">
                <a:extLst>
                  <a:ext uri="{FF2B5EF4-FFF2-40B4-BE49-F238E27FC236}">
                    <a16:creationId xmlns:a16="http://schemas.microsoft.com/office/drawing/2014/main" id="{ADC17C2E-44BB-F74B-B417-19E9B992101C}"/>
                  </a:ext>
                </a:extLst>
              </p:cNvPr>
              <p:cNvSpPr>
                <a:spLocks noGrp="1" noRot="1" noChangeAspect="1" noMove="1" noResize="1" noEditPoints="1" noAdjustHandles="1" noChangeArrowheads="1" noChangeShapeType="1" noTextEdit="1"/>
              </p:cNvSpPr>
              <p:nvPr>
                <p:ph idx="1"/>
              </p:nvPr>
            </p:nvSpPr>
            <p:spPr>
              <a:blipFill>
                <a:blip r:embed="rId2"/>
                <a:stretch>
                  <a:fillRect l="-1852" t="-3361" b="-3641"/>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6B17B573-1848-974F-AA7B-EE15B859D7E5}"/>
              </a:ext>
            </a:extLst>
          </p:cNvPr>
          <p:cNvSpPr>
            <a:spLocks noGrp="1"/>
          </p:cNvSpPr>
          <p:nvPr>
            <p:ph type="title"/>
          </p:nvPr>
        </p:nvSpPr>
        <p:spPr/>
        <p:txBody>
          <a:bodyPr>
            <a:normAutofit fontScale="90000"/>
          </a:bodyPr>
          <a:lstStyle/>
          <a:p>
            <a:r>
              <a:rPr lang="en-US" dirty="0"/>
              <a:t>Example – Predicting Stock value of company X based on PE</a:t>
            </a:r>
          </a:p>
        </p:txBody>
      </p:sp>
    </p:spTree>
    <p:extLst>
      <p:ext uri="{BB962C8B-B14F-4D97-AF65-F5344CB8AC3E}">
        <p14:creationId xmlns:p14="http://schemas.microsoft.com/office/powerpoint/2010/main" val="93127280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4">
            <a:extLst>
              <a:ext uri="{FF2B5EF4-FFF2-40B4-BE49-F238E27FC236}">
                <a16:creationId xmlns:a16="http://schemas.microsoft.com/office/drawing/2014/main" id="{23DB9374-E90D-EE4B-BD8E-9AD7C928EC5C}"/>
              </a:ext>
            </a:extLst>
          </p:cNvPr>
          <p:cNvGraphicFramePr>
            <a:graphicFrameLocks noGrp="1"/>
          </p:cNvGraphicFramePr>
          <p:nvPr>
            <p:ph idx="1"/>
          </p:nvPr>
        </p:nvGraphicFramePr>
        <p:xfrm>
          <a:off x="457200" y="1600200"/>
          <a:ext cx="8229600" cy="2966720"/>
        </p:xfrm>
        <a:graphic>
          <a:graphicData uri="http://schemas.openxmlformats.org/drawingml/2006/table">
            <a:tbl>
              <a:tblPr firstRow="1" bandRow="1">
                <a:tableStyleId>{5C22544A-7EE6-4342-B048-85BDC9FD1C3A}</a:tableStyleId>
              </a:tblPr>
              <a:tblGrid>
                <a:gridCol w="2057400">
                  <a:extLst>
                    <a:ext uri="{9D8B030D-6E8A-4147-A177-3AD203B41FA5}">
                      <a16:colId xmlns:a16="http://schemas.microsoft.com/office/drawing/2014/main" val="3084364861"/>
                    </a:ext>
                  </a:extLst>
                </a:gridCol>
                <a:gridCol w="2057400">
                  <a:extLst>
                    <a:ext uri="{9D8B030D-6E8A-4147-A177-3AD203B41FA5}">
                      <a16:colId xmlns:a16="http://schemas.microsoft.com/office/drawing/2014/main" val="1577103044"/>
                    </a:ext>
                  </a:extLst>
                </a:gridCol>
                <a:gridCol w="2057400">
                  <a:extLst>
                    <a:ext uri="{9D8B030D-6E8A-4147-A177-3AD203B41FA5}">
                      <a16:colId xmlns:a16="http://schemas.microsoft.com/office/drawing/2014/main" val="1728041922"/>
                    </a:ext>
                  </a:extLst>
                </a:gridCol>
                <a:gridCol w="2057400">
                  <a:extLst>
                    <a:ext uri="{9D8B030D-6E8A-4147-A177-3AD203B41FA5}">
                      <a16:colId xmlns:a16="http://schemas.microsoft.com/office/drawing/2014/main" val="3593030882"/>
                    </a:ext>
                  </a:extLst>
                </a:gridCol>
              </a:tblGrid>
              <a:tr h="370840">
                <a:tc>
                  <a:txBody>
                    <a:bodyPr/>
                    <a:lstStyle/>
                    <a:p>
                      <a:pPr algn="ctr"/>
                      <a:r>
                        <a:rPr lang="en-US" dirty="0">
                          <a:solidFill>
                            <a:schemeClr val="tx1"/>
                          </a:solidFill>
                        </a:rPr>
                        <a:t>Age</a:t>
                      </a:r>
                    </a:p>
                  </a:txBody>
                  <a:tcPr/>
                </a:tc>
                <a:tc>
                  <a:txBody>
                    <a:bodyPr/>
                    <a:lstStyle/>
                    <a:p>
                      <a:pPr algn="ctr"/>
                      <a:r>
                        <a:rPr lang="en-US" dirty="0">
                          <a:solidFill>
                            <a:schemeClr val="tx1"/>
                          </a:solidFill>
                        </a:rPr>
                        <a:t>Cholesterol</a:t>
                      </a:r>
                    </a:p>
                  </a:txBody>
                  <a:tcPr/>
                </a:tc>
                <a:tc>
                  <a:txBody>
                    <a:bodyPr/>
                    <a:lstStyle/>
                    <a:p>
                      <a:pPr algn="ctr"/>
                      <a:r>
                        <a:rPr lang="en-US" dirty="0">
                          <a:solidFill>
                            <a:schemeClr val="tx1"/>
                          </a:solidFill>
                        </a:rPr>
                        <a:t>Age</a:t>
                      </a:r>
                    </a:p>
                  </a:txBody>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dirty="0">
                          <a:solidFill>
                            <a:schemeClr val="tx1"/>
                          </a:solidFill>
                        </a:rPr>
                        <a:t>Cholesterol</a:t>
                      </a:r>
                    </a:p>
                  </a:txBody>
                  <a:tcPr/>
                </a:tc>
                <a:extLst>
                  <a:ext uri="{0D108BD9-81ED-4DB2-BD59-A6C34878D82A}">
                    <a16:rowId xmlns:a16="http://schemas.microsoft.com/office/drawing/2014/main" val="604907481"/>
                  </a:ext>
                </a:extLst>
              </a:tr>
              <a:tr h="370840">
                <a:tc>
                  <a:txBody>
                    <a:bodyPr/>
                    <a:lstStyle/>
                    <a:p>
                      <a:r>
                        <a:rPr lang="en-US" dirty="0"/>
                        <a:t>25</a:t>
                      </a:r>
                    </a:p>
                  </a:txBody>
                  <a:tcPr/>
                </a:tc>
                <a:tc>
                  <a:txBody>
                    <a:bodyPr/>
                    <a:lstStyle/>
                    <a:p>
                      <a:r>
                        <a:rPr lang="en-US" dirty="0"/>
                        <a:t>180</a:t>
                      </a:r>
                    </a:p>
                  </a:txBody>
                  <a:tcPr/>
                </a:tc>
                <a:tc>
                  <a:txBody>
                    <a:bodyPr/>
                    <a:lstStyle/>
                    <a:p>
                      <a:r>
                        <a:rPr lang="en-US" dirty="0"/>
                        <a:t>42</a:t>
                      </a:r>
                    </a:p>
                  </a:txBody>
                  <a:tcPr/>
                </a:tc>
                <a:tc>
                  <a:txBody>
                    <a:bodyPr/>
                    <a:lstStyle/>
                    <a:p>
                      <a:r>
                        <a:rPr lang="en-US" dirty="0"/>
                        <a:t>183</a:t>
                      </a:r>
                    </a:p>
                  </a:txBody>
                  <a:tcPr/>
                </a:tc>
                <a:extLst>
                  <a:ext uri="{0D108BD9-81ED-4DB2-BD59-A6C34878D82A}">
                    <a16:rowId xmlns:a16="http://schemas.microsoft.com/office/drawing/2014/main" val="1451188382"/>
                  </a:ext>
                </a:extLst>
              </a:tr>
              <a:tr h="370840">
                <a:tc>
                  <a:txBody>
                    <a:bodyPr/>
                    <a:lstStyle/>
                    <a:p>
                      <a:r>
                        <a:rPr lang="en-US" dirty="0"/>
                        <a:t>25</a:t>
                      </a:r>
                    </a:p>
                  </a:txBody>
                  <a:tcPr/>
                </a:tc>
                <a:tc>
                  <a:txBody>
                    <a:bodyPr/>
                    <a:lstStyle/>
                    <a:p>
                      <a:r>
                        <a:rPr lang="en-US" dirty="0"/>
                        <a:t>195</a:t>
                      </a:r>
                    </a:p>
                  </a:txBody>
                  <a:tcPr/>
                </a:tc>
                <a:tc>
                  <a:txBody>
                    <a:bodyPr/>
                    <a:lstStyle/>
                    <a:p>
                      <a:r>
                        <a:rPr lang="en-US" dirty="0"/>
                        <a:t>48</a:t>
                      </a:r>
                    </a:p>
                  </a:txBody>
                  <a:tcPr/>
                </a:tc>
                <a:tc>
                  <a:txBody>
                    <a:bodyPr/>
                    <a:lstStyle/>
                    <a:p>
                      <a:r>
                        <a:rPr lang="en-US" dirty="0"/>
                        <a:t>204</a:t>
                      </a:r>
                    </a:p>
                  </a:txBody>
                  <a:tcPr/>
                </a:tc>
                <a:extLst>
                  <a:ext uri="{0D108BD9-81ED-4DB2-BD59-A6C34878D82A}">
                    <a16:rowId xmlns:a16="http://schemas.microsoft.com/office/drawing/2014/main" val="1578552652"/>
                  </a:ext>
                </a:extLst>
              </a:tr>
              <a:tr h="370840">
                <a:tc>
                  <a:txBody>
                    <a:bodyPr/>
                    <a:lstStyle/>
                    <a:p>
                      <a:r>
                        <a:rPr lang="en-US" dirty="0"/>
                        <a:t>28</a:t>
                      </a:r>
                    </a:p>
                  </a:txBody>
                  <a:tcPr/>
                </a:tc>
                <a:tc>
                  <a:txBody>
                    <a:bodyPr/>
                    <a:lstStyle/>
                    <a:p>
                      <a:r>
                        <a:rPr lang="en-US" dirty="0"/>
                        <a:t>186</a:t>
                      </a:r>
                    </a:p>
                  </a:txBody>
                  <a:tcPr/>
                </a:tc>
                <a:tc>
                  <a:txBody>
                    <a:bodyPr/>
                    <a:lstStyle/>
                    <a:p>
                      <a:r>
                        <a:rPr lang="en-US" dirty="0"/>
                        <a:t>51</a:t>
                      </a:r>
                    </a:p>
                  </a:txBody>
                  <a:tcPr/>
                </a:tc>
                <a:tc>
                  <a:txBody>
                    <a:bodyPr/>
                    <a:lstStyle/>
                    <a:p>
                      <a:r>
                        <a:rPr lang="en-US" dirty="0"/>
                        <a:t>221</a:t>
                      </a:r>
                    </a:p>
                  </a:txBody>
                  <a:tcPr/>
                </a:tc>
                <a:extLst>
                  <a:ext uri="{0D108BD9-81ED-4DB2-BD59-A6C34878D82A}">
                    <a16:rowId xmlns:a16="http://schemas.microsoft.com/office/drawing/2014/main" val="1014872579"/>
                  </a:ext>
                </a:extLst>
              </a:tr>
              <a:tr h="370840">
                <a:tc>
                  <a:txBody>
                    <a:bodyPr/>
                    <a:lstStyle/>
                    <a:p>
                      <a:r>
                        <a:rPr lang="en-US" dirty="0"/>
                        <a:t>32</a:t>
                      </a:r>
                    </a:p>
                  </a:txBody>
                  <a:tcPr/>
                </a:tc>
                <a:tc>
                  <a:txBody>
                    <a:bodyPr/>
                    <a:lstStyle/>
                    <a:p>
                      <a:r>
                        <a:rPr lang="en-US" dirty="0"/>
                        <a:t>180</a:t>
                      </a:r>
                    </a:p>
                  </a:txBody>
                  <a:tcPr/>
                </a:tc>
                <a:tc>
                  <a:txBody>
                    <a:bodyPr/>
                    <a:lstStyle/>
                    <a:p>
                      <a:r>
                        <a:rPr lang="en-US" dirty="0"/>
                        <a:t>51</a:t>
                      </a:r>
                    </a:p>
                  </a:txBody>
                  <a:tcPr/>
                </a:tc>
                <a:tc>
                  <a:txBody>
                    <a:bodyPr/>
                    <a:lstStyle/>
                    <a:p>
                      <a:r>
                        <a:rPr lang="en-US" dirty="0"/>
                        <a:t>243</a:t>
                      </a:r>
                    </a:p>
                  </a:txBody>
                  <a:tcPr/>
                </a:tc>
                <a:extLst>
                  <a:ext uri="{0D108BD9-81ED-4DB2-BD59-A6C34878D82A}">
                    <a16:rowId xmlns:a16="http://schemas.microsoft.com/office/drawing/2014/main" val="4286956176"/>
                  </a:ext>
                </a:extLst>
              </a:tr>
              <a:tr h="370840">
                <a:tc>
                  <a:txBody>
                    <a:bodyPr/>
                    <a:lstStyle/>
                    <a:p>
                      <a:r>
                        <a:rPr lang="en-US" dirty="0"/>
                        <a:t>32</a:t>
                      </a:r>
                    </a:p>
                  </a:txBody>
                  <a:tcPr/>
                </a:tc>
                <a:tc>
                  <a:txBody>
                    <a:bodyPr/>
                    <a:lstStyle/>
                    <a:p>
                      <a:r>
                        <a:rPr lang="en-US" dirty="0"/>
                        <a:t>210</a:t>
                      </a:r>
                    </a:p>
                  </a:txBody>
                  <a:tcPr/>
                </a:tc>
                <a:tc>
                  <a:txBody>
                    <a:bodyPr/>
                    <a:lstStyle/>
                    <a:p>
                      <a:r>
                        <a:rPr lang="en-US" dirty="0"/>
                        <a:t>58</a:t>
                      </a:r>
                    </a:p>
                  </a:txBody>
                  <a:tcPr/>
                </a:tc>
                <a:tc>
                  <a:txBody>
                    <a:bodyPr/>
                    <a:lstStyle/>
                    <a:p>
                      <a:r>
                        <a:rPr lang="en-US" dirty="0"/>
                        <a:t>208</a:t>
                      </a:r>
                    </a:p>
                  </a:txBody>
                  <a:tcPr/>
                </a:tc>
                <a:extLst>
                  <a:ext uri="{0D108BD9-81ED-4DB2-BD59-A6C34878D82A}">
                    <a16:rowId xmlns:a16="http://schemas.microsoft.com/office/drawing/2014/main" val="2346357671"/>
                  </a:ext>
                </a:extLst>
              </a:tr>
              <a:tr h="370840">
                <a:tc>
                  <a:txBody>
                    <a:bodyPr/>
                    <a:lstStyle/>
                    <a:p>
                      <a:r>
                        <a:rPr lang="en-US" dirty="0"/>
                        <a:t>32</a:t>
                      </a:r>
                    </a:p>
                  </a:txBody>
                  <a:tcPr/>
                </a:tc>
                <a:tc>
                  <a:txBody>
                    <a:bodyPr/>
                    <a:lstStyle/>
                    <a:p>
                      <a:r>
                        <a:rPr lang="en-US" dirty="0"/>
                        <a:t>197</a:t>
                      </a:r>
                    </a:p>
                  </a:txBody>
                  <a:tcPr/>
                </a:tc>
                <a:tc>
                  <a:txBody>
                    <a:bodyPr/>
                    <a:lstStyle/>
                    <a:p>
                      <a:r>
                        <a:rPr lang="en-US" dirty="0"/>
                        <a:t>62</a:t>
                      </a:r>
                    </a:p>
                  </a:txBody>
                  <a:tcPr/>
                </a:tc>
                <a:tc>
                  <a:txBody>
                    <a:bodyPr/>
                    <a:lstStyle/>
                    <a:p>
                      <a:r>
                        <a:rPr lang="en-US" dirty="0"/>
                        <a:t>228</a:t>
                      </a:r>
                    </a:p>
                  </a:txBody>
                  <a:tcPr/>
                </a:tc>
                <a:extLst>
                  <a:ext uri="{0D108BD9-81ED-4DB2-BD59-A6C34878D82A}">
                    <a16:rowId xmlns:a16="http://schemas.microsoft.com/office/drawing/2014/main" val="3376020210"/>
                  </a:ext>
                </a:extLst>
              </a:tr>
              <a:tr h="370840">
                <a:tc>
                  <a:txBody>
                    <a:bodyPr/>
                    <a:lstStyle/>
                    <a:p>
                      <a:r>
                        <a:rPr lang="en-US" dirty="0"/>
                        <a:t>38</a:t>
                      </a:r>
                    </a:p>
                  </a:txBody>
                  <a:tcPr/>
                </a:tc>
                <a:tc>
                  <a:txBody>
                    <a:bodyPr/>
                    <a:lstStyle/>
                    <a:p>
                      <a:r>
                        <a:rPr lang="en-US" dirty="0"/>
                        <a:t>239</a:t>
                      </a:r>
                    </a:p>
                  </a:txBody>
                  <a:tcPr/>
                </a:tc>
                <a:tc>
                  <a:txBody>
                    <a:bodyPr/>
                    <a:lstStyle/>
                    <a:p>
                      <a:r>
                        <a:rPr lang="en-US" dirty="0"/>
                        <a:t>65</a:t>
                      </a:r>
                    </a:p>
                  </a:txBody>
                  <a:tcPr/>
                </a:tc>
                <a:tc>
                  <a:txBody>
                    <a:bodyPr/>
                    <a:lstStyle/>
                    <a:p>
                      <a:r>
                        <a:rPr lang="en-US" dirty="0"/>
                        <a:t>269</a:t>
                      </a:r>
                    </a:p>
                  </a:txBody>
                  <a:tcPr/>
                </a:tc>
                <a:extLst>
                  <a:ext uri="{0D108BD9-81ED-4DB2-BD59-A6C34878D82A}">
                    <a16:rowId xmlns:a16="http://schemas.microsoft.com/office/drawing/2014/main" val="2212702696"/>
                  </a:ext>
                </a:extLst>
              </a:tr>
            </a:tbl>
          </a:graphicData>
        </a:graphic>
      </p:graphicFrame>
      <p:sp>
        <p:nvSpPr>
          <p:cNvPr id="3" name="Title 2">
            <a:extLst>
              <a:ext uri="{FF2B5EF4-FFF2-40B4-BE49-F238E27FC236}">
                <a16:creationId xmlns:a16="http://schemas.microsoft.com/office/drawing/2014/main" id="{A04FBA16-B2DF-4B4E-B179-EE518A8461B8}"/>
              </a:ext>
            </a:extLst>
          </p:cNvPr>
          <p:cNvSpPr>
            <a:spLocks noGrp="1"/>
          </p:cNvSpPr>
          <p:nvPr>
            <p:ph type="title"/>
          </p:nvPr>
        </p:nvSpPr>
        <p:spPr/>
        <p:txBody>
          <a:bodyPr/>
          <a:lstStyle/>
          <a:p>
            <a:r>
              <a:rPr lang="en-US" dirty="0"/>
              <a:t>Example – Age vs Cholesterol</a:t>
            </a:r>
          </a:p>
        </p:txBody>
      </p:sp>
      <p:sp>
        <p:nvSpPr>
          <p:cNvPr id="5" name="Content Placeholder 1">
            <a:extLst>
              <a:ext uri="{FF2B5EF4-FFF2-40B4-BE49-F238E27FC236}">
                <a16:creationId xmlns:a16="http://schemas.microsoft.com/office/drawing/2014/main" id="{2B99DD84-B3EA-AC46-BE93-06D1E0B632C9}"/>
              </a:ext>
            </a:extLst>
          </p:cNvPr>
          <p:cNvSpPr txBox="1">
            <a:spLocks/>
          </p:cNvSpPr>
          <p:nvPr/>
        </p:nvSpPr>
        <p:spPr>
          <a:xfrm>
            <a:off x="457200" y="4566920"/>
            <a:ext cx="8229600" cy="1559243"/>
          </a:xfrm>
          <a:prstGeom prst="rect">
            <a:avLst/>
          </a:prstGeom>
        </p:spPr>
        <p:txBody>
          <a:bodyPr vert="horz" lIns="91440" tIns="45720" rIns="91440" bIns="45720" rtlCol="0">
            <a:normAutofit fontScale="62500" lnSpcReduction="20000"/>
          </a:bodyPr>
          <a:lstStyle>
            <a:lvl1pPr marL="342900" indent="-342900" algn="l" defTabSz="457200" rtl="0" eaLnBrk="1" latinLnBrk="0" hangingPunct="1">
              <a:spcBef>
                <a:spcPct val="20000"/>
              </a:spcBef>
              <a:buClr>
                <a:schemeClr val="accent4"/>
              </a:buClr>
              <a:buSzPct val="75000"/>
              <a:buFontTx/>
              <a:buBlip>
                <a:blip r:embed="rId2"/>
              </a:buBlip>
              <a:defRPr sz="3200" kern="1200">
                <a:solidFill>
                  <a:schemeClr val="tx1"/>
                </a:solidFill>
                <a:latin typeface="Source Sans Pro Light"/>
                <a:ea typeface="+mn-ea"/>
                <a:cs typeface="Source Sans Pro Light"/>
              </a:defRPr>
            </a:lvl1pPr>
            <a:lvl2pPr marL="742950" indent="-285750" algn="l" defTabSz="457200" rtl="0" eaLnBrk="1" latinLnBrk="0" hangingPunct="1">
              <a:spcBef>
                <a:spcPct val="20000"/>
              </a:spcBef>
              <a:buClr>
                <a:schemeClr val="accent4"/>
              </a:buClr>
              <a:buSzPct val="75000"/>
              <a:buFontTx/>
              <a:buBlip>
                <a:blip r:embed="rId2"/>
              </a:buBlip>
              <a:defRPr sz="2800" kern="1200">
                <a:solidFill>
                  <a:schemeClr val="tx1"/>
                </a:solidFill>
                <a:latin typeface="Source Sans Pro Light"/>
                <a:ea typeface="+mn-ea"/>
                <a:cs typeface="Source Sans Pro Light"/>
              </a:defRPr>
            </a:lvl2pPr>
            <a:lvl3pPr marL="1143000" indent="-228600" algn="l" defTabSz="457200" rtl="0" eaLnBrk="1" latinLnBrk="0" hangingPunct="1">
              <a:spcBef>
                <a:spcPct val="20000"/>
              </a:spcBef>
              <a:buClr>
                <a:schemeClr val="accent4"/>
              </a:buClr>
              <a:buSzPct val="75000"/>
              <a:buFontTx/>
              <a:buBlip>
                <a:blip r:embed="rId2"/>
              </a:buBlip>
              <a:defRPr sz="2400" kern="1200">
                <a:solidFill>
                  <a:schemeClr val="tx1"/>
                </a:solidFill>
                <a:latin typeface="Source Sans Pro Light"/>
                <a:ea typeface="+mn-ea"/>
                <a:cs typeface="Source Sans Pro Light"/>
              </a:defRPr>
            </a:lvl3pPr>
            <a:lvl4pPr marL="1600200" indent="-228600" algn="l" defTabSz="457200" rtl="0" eaLnBrk="1" latinLnBrk="0" hangingPunct="1">
              <a:spcBef>
                <a:spcPct val="20000"/>
              </a:spcBef>
              <a:buClr>
                <a:schemeClr val="accent4"/>
              </a:buClr>
              <a:buSzPct val="75000"/>
              <a:buFontTx/>
              <a:buBlip>
                <a:blip r:embed="rId2"/>
              </a:buBlip>
              <a:defRPr sz="2000" kern="1200">
                <a:solidFill>
                  <a:schemeClr val="tx1"/>
                </a:solidFill>
                <a:latin typeface="Source Sans Pro Light"/>
                <a:ea typeface="+mn-ea"/>
                <a:cs typeface="Source Sans Pro Light"/>
              </a:defRPr>
            </a:lvl4pPr>
            <a:lvl5pPr marL="2057400" indent="-228600" algn="l" defTabSz="457200" rtl="0" eaLnBrk="1" latinLnBrk="0" hangingPunct="1">
              <a:spcBef>
                <a:spcPct val="20000"/>
              </a:spcBef>
              <a:buClr>
                <a:schemeClr val="accent4"/>
              </a:buClr>
              <a:buSzPct val="75000"/>
              <a:buFontTx/>
              <a:buBlip>
                <a:blip r:embed="rId2"/>
              </a:buBlip>
              <a:defRPr sz="2000" kern="1200">
                <a:solidFill>
                  <a:schemeClr val="tx1"/>
                </a:solidFill>
                <a:latin typeface="Source Sans Pro Light"/>
                <a:ea typeface="+mn-ea"/>
                <a:cs typeface="Source Sans Pro Light"/>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dirty="0"/>
              <a:t>Find linear model capturing relationship between age and cholesterol?</a:t>
            </a:r>
          </a:p>
          <a:p>
            <a:r>
              <a:rPr lang="en-US" dirty="0"/>
              <a:t>What is the critical value corresponding to 95%?</a:t>
            </a:r>
          </a:p>
          <a:p>
            <a:endParaRPr lang="en-US" dirty="0"/>
          </a:p>
          <a:p>
            <a:r>
              <a:rPr lang="en-US" dirty="0"/>
              <a:t>And also R</a:t>
            </a:r>
            <a:r>
              <a:rPr lang="en-US" baseline="30000" dirty="0"/>
              <a:t>2</a:t>
            </a:r>
          </a:p>
        </p:txBody>
      </p:sp>
    </p:spTree>
    <p:extLst>
      <p:ext uri="{BB962C8B-B14F-4D97-AF65-F5344CB8AC3E}">
        <p14:creationId xmlns:p14="http://schemas.microsoft.com/office/powerpoint/2010/main" val="103785033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0AD4BA9-01E0-B148-A4E4-592CD854EFA9}"/>
              </a:ext>
            </a:extLst>
          </p:cNvPr>
          <p:cNvSpPr>
            <a:spLocks noGrp="1"/>
          </p:cNvSpPr>
          <p:nvPr>
            <p:ph idx="1"/>
          </p:nvPr>
        </p:nvSpPr>
        <p:spPr/>
        <p:txBody>
          <a:bodyPr/>
          <a:lstStyle/>
          <a:p>
            <a:r>
              <a:rPr lang="en-US" dirty="0"/>
              <a:t>Line: Y=151.3537 + 1.3991x</a:t>
            </a:r>
          </a:p>
          <a:p>
            <a:r>
              <a:rPr lang="en-US" dirty="0"/>
              <a:t>R</a:t>
            </a:r>
            <a:r>
              <a:rPr lang="en-US" baseline="30000" dirty="0"/>
              <a:t>2</a:t>
            </a:r>
            <a:r>
              <a:rPr lang="en-US" dirty="0"/>
              <a:t> = 0.515</a:t>
            </a:r>
          </a:p>
          <a:p>
            <a:r>
              <a:rPr lang="en-US" dirty="0"/>
              <a:t>Critical value: qt(df=14-2, 0.025)</a:t>
            </a:r>
          </a:p>
          <a:p>
            <a:endParaRPr lang="en-US" dirty="0"/>
          </a:p>
        </p:txBody>
      </p:sp>
      <p:sp>
        <p:nvSpPr>
          <p:cNvPr id="3" name="Title 2">
            <a:extLst>
              <a:ext uri="{FF2B5EF4-FFF2-40B4-BE49-F238E27FC236}">
                <a16:creationId xmlns:a16="http://schemas.microsoft.com/office/drawing/2014/main" id="{4DA8CF35-A39C-F24A-A11F-005DF591932D}"/>
              </a:ext>
            </a:extLst>
          </p:cNvPr>
          <p:cNvSpPr>
            <a:spLocks noGrp="1"/>
          </p:cNvSpPr>
          <p:nvPr>
            <p:ph type="title"/>
          </p:nvPr>
        </p:nvSpPr>
        <p:spPr/>
        <p:txBody>
          <a:bodyPr/>
          <a:lstStyle/>
          <a:p>
            <a:r>
              <a:rPr lang="en-US" dirty="0"/>
              <a:t>Example cont.</a:t>
            </a:r>
          </a:p>
        </p:txBody>
      </p:sp>
    </p:spTree>
    <p:extLst>
      <p:ext uri="{BB962C8B-B14F-4D97-AF65-F5344CB8AC3E}">
        <p14:creationId xmlns:p14="http://schemas.microsoft.com/office/powerpoint/2010/main" val="68707770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0AD4BA9-01E0-B148-A4E4-592CD854EFA9}"/>
              </a:ext>
            </a:extLst>
          </p:cNvPr>
          <p:cNvSpPr>
            <a:spLocks noGrp="1"/>
          </p:cNvSpPr>
          <p:nvPr>
            <p:ph idx="1"/>
          </p:nvPr>
        </p:nvSpPr>
        <p:spPr/>
        <p:txBody>
          <a:bodyPr/>
          <a:lstStyle/>
          <a:p>
            <a:endParaRPr lang="en-US" dirty="0"/>
          </a:p>
          <a:p>
            <a:r>
              <a:rPr lang="en-US" dirty="0"/>
              <a:t>Test for linear relationship?</a:t>
            </a:r>
          </a:p>
          <a:p>
            <a:r>
              <a:rPr lang="en-US" dirty="0"/>
              <a:t>Find confidence interval of slope</a:t>
            </a:r>
          </a:p>
        </p:txBody>
      </p:sp>
      <p:sp>
        <p:nvSpPr>
          <p:cNvPr id="3" name="Title 2">
            <a:extLst>
              <a:ext uri="{FF2B5EF4-FFF2-40B4-BE49-F238E27FC236}">
                <a16:creationId xmlns:a16="http://schemas.microsoft.com/office/drawing/2014/main" id="{4DA8CF35-A39C-F24A-A11F-005DF591932D}"/>
              </a:ext>
            </a:extLst>
          </p:cNvPr>
          <p:cNvSpPr>
            <a:spLocks noGrp="1"/>
          </p:cNvSpPr>
          <p:nvPr>
            <p:ph type="title"/>
          </p:nvPr>
        </p:nvSpPr>
        <p:spPr/>
        <p:txBody>
          <a:bodyPr/>
          <a:lstStyle/>
          <a:p>
            <a:r>
              <a:rPr lang="en-US" dirty="0"/>
              <a:t>Example cont.</a:t>
            </a:r>
          </a:p>
        </p:txBody>
      </p:sp>
    </p:spTree>
    <p:extLst>
      <p:ext uri="{BB962C8B-B14F-4D97-AF65-F5344CB8AC3E}">
        <p14:creationId xmlns:p14="http://schemas.microsoft.com/office/powerpoint/2010/main" val="342814117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71C3FC52-4056-D44F-9402-15B791660826}"/>
                  </a:ext>
                </a:extLst>
              </p:cNvPr>
              <p:cNvSpPr>
                <a:spLocks noGrp="1"/>
              </p:cNvSpPr>
              <p:nvPr>
                <p:ph idx="1"/>
              </p:nvPr>
            </p:nvSpPr>
            <p:spPr/>
            <p:txBody>
              <a:bodyPr>
                <a:normAutofit fontScale="70000" lnSpcReduction="20000"/>
              </a:bodyPr>
              <a:lstStyle/>
              <a:p>
                <a:r>
                  <a:rPr lang="en-US" dirty="0"/>
                  <a:t>Standard error = sqrt[(4553.7)/14-2] = 19.48</a:t>
                </a:r>
              </a:p>
              <a:p>
                <a:endParaRPr lang="en-US" dirty="0"/>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𝑠𝑡𝑎𝑛𝑑𝑎𝑟𝑑</m:t>
                      </m:r>
                      <m:r>
                        <a:rPr lang="en-US" b="0" i="1" smtClean="0">
                          <a:latin typeface="Cambria Math" panose="02040503050406030204" pitchFamily="18" charset="0"/>
                        </a:rPr>
                        <m:t> </m:t>
                      </m:r>
                      <m:r>
                        <a:rPr lang="en-US" b="0" i="1" smtClean="0">
                          <a:latin typeface="Cambria Math" panose="02040503050406030204" pitchFamily="18" charset="0"/>
                        </a:rPr>
                        <m:t>𝑒𝑟𝑟𝑜𝑟</m:t>
                      </m:r>
                      <m:r>
                        <a:rPr lang="en-US" b="0" i="1" smtClean="0">
                          <a:latin typeface="Cambria Math" panose="02040503050406030204" pitchFamily="18" charset="0"/>
                        </a:rPr>
                        <m:t>= </m:t>
                      </m:r>
                      <m:rad>
                        <m:radPr>
                          <m:degHide m:val="on"/>
                          <m:ctrlPr>
                            <a:rPr lang="en-US" b="0" i="1" smtClean="0">
                              <a:latin typeface="Cambria Math" panose="02040503050406030204" pitchFamily="18" charset="0"/>
                            </a:rPr>
                          </m:ctrlPr>
                        </m:radPr>
                        <m:deg/>
                        <m:e>
                          <m:f>
                            <m:fPr>
                              <m:ctrlPr>
                                <a:rPr lang="en-US" b="0" i="1" smtClean="0">
                                  <a:latin typeface="Cambria Math" panose="02040503050406030204" pitchFamily="18" charset="0"/>
                                </a:rPr>
                              </m:ctrlPr>
                            </m:fPr>
                            <m:num>
                              <m:r>
                                <a:rPr lang="en-US" b="0" i="1" smtClean="0">
                                  <a:latin typeface="Cambria Math" panose="02040503050406030204" pitchFamily="18" charset="0"/>
                                </a:rPr>
                                <m:t>4553.7</m:t>
                              </m:r>
                            </m:num>
                            <m:den>
                              <m:r>
                                <a:rPr lang="en-US" b="0" i="1" smtClean="0">
                                  <a:latin typeface="Cambria Math" panose="02040503050406030204" pitchFamily="18" charset="0"/>
                                </a:rPr>
                                <m:t>14−2</m:t>
                              </m:r>
                            </m:den>
                          </m:f>
                        </m:e>
                      </m:rad>
                      <m:r>
                        <a:rPr lang="en-US" b="0" i="1" smtClean="0">
                          <a:latin typeface="Cambria Math" panose="02040503050406030204" pitchFamily="18" charset="0"/>
                        </a:rPr>
                        <m:t>=19.48</m:t>
                      </m:r>
                    </m:oMath>
                  </m:oMathPara>
                </a14:m>
                <a:endParaRPr lang="en-US" b="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𝑆𝑎𝑚𝑝𝑙𝑒</m:t>
                      </m:r>
                      <m:r>
                        <a:rPr lang="en-US" b="0" i="1" smtClean="0">
                          <a:latin typeface="Cambria Math" panose="02040503050406030204" pitchFamily="18" charset="0"/>
                        </a:rPr>
                        <m:t> </m:t>
                      </m:r>
                      <m:r>
                        <a:rPr lang="en-US" b="0" i="1" smtClean="0">
                          <a:latin typeface="Cambria Math" panose="02040503050406030204" pitchFamily="18" charset="0"/>
                        </a:rPr>
                        <m:t>𝑠𝑡𝑎𝑛𝑑𝑎𝑟𝑑</m:t>
                      </m:r>
                      <m:r>
                        <a:rPr lang="en-US" b="0" i="1" smtClean="0">
                          <a:latin typeface="Cambria Math" panose="02040503050406030204" pitchFamily="18" charset="0"/>
                        </a:rPr>
                        <m:t> </m:t>
                      </m:r>
                      <m:r>
                        <a:rPr lang="en-US" b="0" i="1" smtClean="0">
                          <a:latin typeface="Cambria Math" panose="02040503050406030204" pitchFamily="18" charset="0"/>
                        </a:rPr>
                        <m:t>𝑒𝑟𝑟𝑜𝑟</m:t>
                      </m:r>
                      <m:r>
                        <a:rPr lang="en-US" b="0" i="1" smtClean="0">
                          <a:latin typeface="Cambria Math" panose="02040503050406030204" pitchFamily="18" charset="0"/>
                        </a:rPr>
                        <m:t>= </m:t>
                      </m:r>
                      <m:f>
                        <m:fPr>
                          <m:ctrlPr>
                            <a:rPr lang="en-US" b="0" i="1" smtClean="0">
                              <a:latin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𝛽</m:t>
                          </m:r>
                          <m:r>
                            <a:rPr lang="en-US" b="0" i="1" baseline="-25000" smtClean="0">
                              <a:latin typeface="Cambria Math" panose="02040503050406030204" pitchFamily="18" charset="0"/>
                              <a:ea typeface="Cambria Math" panose="02040503050406030204" pitchFamily="18" charset="0"/>
                            </a:rPr>
                            <m:t>1</m:t>
                          </m:r>
                          <m:r>
                            <a:rPr lang="en-US" b="0" i="1" smtClean="0">
                              <a:latin typeface="Cambria Math" panose="02040503050406030204" pitchFamily="18" charset="0"/>
                              <a:ea typeface="Cambria Math" panose="02040503050406030204" pitchFamily="18" charset="0"/>
                            </a:rPr>
                            <m:t>−0</m:t>
                          </m:r>
                        </m:num>
                        <m:den>
                          <m:f>
                            <m:fPr>
                              <m:ctrlPr>
                                <a:rPr lang="en-US" b="0" i="1" smtClean="0">
                                  <a:latin typeface="Cambria Math" panose="02040503050406030204" pitchFamily="18" charset="0"/>
                                </a:rPr>
                              </m:ctrlPr>
                            </m:fPr>
                            <m:num>
                              <m:r>
                                <a:rPr lang="en-US" b="0" i="1" smtClean="0">
                                  <a:latin typeface="Cambria Math" panose="02040503050406030204" pitchFamily="18" charset="0"/>
                                </a:rPr>
                                <m:t>𝑆𝑡𝑎𝑛𝑑𝑎𝑟𝑑</m:t>
                              </m:r>
                              <m:r>
                                <a:rPr lang="en-US" b="0" i="1" smtClean="0">
                                  <a:latin typeface="Cambria Math" panose="02040503050406030204" pitchFamily="18" charset="0"/>
                                </a:rPr>
                                <m:t> </m:t>
                              </m:r>
                              <m:r>
                                <a:rPr lang="en-US" b="0" i="1" smtClean="0">
                                  <a:latin typeface="Cambria Math" panose="02040503050406030204" pitchFamily="18" charset="0"/>
                                </a:rPr>
                                <m:t>𝑒𝑟𝑟𝑜𝑟</m:t>
                              </m:r>
                            </m:num>
                            <m:den>
                              <m:rad>
                                <m:radPr>
                                  <m:degHide m:val="on"/>
                                  <m:ctrlPr>
                                    <a:rPr lang="en-US" b="0" i="1" smtClean="0">
                                      <a:latin typeface="Cambria Math" panose="02040503050406030204" pitchFamily="18" charset="0"/>
                                    </a:rPr>
                                  </m:ctrlPr>
                                </m:radPr>
                                <m:deg/>
                                <m:e>
                                  <m:nary>
                                    <m:naryPr>
                                      <m:chr m:val="∑"/>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𝑖</m:t>
                                      </m:r>
                                      <m:r>
                                        <a:rPr lang="en-US" b="0" i="1" smtClean="0">
                                          <a:latin typeface="Cambria Math" panose="02040503050406030204" pitchFamily="18" charset="0"/>
                                        </a:rPr>
                                        <m:t>=1</m:t>
                                      </m:r>
                                    </m:sub>
                                    <m:sup>
                                      <m:r>
                                        <a:rPr lang="en-US" b="0" i="1" smtClean="0">
                                          <a:latin typeface="Cambria Math" panose="02040503050406030204" pitchFamily="18" charset="0"/>
                                        </a:rPr>
                                        <m:t>𝑛</m:t>
                                      </m:r>
                                    </m:sup>
                                    <m:e>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baseline="-25000" smtClean="0">
                                              <a:latin typeface="Cambria Math" panose="02040503050406030204" pitchFamily="18" charset="0"/>
                                            </a:rPr>
                                            <m:t>𝑖</m:t>
                                          </m:r>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e>
                                      </m:d>
                                      <m:r>
                                        <a:rPr lang="en-US" b="0" i="1" baseline="30000" smtClean="0">
                                          <a:latin typeface="Cambria Math" panose="02040503050406030204" pitchFamily="18" charset="0"/>
                                        </a:rPr>
                                        <m:t>2</m:t>
                                      </m:r>
                                    </m:e>
                                  </m:nary>
                                </m:e>
                              </m:rad>
                            </m:den>
                          </m:f>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1.3991</m:t>
                          </m:r>
                        </m:num>
                        <m:den>
                          <m:f>
                            <m:fPr>
                              <m:type m:val="skw"/>
                              <m:ctrlPr>
                                <a:rPr lang="en-US" b="0" i="1" smtClean="0">
                                  <a:latin typeface="Cambria Math" panose="02040503050406030204" pitchFamily="18" charset="0"/>
                                </a:rPr>
                              </m:ctrlPr>
                            </m:fPr>
                            <m:num>
                              <m:r>
                                <a:rPr lang="en-US" b="0" i="1" smtClean="0">
                                  <a:latin typeface="Cambria Math" panose="02040503050406030204" pitchFamily="18" charset="0"/>
                                </a:rPr>
                                <m:t>19.48</m:t>
                              </m:r>
                            </m:num>
                            <m:den>
                              <m:rad>
                                <m:radPr>
                                  <m:degHide m:val="on"/>
                                  <m:ctrlPr>
                                    <a:rPr lang="en-US" b="0" i="1" smtClean="0">
                                      <a:latin typeface="Cambria Math" panose="02040503050406030204" pitchFamily="18" charset="0"/>
                                    </a:rPr>
                                  </m:ctrlPr>
                                </m:radPr>
                                <m:deg/>
                                <m:e>
                                  <m:r>
                                    <a:rPr lang="en-US" b="0" i="1" smtClean="0">
                                      <a:latin typeface="Cambria Math" panose="02040503050406030204" pitchFamily="18" charset="0"/>
                                    </a:rPr>
                                    <m:t>2472.92</m:t>
                                  </m:r>
                                </m:e>
                              </m:rad>
                            </m:den>
                          </m:f>
                        </m:den>
                      </m:f>
                      <m:r>
                        <a:rPr lang="en-US" b="0" i="1" smtClean="0">
                          <a:latin typeface="Cambria Math" panose="02040503050406030204" pitchFamily="18" charset="0"/>
                        </a:rPr>
                        <m:t>=3.572 (</m:t>
                      </m:r>
                      <m:r>
                        <a:rPr lang="en-US" b="0" i="1" smtClean="0">
                          <a:latin typeface="Cambria Math" panose="02040503050406030204" pitchFamily="18" charset="0"/>
                        </a:rPr>
                        <m:t>𝑡h𝑒</m:t>
                      </m:r>
                      <m:r>
                        <a:rPr lang="en-US" b="0" i="1" smtClean="0">
                          <a:latin typeface="Cambria Math" panose="02040503050406030204" pitchFamily="18" charset="0"/>
                        </a:rPr>
                        <m:t> </m:t>
                      </m:r>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𝑣𝑎𝑙𝑢𝑒</m:t>
                      </m:r>
                      <m:r>
                        <a:rPr lang="en-US" b="0" i="1" smtClean="0">
                          <a:latin typeface="Cambria Math" panose="02040503050406030204" pitchFamily="18" charset="0"/>
                        </a:rPr>
                        <m:t>=0.003)</m:t>
                      </m:r>
                    </m:oMath>
                  </m:oMathPara>
                </a14:m>
                <a:endParaRPr lang="en-US" b="0" dirty="0"/>
              </a:p>
              <a:p>
                <a:pPr marL="0" indent="0">
                  <a:buNone/>
                </a:pPr>
                <a:endParaRPr lang="en-US" dirty="0"/>
              </a:p>
              <a:p>
                <a:pPr marL="0" indent="0">
                  <a:buNone/>
                </a:pPr>
                <a:r>
                  <a:rPr lang="en-US" dirty="0"/>
                  <a:t>Two side t-dis with 95% CI with (14-2)=12 degree of freedom = 2.179</a:t>
                </a:r>
                <a:endParaRPr lang="en-US" b="0" dirty="0"/>
              </a:p>
              <a:p>
                <a:pPr marL="0" indent="0">
                  <a:buNone/>
                </a:pPr>
                <a:r>
                  <a:rPr lang="en-US" b="0" dirty="0"/>
                  <a:t>So, we reject H0 and there is a linear regression relationship.</a:t>
                </a:r>
              </a:p>
              <a:p>
                <a:pPr marL="0" indent="0">
                  <a:buNone/>
                </a:pPr>
                <a:endParaRPr lang="en-US" b="0" dirty="0"/>
              </a:p>
              <a:p>
                <a:endParaRPr lang="en-US" dirty="0"/>
              </a:p>
              <a:p>
                <a:endParaRPr lang="en-US" dirty="0"/>
              </a:p>
              <a:p>
                <a:endParaRPr lang="en-US" dirty="0"/>
              </a:p>
            </p:txBody>
          </p:sp>
        </mc:Choice>
        <mc:Fallback xmlns="">
          <p:sp>
            <p:nvSpPr>
              <p:cNvPr id="2" name="Content Placeholder 1">
                <a:extLst>
                  <a:ext uri="{FF2B5EF4-FFF2-40B4-BE49-F238E27FC236}">
                    <a16:creationId xmlns:a16="http://schemas.microsoft.com/office/drawing/2014/main" id="{71C3FC52-4056-D44F-9402-15B791660826}"/>
                  </a:ext>
                </a:extLst>
              </p:cNvPr>
              <p:cNvSpPr>
                <a:spLocks noGrp="1" noRot="1" noChangeAspect="1" noMove="1" noResize="1" noEditPoints="1" noAdjustHandles="1" noChangeArrowheads="1" noChangeShapeType="1" noTextEdit="1"/>
              </p:cNvSpPr>
              <p:nvPr>
                <p:ph idx="1"/>
              </p:nvPr>
            </p:nvSpPr>
            <p:spPr>
              <a:blipFill>
                <a:blip r:embed="rId2"/>
                <a:stretch>
                  <a:fillRect l="-1080" t="-2241"/>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FBC73025-0BF4-A748-B88F-6B174034EBEA}"/>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368169646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FCE7147A-A56E-D647-9148-FDF588BA12F5}"/>
                  </a:ext>
                </a:extLst>
              </p:cNvPr>
              <p:cNvSpPr>
                <a:spLocks noGrp="1"/>
              </p:cNvSpPr>
              <p:nvPr>
                <p:ph idx="1"/>
              </p:nvPr>
            </p:nvSpPr>
            <p:spPr/>
            <p:txBody>
              <a:bodyPr/>
              <a:lstStyle/>
              <a:p>
                <a14:m>
                  <m:oMath xmlns:m="http://schemas.openxmlformats.org/officeDocument/2006/math">
                    <m:r>
                      <a:rPr lang="en-US" b="0" i="1" smtClean="0">
                        <a:latin typeface="Cambria Math" panose="02040503050406030204" pitchFamily="18" charset="0"/>
                      </a:rPr>
                      <m:t>𝐿𝑜𝑤𝑒𝑟</m:t>
                    </m:r>
                    <m:r>
                      <a:rPr lang="en-US" b="0" i="1" smtClean="0">
                        <a:latin typeface="Cambria Math" panose="02040503050406030204" pitchFamily="18" charset="0"/>
                      </a:rPr>
                      <m:t> </m:t>
                    </m:r>
                    <m:r>
                      <a:rPr lang="en-US" b="0" i="1" smtClean="0">
                        <a:latin typeface="Cambria Math" panose="02040503050406030204" pitchFamily="18" charset="0"/>
                      </a:rPr>
                      <m:t>𝑏𝑜𝑢𝑛𝑑</m:t>
                    </m:r>
                    <m:r>
                      <a:rPr lang="en-US" b="0" i="1" smtClean="0">
                        <a:latin typeface="Cambria Math" panose="02040503050406030204" pitchFamily="18" charset="0"/>
                      </a:rPr>
                      <m:t>=1.3991±</m:t>
                    </m:r>
                    <m:f>
                      <m:fPr>
                        <m:ctrlPr>
                          <a:rPr lang="en-US" b="0" i="1" baseline="-25000"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𝑡</m:t>
                        </m:r>
                        <m:r>
                          <a:rPr lang="en-US" b="0" i="1" baseline="-25000" smtClean="0">
                            <a:latin typeface="Cambria Math" panose="02040503050406030204" pitchFamily="18" charset="0"/>
                            <a:ea typeface="Cambria Math" panose="02040503050406030204" pitchFamily="18" charset="0"/>
                          </a:rPr>
                          <m:t>𝛼</m:t>
                        </m:r>
                      </m:num>
                      <m:den>
                        <m:r>
                          <a:rPr lang="en-US" b="0" i="1" baseline="-25000" smtClean="0">
                            <a:latin typeface="Cambria Math" panose="02040503050406030204" pitchFamily="18" charset="0"/>
                            <a:ea typeface="Cambria Math" panose="02040503050406030204" pitchFamily="18" charset="0"/>
                          </a:rPr>
                          <m:t>2</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𝑆𝑡𝑎𝑛𝑑𝑎𝑟𝑑</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𝑒𝑟𝑟𝑜𝑟</m:t>
                            </m:r>
                          </m:num>
                          <m:den>
                            <m:rad>
                              <m:radPr>
                                <m:degHide m:val="on"/>
                                <m:ctrlPr>
                                  <a:rPr lang="en-US" b="0" i="1" smtClean="0">
                                    <a:latin typeface="Cambria Math" panose="02040503050406030204" pitchFamily="18" charset="0"/>
                                    <a:ea typeface="Cambria Math" panose="02040503050406030204" pitchFamily="18" charset="0"/>
                                  </a:rPr>
                                </m:ctrlPr>
                              </m:radPr>
                              <m:deg/>
                              <m:e>
                                <m:nary>
                                  <m:naryPr>
                                    <m:chr m:val="∑"/>
                                    <m:subHide m:val="on"/>
                                    <m:supHide m:val="on"/>
                                    <m:ctrlPr>
                                      <a:rPr lang="en-US" b="0" i="1" smtClean="0">
                                        <a:latin typeface="Cambria Math" panose="02040503050406030204" pitchFamily="18" charset="0"/>
                                        <a:ea typeface="Cambria Math" panose="02040503050406030204" pitchFamily="18" charset="0"/>
                                      </a:rPr>
                                    </m:ctrlPr>
                                  </m:naryPr>
                                  <m:sub/>
                                  <m:sup/>
                                  <m:e>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𝑥</m:t>
                                        </m:r>
                                        <m:r>
                                          <a:rPr lang="en-US" b="0" i="1" baseline="-25000" smtClean="0">
                                            <a:latin typeface="Cambria Math" panose="02040503050406030204" pitchFamily="18" charset="0"/>
                                            <a:ea typeface="Cambria Math" panose="02040503050406030204" pitchFamily="18" charset="0"/>
                                          </a:rPr>
                                          <m:t>𝑖</m:t>
                                        </m:r>
                                        <m:r>
                                          <a:rPr lang="en-US" b="0" i="1" smtClean="0">
                                            <a:latin typeface="Cambria Math" panose="02040503050406030204" pitchFamily="18" charset="0"/>
                                            <a:ea typeface="Cambria Math" panose="02040503050406030204" pitchFamily="18" charset="0"/>
                                          </a:rPr>
                                          <m:t>−</m:t>
                                        </m:r>
                                        <m:acc>
                                          <m:accPr>
                                            <m:chr m:val="̅"/>
                                            <m:ctrlPr>
                                              <a:rPr lang="en-US" b="0" i="1" smtClean="0">
                                                <a:latin typeface="Cambria Math" panose="02040503050406030204" pitchFamily="18" charset="0"/>
                                                <a:ea typeface="Cambria Math" panose="02040503050406030204" pitchFamily="18" charset="0"/>
                                              </a:rPr>
                                            </m:ctrlPr>
                                          </m:accPr>
                                          <m:e>
                                            <m:r>
                                              <a:rPr lang="en-US" b="0" i="1" smtClean="0">
                                                <a:latin typeface="Cambria Math" panose="02040503050406030204" pitchFamily="18" charset="0"/>
                                                <a:ea typeface="Cambria Math" panose="02040503050406030204" pitchFamily="18" charset="0"/>
                                              </a:rPr>
                                              <m:t>𝑥</m:t>
                                            </m:r>
                                          </m:e>
                                        </m:acc>
                                      </m:e>
                                    </m:d>
                                    <m:r>
                                      <a:rPr lang="en-US" b="0" i="1" baseline="30000" smtClean="0">
                                        <a:latin typeface="Cambria Math" panose="02040503050406030204" pitchFamily="18" charset="0"/>
                                        <a:ea typeface="Cambria Math" panose="02040503050406030204" pitchFamily="18" charset="0"/>
                                      </a:rPr>
                                      <m:t>2</m:t>
                                    </m:r>
                                  </m:e>
                                </m:nary>
                              </m:e>
                            </m:rad>
                          </m:den>
                        </m:f>
                      </m:den>
                    </m:f>
                  </m:oMath>
                </a14:m>
                <a:endParaRPr lang="en-US" b="0" i="1" baseline="-25000" dirty="0">
                  <a:latin typeface="Cambria Math" panose="02040503050406030204" pitchFamily="18" charset="0"/>
                  <a:ea typeface="Cambria Math" panose="02040503050406030204" pitchFamily="18" charset="0"/>
                </a:endParaRPr>
              </a:p>
              <a:p>
                <a14:m>
                  <m:oMath xmlns:m="http://schemas.openxmlformats.org/officeDocument/2006/math">
                    <m:r>
                      <a:rPr lang="en-US" b="0" i="1" smtClean="0">
                        <a:latin typeface="Cambria Math" panose="02040503050406030204" pitchFamily="18" charset="0"/>
                        <a:ea typeface="Cambria Math" panose="02040503050406030204" pitchFamily="18" charset="0"/>
                      </a:rPr>
                      <m:t>=1.3991±2.179</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19.48</m:t>
                        </m:r>
                      </m:num>
                      <m:den>
                        <m:rad>
                          <m:radPr>
                            <m:degHide m:val="on"/>
                            <m:ctrlPr>
                              <a:rPr lang="en-US" b="0" i="1" smtClean="0">
                                <a:latin typeface="Cambria Math" panose="02040503050406030204" pitchFamily="18" charset="0"/>
                                <a:ea typeface="Cambria Math" panose="02040503050406030204" pitchFamily="18" charset="0"/>
                              </a:rPr>
                            </m:ctrlPr>
                          </m:radPr>
                          <m:deg/>
                          <m:e>
                            <m:r>
                              <a:rPr lang="en-US" b="0" i="1" smtClean="0">
                                <a:latin typeface="Cambria Math" panose="02040503050406030204" pitchFamily="18" charset="0"/>
                                <a:ea typeface="Cambria Math" panose="02040503050406030204" pitchFamily="18" charset="0"/>
                              </a:rPr>
                              <m:t>2472.9</m:t>
                            </m:r>
                          </m:e>
                        </m:rad>
                      </m:den>
                    </m:f>
                  </m:oMath>
                </a14:m>
                <a:endParaRPr lang="en-US" b="0" i="1" dirty="0">
                  <a:latin typeface="Cambria Math" panose="02040503050406030204" pitchFamily="18" charset="0"/>
                  <a:ea typeface="Cambria Math" panose="02040503050406030204" pitchFamily="18" charset="0"/>
                </a:endParaRPr>
              </a:p>
              <a:p>
                <a14:m>
                  <m:oMath xmlns:m="http://schemas.openxmlformats.org/officeDocument/2006/math">
                    <m:r>
                      <a:rPr lang="en-US" b="0" i="1" smtClean="0">
                        <a:latin typeface="Cambria Math" panose="02040503050406030204" pitchFamily="18" charset="0"/>
                        <a:ea typeface="Cambria Math" panose="02040503050406030204" pitchFamily="18" charset="0"/>
                      </a:rPr>
                      <m:t>=1.3991±0.8536 </m:t>
                    </m:r>
                  </m:oMath>
                </a14:m>
                <a:endParaRPr lang="en-US" dirty="0"/>
              </a:p>
              <a:p>
                <a:endParaRPr lang="en-US" dirty="0"/>
              </a:p>
              <a:p>
                <a:endParaRPr lang="en-US" dirty="0"/>
              </a:p>
            </p:txBody>
          </p:sp>
        </mc:Choice>
        <mc:Fallback xmlns="">
          <p:sp>
            <p:nvSpPr>
              <p:cNvPr id="2" name="Content Placeholder 1">
                <a:extLst>
                  <a:ext uri="{FF2B5EF4-FFF2-40B4-BE49-F238E27FC236}">
                    <a16:creationId xmlns:a16="http://schemas.microsoft.com/office/drawing/2014/main" id="{FCE7147A-A56E-D647-9148-FDF588BA12F5}"/>
                  </a:ext>
                </a:extLst>
              </p:cNvPr>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3CF4BCA2-5CDB-874A-BBA2-A41B39870A80}"/>
              </a:ext>
            </a:extLst>
          </p:cNvPr>
          <p:cNvSpPr>
            <a:spLocks noGrp="1"/>
          </p:cNvSpPr>
          <p:nvPr>
            <p:ph type="title"/>
          </p:nvPr>
        </p:nvSpPr>
        <p:spPr/>
        <p:txBody>
          <a:bodyPr/>
          <a:lstStyle/>
          <a:p>
            <a:r>
              <a:rPr lang="en-US" dirty="0"/>
              <a:t>Slope confidence interval</a:t>
            </a:r>
          </a:p>
        </p:txBody>
      </p:sp>
    </p:spTree>
    <p:extLst>
      <p:ext uri="{BB962C8B-B14F-4D97-AF65-F5344CB8AC3E}">
        <p14:creationId xmlns:p14="http://schemas.microsoft.com/office/powerpoint/2010/main" val="417427950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E2F709-F0C9-4D48-A73D-9AD0736B7F73}"/>
              </a:ext>
            </a:extLst>
          </p:cNvPr>
          <p:cNvSpPr>
            <a:spLocks noGrp="1"/>
          </p:cNvSpPr>
          <p:nvPr>
            <p:ph type="ctrTitle"/>
          </p:nvPr>
        </p:nvSpPr>
        <p:spPr/>
        <p:txBody>
          <a:bodyPr/>
          <a:lstStyle/>
          <a:p>
            <a:r>
              <a:rPr lang="en-US" dirty="0"/>
              <a:t>Multiple Linear Regression</a:t>
            </a:r>
          </a:p>
        </p:txBody>
      </p:sp>
      <p:sp>
        <p:nvSpPr>
          <p:cNvPr id="3" name="Subtitle 2">
            <a:extLst>
              <a:ext uri="{FF2B5EF4-FFF2-40B4-BE49-F238E27FC236}">
                <a16:creationId xmlns:a16="http://schemas.microsoft.com/office/drawing/2014/main" id="{7333CFF6-18E7-D442-9367-DF23285EF241}"/>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40725312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A2A5FD6D-245B-0F4B-9706-AD186515A778}"/>
                  </a:ext>
                </a:extLst>
              </p:cNvPr>
              <p:cNvSpPr>
                <a:spLocks noGrp="1"/>
              </p:cNvSpPr>
              <p:nvPr>
                <p:ph idx="1"/>
              </p:nvPr>
            </p:nvSpPr>
            <p:spPr/>
            <p:txBody>
              <a:bodyPr>
                <a:normAutofit fontScale="77500" lnSpcReduction="20000"/>
              </a:bodyPr>
              <a:lstStyle/>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𝑦</m:t>
                      </m:r>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𝛽</m:t>
                      </m:r>
                      <m:r>
                        <a:rPr lang="en-US" b="0" i="1" baseline="-25000" smtClean="0">
                          <a:latin typeface="Cambria Math" panose="02040503050406030204" pitchFamily="18" charset="0"/>
                          <a:ea typeface="Cambria Math" panose="02040503050406030204" pitchFamily="18" charset="0"/>
                        </a:rPr>
                        <m:t>0</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𝛽</m:t>
                      </m:r>
                      <m:r>
                        <a:rPr lang="en-US" b="0" i="1" baseline="-25000" smtClean="0">
                          <a:latin typeface="Cambria Math" panose="02040503050406030204" pitchFamily="18" charset="0"/>
                          <a:ea typeface="Cambria Math" panose="02040503050406030204" pitchFamily="18" charset="0"/>
                        </a:rPr>
                        <m:t>1</m:t>
                      </m:r>
                      <m:r>
                        <a:rPr lang="en-US" b="0" i="1" smtClean="0">
                          <a:latin typeface="Cambria Math" panose="02040503050406030204" pitchFamily="18" charset="0"/>
                          <a:ea typeface="Cambria Math" panose="02040503050406030204" pitchFamily="18" charset="0"/>
                        </a:rPr>
                        <m:t>𝑥</m:t>
                      </m:r>
                      <m:r>
                        <a:rPr lang="en-US" b="0" i="1" baseline="-25000" smtClean="0">
                          <a:latin typeface="Cambria Math" panose="02040503050406030204" pitchFamily="18" charset="0"/>
                          <a:ea typeface="Cambria Math" panose="02040503050406030204" pitchFamily="18" charset="0"/>
                        </a:rPr>
                        <m:t>1</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𝛽</m:t>
                      </m:r>
                      <m:r>
                        <a:rPr lang="en-US" b="0" i="1" baseline="-25000" smtClean="0">
                          <a:latin typeface="Cambria Math" panose="02040503050406030204" pitchFamily="18" charset="0"/>
                          <a:ea typeface="Cambria Math" panose="02040503050406030204" pitchFamily="18" charset="0"/>
                        </a:rPr>
                        <m:t>2</m:t>
                      </m:r>
                      <m:r>
                        <a:rPr lang="en-US" b="0" i="1" smtClean="0">
                          <a:latin typeface="Cambria Math" panose="02040503050406030204" pitchFamily="18" charset="0"/>
                          <a:ea typeface="Cambria Math" panose="02040503050406030204" pitchFamily="18" charset="0"/>
                        </a:rPr>
                        <m:t>𝑥</m:t>
                      </m:r>
                      <m:r>
                        <a:rPr lang="en-US" b="0" i="1" baseline="-25000" smtClean="0">
                          <a:latin typeface="Cambria Math" panose="02040503050406030204" pitchFamily="18" charset="0"/>
                          <a:ea typeface="Cambria Math" panose="02040503050406030204" pitchFamily="18" charset="0"/>
                        </a:rPr>
                        <m:t>2</m:t>
                      </m:r>
                      <m:r>
                        <a:rPr lang="en-US" b="0" i="1" smtClean="0">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𝛽</m:t>
                      </m:r>
                      <m:r>
                        <a:rPr lang="en-US" b="0" i="1" baseline="-25000" smtClean="0">
                          <a:latin typeface="Cambria Math" panose="02040503050406030204" pitchFamily="18" charset="0"/>
                          <a:ea typeface="Cambria Math" panose="02040503050406030204" pitchFamily="18" charset="0"/>
                        </a:rPr>
                        <m:t>𝑛</m:t>
                      </m:r>
                      <m:r>
                        <a:rPr lang="en-US" i="1">
                          <a:latin typeface="Cambria Math" panose="02040503050406030204" pitchFamily="18" charset="0"/>
                          <a:ea typeface="Cambria Math" panose="02040503050406030204" pitchFamily="18" charset="0"/>
                        </a:rPr>
                        <m:t>𝑥</m:t>
                      </m:r>
                      <m:r>
                        <a:rPr lang="en-US" b="0" i="1" baseline="-25000" smtClean="0">
                          <a:latin typeface="Cambria Math" panose="02040503050406030204" pitchFamily="18" charset="0"/>
                          <a:ea typeface="Cambria Math" panose="02040503050406030204" pitchFamily="18" charset="0"/>
                        </a:rPr>
                        <m:t>𝑛</m:t>
                      </m:r>
                    </m:oMath>
                  </m:oMathPara>
                </a14:m>
                <a:endParaRPr lang="en-US" dirty="0"/>
              </a:p>
              <a:p>
                <a:r>
                  <a:rPr lang="en-US" dirty="0"/>
                  <a:t>The ideal scenario, all the parameters are independent / uncorrelated </a:t>
                </a:r>
              </a:p>
              <a:p>
                <a:pPr lvl="1"/>
                <a:r>
                  <a:rPr lang="en-US" dirty="0"/>
                  <a:t>Each parameter’s impact can be assessed separately</a:t>
                </a:r>
              </a:p>
              <a:p>
                <a:r>
                  <a:rPr lang="en-US" dirty="0"/>
                  <a:t>Correlation of predictors cause problems</a:t>
                </a:r>
              </a:p>
              <a:p>
                <a:pPr lvl="1"/>
                <a:r>
                  <a:rPr lang="en-US" dirty="0"/>
                  <a:t>Interpretation of the impact become hazardous – be careful!</a:t>
                </a:r>
              </a:p>
              <a:p>
                <a:pPr marL="0" indent="0">
                  <a:buNone/>
                </a:pPr>
                <a:r>
                  <a:rPr lang="en-US" dirty="0"/>
                  <a:t>Example:</a:t>
                </a:r>
              </a:p>
              <a:p>
                <a:pPr marL="0" indent="0">
                  <a:buNone/>
                </a:pPr>
                <a:r>
                  <a:rPr lang="en-US" dirty="0"/>
                  <a:t>Y: # of tackles of a football player</a:t>
                </a:r>
              </a:p>
              <a:p>
                <a:pPr marL="0" indent="0">
                  <a:buNone/>
                </a:pPr>
                <a:r>
                  <a:rPr lang="en-US" dirty="0"/>
                  <a:t>W: Weight</a:t>
                </a:r>
              </a:p>
              <a:p>
                <a:pPr marL="0" indent="0">
                  <a:buNone/>
                </a:pPr>
                <a:r>
                  <a:rPr lang="en-US" dirty="0"/>
                  <a:t>H: Height</a:t>
                </a:r>
              </a:p>
              <a:p>
                <a:pPr marL="0" indent="0">
                  <a:buNone/>
                </a:pPr>
                <a:r>
                  <a:rPr lang="en-US" dirty="0"/>
                  <a:t>Y = b + 0.5 W - 0.1 H -&gt; which means lower the weight higher the tackles!!</a:t>
                </a:r>
              </a:p>
              <a:p>
                <a:pPr marL="0" indent="0">
                  <a:buNone/>
                </a:pPr>
                <a:endParaRPr lang="en-US" dirty="0"/>
              </a:p>
              <a:p>
                <a:pPr lvl="1"/>
                <a:endParaRPr lang="en-US" dirty="0"/>
              </a:p>
            </p:txBody>
          </p:sp>
        </mc:Choice>
        <mc:Fallback xmlns="">
          <p:sp>
            <p:nvSpPr>
              <p:cNvPr id="2" name="Content Placeholder 1">
                <a:extLst>
                  <a:ext uri="{FF2B5EF4-FFF2-40B4-BE49-F238E27FC236}">
                    <a16:creationId xmlns:a16="http://schemas.microsoft.com/office/drawing/2014/main" id="{A2A5FD6D-245B-0F4B-9706-AD186515A778}"/>
                  </a:ext>
                </a:extLst>
              </p:cNvPr>
              <p:cNvSpPr>
                <a:spLocks noGrp="1" noRot="1" noChangeAspect="1" noMove="1" noResize="1" noEditPoints="1" noAdjustHandles="1" noChangeArrowheads="1" noChangeShapeType="1" noTextEdit="1"/>
              </p:cNvSpPr>
              <p:nvPr>
                <p:ph idx="1"/>
              </p:nvPr>
            </p:nvSpPr>
            <p:spPr>
              <a:blipFill>
                <a:blip r:embed="rId2"/>
                <a:stretch>
                  <a:fillRect l="-1389" b="-1120"/>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0FA8C7AD-DC58-2D45-9369-D9E8C6C0DEB7}"/>
              </a:ext>
            </a:extLst>
          </p:cNvPr>
          <p:cNvSpPr>
            <a:spLocks noGrp="1"/>
          </p:cNvSpPr>
          <p:nvPr>
            <p:ph type="title"/>
          </p:nvPr>
        </p:nvSpPr>
        <p:spPr/>
        <p:txBody>
          <a:bodyPr/>
          <a:lstStyle/>
          <a:p>
            <a:r>
              <a:rPr lang="en-US" dirty="0"/>
              <a:t>Multiple Linear Regression</a:t>
            </a:r>
          </a:p>
        </p:txBody>
      </p:sp>
    </p:spTree>
    <p:extLst>
      <p:ext uri="{BB962C8B-B14F-4D97-AF65-F5344CB8AC3E}">
        <p14:creationId xmlns:p14="http://schemas.microsoft.com/office/powerpoint/2010/main" val="331624430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Text&#10;&#10;Description automatically generated with medium confidence">
            <a:extLst>
              <a:ext uri="{FF2B5EF4-FFF2-40B4-BE49-F238E27FC236}">
                <a16:creationId xmlns:a16="http://schemas.microsoft.com/office/drawing/2014/main" id="{9188D55E-65F5-3846-8675-25C62D400E36}"/>
              </a:ext>
            </a:extLst>
          </p:cNvPr>
          <p:cNvPicPr>
            <a:picLocks noChangeAspect="1"/>
          </p:cNvPicPr>
          <p:nvPr/>
        </p:nvPicPr>
        <p:blipFill>
          <a:blip r:embed="rId3"/>
          <a:stretch>
            <a:fillRect/>
          </a:stretch>
        </p:blipFill>
        <p:spPr>
          <a:xfrm>
            <a:off x="0" y="103909"/>
            <a:ext cx="9144000" cy="6650182"/>
          </a:xfrm>
          <a:prstGeom prst="rect">
            <a:avLst/>
          </a:prstGeom>
        </p:spPr>
      </p:pic>
    </p:spTree>
    <p:extLst>
      <p:ext uri="{BB962C8B-B14F-4D97-AF65-F5344CB8AC3E}">
        <p14:creationId xmlns:p14="http://schemas.microsoft.com/office/powerpoint/2010/main" val="400163062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Graphical user interface, text, application, email&#10;&#10;Description automatically generated">
            <a:extLst>
              <a:ext uri="{FF2B5EF4-FFF2-40B4-BE49-F238E27FC236}">
                <a16:creationId xmlns:a16="http://schemas.microsoft.com/office/drawing/2014/main" id="{26905726-9A47-524B-BC2F-A0C3486C3376}"/>
              </a:ext>
            </a:extLst>
          </p:cNvPr>
          <p:cNvPicPr>
            <a:picLocks noChangeAspect="1"/>
          </p:cNvPicPr>
          <p:nvPr/>
        </p:nvPicPr>
        <p:blipFill>
          <a:blip r:embed="rId2"/>
          <a:stretch>
            <a:fillRect/>
          </a:stretch>
        </p:blipFill>
        <p:spPr>
          <a:xfrm>
            <a:off x="0" y="93585"/>
            <a:ext cx="9144000" cy="6670830"/>
          </a:xfrm>
          <a:prstGeom prst="rect">
            <a:avLst/>
          </a:prstGeom>
        </p:spPr>
      </p:pic>
    </p:spTree>
    <p:extLst>
      <p:ext uri="{BB962C8B-B14F-4D97-AF65-F5344CB8AC3E}">
        <p14:creationId xmlns:p14="http://schemas.microsoft.com/office/powerpoint/2010/main" val="256526942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Text&#10;&#10;Description automatically generated with medium confidence">
            <a:extLst>
              <a:ext uri="{FF2B5EF4-FFF2-40B4-BE49-F238E27FC236}">
                <a16:creationId xmlns:a16="http://schemas.microsoft.com/office/drawing/2014/main" id="{B8BCE6E3-89EE-BE4C-8D56-6409D42EE4EA}"/>
              </a:ext>
            </a:extLst>
          </p:cNvPr>
          <p:cNvPicPr>
            <a:picLocks noChangeAspect="1"/>
          </p:cNvPicPr>
          <p:nvPr/>
        </p:nvPicPr>
        <p:blipFill>
          <a:blip r:embed="rId3"/>
          <a:stretch>
            <a:fillRect/>
          </a:stretch>
        </p:blipFill>
        <p:spPr>
          <a:xfrm>
            <a:off x="0" y="111154"/>
            <a:ext cx="9144000" cy="6635692"/>
          </a:xfrm>
          <a:prstGeom prst="rect">
            <a:avLst/>
          </a:prstGeom>
        </p:spPr>
      </p:pic>
    </p:spTree>
    <p:extLst>
      <p:ext uri="{BB962C8B-B14F-4D97-AF65-F5344CB8AC3E}">
        <p14:creationId xmlns:p14="http://schemas.microsoft.com/office/powerpoint/2010/main" val="145726938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picture containing diagram&#10;&#10;Description automatically generated">
            <a:extLst>
              <a:ext uri="{FF2B5EF4-FFF2-40B4-BE49-F238E27FC236}">
                <a16:creationId xmlns:a16="http://schemas.microsoft.com/office/drawing/2014/main" id="{9E994004-4561-B34A-B2AF-8785CEFE2A8A}"/>
              </a:ext>
            </a:extLst>
          </p:cNvPr>
          <p:cNvPicPr>
            <a:picLocks noChangeAspect="1"/>
          </p:cNvPicPr>
          <p:nvPr/>
        </p:nvPicPr>
        <p:blipFill>
          <a:blip r:embed="rId3"/>
          <a:stretch>
            <a:fillRect/>
          </a:stretch>
        </p:blipFill>
        <p:spPr>
          <a:xfrm>
            <a:off x="0" y="186118"/>
            <a:ext cx="9144000" cy="6485763"/>
          </a:xfrm>
          <a:prstGeom prst="rect">
            <a:avLst/>
          </a:prstGeom>
        </p:spPr>
      </p:pic>
    </p:spTree>
    <p:extLst>
      <p:ext uri="{BB962C8B-B14F-4D97-AF65-F5344CB8AC3E}">
        <p14:creationId xmlns:p14="http://schemas.microsoft.com/office/powerpoint/2010/main" val="82330119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Graphical user interface, text, application, email&#10;&#10;Description automatically generated">
            <a:extLst>
              <a:ext uri="{FF2B5EF4-FFF2-40B4-BE49-F238E27FC236}">
                <a16:creationId xmlns:a16="http://schemas.microsoft.com/office/drawing/2014/main" id="{2E12F6D7-F64B-9649-8B8D-676480988A77}"/>
              </a:ext>
            </a:extLst>
          </p:cNvPr>
          <p:cNvPicPr>
            <a:picLocks noChangeAspect="1"/>
          </p:cNvPicPr>
          <p:nvPr/>
        </p:nvPicPr>
        <p:blipFill>
          <a:blip r:embed="rId2"/>
          <a:stretch>
            <a:fillRect/>
          </a:stretch>
        </p:blipFill>
        <p:spPr>
          <a:xfrm>
            <a:off x="0" y="109257"/>
            <a:ext cx="9144000" cy="6639485"/>
          </a:xfrm>
          <a:prstGeom prst="rect">
            <a:avLst/>
          </a:prstGeom>
        </p:spPr>
      </p:pic>
    </p:spTree>
    <p:extLst>
      <p:ext uri="{BB962C8B-B14F-4D97-AF65-F5344CB8AC3E}">
        <p14:creationId xmlns:p14="http://schemas.microsoft.com/office/powerpoint/2010/main" val="5589928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Graphical user interface, text, application, email&#10;&#10;Description automatically generated">
            <a:extLst>
              <a:ext uri="{FF2B5EF4-FFF2-40B4-BE49-F238E27FC236}">
                <a16:creationId xmlns:a16="http://schemas.microsoft.com/office/drawing/2014/main" id="{62419115-2C92-FD4D-92CD-0ADE8E7CB967}"/>
              </a:ext>
            </a:extLst>
          </p:cNvPr>
          <p:cNvPicPr>
            <a:picLocks noChangeAspect="1"/>
          </p:cNvPicPr>
          <p:nvPr/>
        </p:nvPicPr>
        <p:blipFill>
          <a:blip r:embed="rId2"/>
          <a:stretch>
            <a:fillRect/>
          </a:stretch>
        </p:blipFill>
        <p:spPr>
          <a:xfrm>
            <a:off x="0" y="147077"/>
            <a:ext cx="9144000" cy="6563846"/>
          </a:xfrm>
          <a:prstGeom prst="rect">
            <a:avLst/>
          </a:prstGeom>
        </p:spPr>
      </p:pic>
    </p:spTree>
    <p:extLst>
      <p:ext uri="{BB962C8B-B14F-4D97-AF65-F5344CB8AC3E}">
        <p14:creationId xmlns:p14="http://schemas.microsoft.com/office/powerpoint/2010/main" val="365830695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Table&#10;&#10;Description automatically generated">
            <a:extLst>
              <a:ext uri="{FF2B5EF4-FFF2-40B4-BE49-F238E27FC236}">
                <a16:creationId xmlns:a16="http://schemas.microsoft.com/office/drawing/2014/main" id="{D3252123-A1EA-3A4B-A100-1ED0BB122981}"/>
              </a:ext>
            </a:extLst>
          </p:cNvPr>
          <p:cNvPicPr>
            <a:picLocks noChangeAspect="1"/>
          </p:cNvPicPr>
          <p:nvPr/>
        </p:nvPicPr>
        <p:blipFill>
          <a:blip r:embed="rId2"/>
          <a:stretch>
            <a:fillRect/>
          </a:stretch>
        </p:blipFill>
        <p:spPr>
          <a:xfrm>
            <a:off x="0" y="108107"/>
            <a:ext cx="9144000" cy="6641785"/>
          </a:xfrm>
          <a:prstGeom prst="rect">
            <a:avLst/>
          </a:prstGeom>
        </p:spPr>
      </p:pic>
    </p:spTree>
    <p:extLst>
      <p:ext uri="{BB962C8B-B14F-4D97-AF65-F5344CB8AC3E}">
        <p14:creationId xmlns:p14="http://schemas.microsoft.com/office/powerpoint/2010/main" val="62586635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1135A88-0F62-6E4D-9BFE-A65F10316BE0}"/>
              </a:ext>
            </a:extLst>
          </p:cNvPr>
          <p:cNvSpPr>
            <a:spLocks noGrp="1"/>
          </p:cNvSpPr>
          <p:nvPr>
            <p:ph idx="1"/>
          </p:nvPr>
        </p:nvSpPr>
        <p:spPr/>
        <p:txBody>
          <a:bodyPr>
            <a:normAutofit fontScale="92500" lnSpcReduction="20000"/>
          </a:bodyPr>
          <a:lstStyle/>
          <a:p>
            <a:r>
              <a:rPr lang="en-US" dirty="0"/>
              <a:t>In order to assess a multi variable linear regression, an equation is needed reflecting impact of multi-parameters</a:t>
            </a:r>
          </a:p>
          <a:p>
            <a:pPr lvl="1"/>
            <a:r>
              <a:rPr lang="en-US" dirty="0"/>
              <a:t>F test is the ratio of regression error to residual error</a:t>
            </a:r>
          </a:p>
          <a:p>
            <a:pPr lvl="1"/>
            <a:r>
              <a:rPr lang="en-US" dirty="0"/>
              <a:t>Numerator has been standardized by dividing by number of parameter</a:t>
            </a:r>
          </a:p>
          <a:p>
            <a:pPr lvl="1"/>
            <a:r>
              <a:rPr lang="en-US" dirty="0"/>
              <a:t>Denominator has been standardized by dividing by (number of samples-number of parameters-1)</a:t>
            </a:r>
          </a:p>
          <a:p>
            <a:pPr lvl="1"/>
            <a:r>
              <a:rPr lang="en-US" dirty="0"/>
              <a:t>(-1) in denominator because of one parameter in the alternative equation  </a:t>
            </a:r>
          </a:p>
          <a:p>
            <a:r>
              <a:rPr lang="en-US" dirty="0"/>
              <a:t>This is called F-distribution</a:t>
            </a:r>
          </a:p>
          <a:p>
            <a:endParaRPr lang="en-US" dirty="0"/>
          </a:p>
          <a:p>
            <a:endParaRPr lang="en-US" dirty="0"/>
          </a:p>
        </p:txBody>
      </p:sp>
      <p:sp>
        <p:nvSpPr>
          <p:cNvPr id="3" name="Title 2">
            <a:extLst>
              <a:ext uri="{FF2B5EF4-FFF2-40B4-BE49-F238E27FC236}">
                <a16:creationId xmlns:a16="http://schemas.microsoft.com/office/drawing/2014/main" id="{E1603158-74FE-B242-A6B1-77CBF48DC39E}"/>
              </a:ext>
            </a:extLst>
          </p:cNvPr>
          <p:cNvSpPr>
            <a:spLocks noGrp="1"/>
          </p:cNvSpPr>
          <p:nvPr>
            <p:ph type="title"/>
          </p:nvPr>
        </p:nvSpPr>
        <p:spPr>
          <a:xfrm>
            <a:off x="457200" y="274638"/>
            <a:ext cx="8562622" cy="1143000"/>
          </a:xfrm>
        </p:spPr>
        <p:txBody>
          <a:bodyPr>
            <a:normAutofit fontScale="90000"/>
          </a:bodyPr>
          <a:lstStyle/>
          <a:p>
            <a:r>
              <a:rPr lang="en-US" dirty="0"/>
              <a:t>F – Test</a:t>
            </a:r>
            <a:br>
              <a:rPr lang="en-US" dirty="0"/>
            </a:br>
            <a:r>
              <a:rPr lang="en-US" dirty="0"/>
              <a:t>Testing for Significance of Multiple Parameter</a:t>
            </a:r>
          </a:p>
        </p:txBody>
      </p:sp>
    </p:spTree>
    <p:extLst>
      <p:ext uri="{BB962C8B-B14F-4D97-AF65-F5344CB8AC3E}">
        <p14:creationId xmlns:p14="http://schemas.microsoft.com/office/powerpoint/2010/main" val="20302374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54C0D471-E17F-BE4D-A4CB-EA260EC736CA}"/>
                  </a:ext>
                </a:extLst>
              </p:cNvPr>
              <p:cNvSpPr>
                <a:spLocks noGrp="1"/>
              </p:cNvSpPr>
              <p:nvPr>
                <p:ph idx="1"/>
              </p:nvPr>
            </p:nvSpPr>
            <p:spPr/>
            <p:txBody>
              <a:bodyPr>
                <a:normAutofit fontScale="85000" lnSpcReduction="10000"/>
              </a:bodyPr>
              <a:lstStyle/>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𝐹</m:t>
                      </m:r>
                      <m:r>
                        <a:rPr lang="en-US" b="0" i="1" smtClean="0">
                          <a:latin typeface="Cambria Math" panose="02040503050406030204" pitchFamily="18" charset="0"/>
                        </a:rPr>
                        <m:t>=</m:t>
                      </m:r>
                      <m:f>
                        <m:fPr>
                          <m:ctrlPr>
                            <a:rPr lang="en-US" b="0" i="1" smtClean="0">
                              <a:latin typeface="Cambria Math" panose="02040503050406030204" pitchFamily="18" charset="0"/>
                            </a:rPr>
                          </m:ctrlPr>
                        </m:fPr>
                        <m:num>
                          <m:f>
                            <m:fPr>
                              <m:type m:val="skw"/>
                              <m:ctrlPr>
                                <a:rPr lang="en-US" b="0" i="1" smtClean="0">
                                  <a:latin typeface="Cambria Math" panose="02040503050406030204" pitchFamily="18" charset="0"/>
                                </a:rPr>
                              </m:ctrlPr>
                            </m:fPr>
                            <m:num>
                              <m:r>
                                <a:rPr lang="en-US" b="0" i="1" smtClean="0">
                                  <a:latin typeface="Cambria Math" panose="02040503050406030204" pitchFamily="18" charset="0"/>
                                </a:rPr>
                                <m:t>𝑅𝑒𝑔</m:t>
                              </m:r>
                              <m:r>
                                <a:rPr lang="en-US" b="0" i="1" smtClean="0">
                                  <a:latin typeface="Cambria Math" panose="02040503050406030204" pitchFamily="18" charset="0"/>
                                </a:rPr>
                                <m:t> </m:t>
                              </m:r>
                              <m:r>
                                <a:rPr lang="en-US" b="0" i="1" smtClean="0">
                                  <a:latin typeface="Cambria Math" panose="02040503050406030204" pitchFamily="18" charset="0"/>
                                </a:rPr>
                                <m:t>𝑆𝑆</m:t>
                              </m:r>
                            </m:num>
                            <m:den>
                              <m:r>
                                <a:rPr lang="en-US" b="0" i="1" smtClean="0">
                                  <a:latin typeface="Cambria Math" panose="02040503050406030204" pitchFamily="18" charset="0"/>
                                </a:rPr>
                                <m:t>𝑅𝑒𝑔</m:t>
                              </m:r>
                              <m:r>
                                <a:rPr lang="en-US" b="0" i="1" smtClean="0">
                                  <a:latin typeface="Cambria Math" panose="02040503050406030204" pitchFamily="18" charset="0"/>
                                </a:rPr>
                                <m:t> </m:t>
                              </m:r>
                              <m:r>
                                <a:rPr lang="en-US" b="0" i="1" smtClean="0">
                                  <a:latin typeface="Cambria Math" panose="02040503050406030204" pitchFamily="18" charset="0"/>
                                </a:rPr>
                                <m:t>𝑑𝑓</m:t>
                              </m:r>
                            </m:den>
                          </m:f>
                        </m:num>
                        <m:den>
                          <m:f>
                            <m:fPr>
                              <m:type m:val="skw"/>
                              <m:ctrlPr>
                                <a:rPr lang="en-US" b="0" i="1" smtClean="0">
                                  <a:latin typeface="Cambria Math" panose="02040503050406030204" pitchFamily="18" charset="0"/>
                                </a:rPr>
                              </m:ctrlPr>
                            </m:fPr>
                            <m:num>
                              <m:r>
                                <a:rPr lang="en-US" b="0" i="1" smtClean="0">
                                  <a:latin typeface="Cambria Math" panose="02040503050406030204" pitchFamily="18" charset="0"/>
                                </a:rPr>
                                <m:t>𝑅𝑒𝑠</m:t>
                              </m:r>
                              <m:r>
                                <a:rPr lang="en-US" b="0" i="1" smtClean="0">
                                  <a:latin typeface="Cambria Math" panose="02040503050406030204" pitchFamily="18" charset="0"/>
                                </a:rPr>
                                <m:t> </m:t>
                              </m:r>
                              <m:r>
                                <a:rPr lang="en-US" b="0" i="1" smtClean="0">
                                  <a:latin typeface="Cambria Math" panose="02040503050406030204" pitchFamily="18" charset="0"/>
                                </a:rPr>
                                <m:t>𝑆𝑆</m:t>
                              </m:r>
                            </m:num>
                            <m:den>
                              <m:r>
                                <a:rPr lang="en-US" b="0" i="1" smtClean="0">
                                  <a:latin typeface="Cambria Math" panose="02040503050406030204" pitchFamily="18" charset="0"/>
                                </a:rPr>
                                <m:t>𝑂𝑟𝑖𝑔𝑖𝑛𝑎𝑙</m:t>
                              </m:r>
                              <m:r>
                                <a:rPr lang="en-US" b="0" i="1" smtClean="0">
                                  <a:latin typeface="Cambria Math" panose="02040503050406030204" pitchFamily="18" charset="0"/>
                                </a:rPr>
                                <m:t> </m:t>
                              </m:r>
                              <m:r>
                                <a:rPr lang="en-US" b="0" i="1" smtClean="0">
                                  <a:latin typeface="Cambria Math" panose="02040503050406030204" pitchFamily="18" charset="0"/>
                                </a:rPr>
                                <m:t>𝑚𝑜𝑑𝑒𝑙</m:t>
                              </m:r>
                              <m:r>
                                <a:rPr lang="en-US" b="0" i="1" smtClean="0">
                                  <a:latin typeface="Cambria Math" panose="02040503050406030204" pitchFamily="18" charset="0"/>
                                </a:rPr>
                                <m:t>  </m:t>
                              </m:r>
                              <m:r>
                                <a:rPr lang="en-US" b="0" i="1" smtClean="0">
                                  <a:latin typeface="Cambria Math" panose="02040503050406030204" pitchFamily="18" charset="0"/>
                                </a:rPr>
                                <m:t>𝑑𝑓</m:t>
                              </m:r>
                            </m:den>
                          </m:f>
                        </m:den>
                      </m:f>
                    </m:oMath>
                  </m:oMathPara>
                </a14:m>
                <a:endParaRPr lang="en-US" dirty="0"/>
              </a:p>
              <a:p>
                <a:pPr marL="0" indent="0">
                  <a:buNone/>
                </a:pPr>
                <a:r>
                  <a:rPr lang="en-US" sz="3900" b="1" dirty="0"/>
                  <a:t>- Or</a:t>
                </a:r>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𝐹</m:t>
                      </m:r>
                      <m:r>
                        <a:rPr lang="en-US" i="1">
                          <a:latin typeface="Cambria Math" panose="02040503050406030204" pitchFamily="18" charset="0"/>
                        </a:rPr>
                        <m:t>=</m:t>
                      </m:r>
                      <m:f>
                        <m:fPr>
                          <m:ctrlPr>
                            <a:rPr lang="en-US" i="1">
                              <a:latin typeface="Cambria Math" panose="02040503050406030204" pitchFamily="18" charset="0"/>
                            </a:rPr>
                          </m:ctrlPr>
                        </m:fPr>
                        <m:num>
                          <m:f>
                            <m:fPr>
                              <m:type m:val="skw"/>
                              <m:ctrlPr>
                                <a:rPr lang="en-US" i="1">
                                  <a:latin typeface="Cambria Math" panose="02040503050406030204" pitchFamily="18" charset="0"/>
                                </a:rPr>
                              </m:ctrlPr>
                            </m:fPr>
                            <m:num>
                              <m:r>
                                <a:rPr lang="en-US" b="0" i="1" smtClean="0">
                                  <a:latin typeface="Cambria Math" panose="02040503050406030204" pitchFamily="18" charset="0"/>
                                </a:rPr>
                                <m:t>(</m:t>
                              </m:r>
                              <m:r>
                                <a:rPr lang="en-US" b="0" i="1" smtClean="0">
                                  <a:latin typeface="Cambria Math" panose="02040503050406030204" pitchFamily="18" charset="0"/>
                                </a:rPr>
                                <m:t>𝑇𝑜𝑡𝑎𝑙</m:t>
                              </m:r>
                              <m:r>
                                <a:rPr lang="en-US" b="0" i="1" smtClean="0">
                                  <a:latin typeface="Cambria Math" panose="02040503050406030204" pitchFamily="18" charset="0"/>
                                </a:rPr>
                                <m:t> </m:t>
                              </m:r>
                              <m:r>
                                <a:rPr lang="en-US" b="0" i="1" smtClean="0">
                                  <a:latin typeface="Cambria Math" panose="02040503050406030204" pitchFamily="18" charset="0"/>
                                </a:rPr>
                                <m:t>𝑆𝑆</m:t>
                              </m:r>
                              <m:r>
                                <a:rPr lang="en-US" b="0" i="1" smtClean="0">
                                  <a:latin typeface="Cambria Math" panose="02040503050406030204" pitchFamily="18" charset="0"/>
                                </a:rPr>
                                <m:t> − </m:t>
                              </m:r>
                              <m:r>
                                <a:rPr lang="en-US" i="1">
                                  <a:latin typeface="Cambria Math" panose="02040503050406030204" pitchFamily="18" charset="0"/>
                                </a:rPr>
                                <m:t>𝑅𝑒</m:t>
                              </m:r>
                              <m:r>
                                <a:rPr lang="en-US" b="0" i="1" smtClean="0">
                                  <a:latin typeface="Cambria Math" panose="02040503050406030204" pitchFamily="18" charset="0"/>
                                </a:rPr>
                                <m:t>𝑠</m:t>
                              </m:r>
                              <m:r>
                                <a:rPr lang="en-US" i="1">
                                  <a:latin typeface="Cambria Math" panose="02040503050406030204" pitchFamily="18" charset="0"/>
                                </a:rPr>
                                <m:t> </m:t>
                              </m:r>
                              <m:r>
                                <a:rPr lang="en-US" i="1">
                                  <a:latin typeface="Cambria Math" panose="02040503050406030204" pitchFamily="18" charset="0"/>
                                </a:rPr>
                                <m:t>𝑆𝑆</m:t>
                              </m:r>
                              <m:r>
                                <a:rPr lang="en-US" b="0" i="1" smtClean="0">
                                  <a:latin typeface="Cambria Math" panose="02040503050406030204" pitchFamily="18" charset="0"/>
                                </a:rPr>
                                <m:t>)</m:t>
                              </m:r>
                            </m:num>
                            <m:den>
                              <m:r>
                                <a:rPr lang="en-US" i="1">
                                  <a:latin typeface="Cambria Math" panose="02040503050406030204" pitchFamily="18" charset="0"/>
                                </a:rPr>
                                <m:t>𝑅𝑒𝑔</m:t>
                              </m:r>
                              <m:r>
                                <a:rPr lang="en-US" i="1">
                                  <a:latin typeface="Cambria Math" panose="02040503050406030204" pitchFamily="18" charset="0"/>
                                </a:rPr>
                                <m:t> </m:t>
                              </m:r>
                              <m:r>
                                <a:rPr lang="en-US" i="1">
                                  <a:latin typeface="Cambria Math" panose="02040503050406030204" pitchFamily="18" charset="0"/>
                                </a:rPr>
                                <m:t>𝑑𝑓</m:t>
                              </m:r>
                            </m:den>
                          </m:f>
                        </m:num>
                        <m:den>
                          <m:f>
                            <m:fPr>
                              <m:type m:val="skw"/>
                              <m:ctrlPr>
                                <a:rPr lang="en-US" i="1">
                                  <a:latin typeface="Cambria Math" panose="02040503050406030204" pitchFamily="18" charset="0"/>
                                </a:rPr>
                              </m:ctrlPr>
                            </m:fPr>
                            <m:num>
                              <m:r>
                                <a:rPr lang="en-US" i="1">
                                  <a:latin typeface="Cambria Math" panose="02040503050406030204" pitchFamily="18" charset="0"/>
                                </a:rPr>
                                <m:t>𝑅𝑒𝑠</m:t>
                              </m:r>
                              <m:r>
                                <a:rPr lang="en-US" i="1">
                                  <a:latin typeface="Cambria Math" panose="02040503050406030204" pitchFamily="18" charset="0"/>
                                </a:rPr>
                                <m:t> </m:t>
                              </m:r>
                              <m:r>
                                <a:rPr lang="en-US" i="1">
                                  <a:latin typeface="Cambria Math" panose="02040503050406030204" pitchFamily="18" charset="0"/>
                                </a:rPr>
                                <m:t>𝑆𝑆</m:t>
                              </m:r>
                            </m:num>
                            <m:den>
                              <m:r>
                                <a:rPr lang="en-US" i="1">
                                  <a:latin typeface="Cambria Math" panose="02040503050406030204" pitchFamily="18" charset="0"/>
                                </a:rPr>
                                <m:t>𝑂𝑟𝑖𝑔𝑖𝑛𝑎𝑙</m:t>
                              </m:r>
                              <m:r>
                                <a:rPr lang="en-US" i="1">
                                  <a:latin typeface="Cambria Math" panose="02040503050406030204" pitchFamily="18" charset="0"/>
                                </a:rPr>
                                <m:t> </m:t>
                              </m:r>
                              <m:r>
                                <a:rPr lang="en-US" i="1">
                                  <a:latin typeface="Cambria Math" panose="02040503050406030204" pitchFamily="18" charset="0"/>
                                </a:rPr>
                                <m:t>𝑚𝑜𝑑𝑒𝑙</m:t>
                              </m:r>
                              <m:r>
                                <a:rPr lang="en-US" i="1">
                                  <a:latin typeface="Cambria Math" panose="02040503050406030204" pitchFamily="18" charset="0"/>
                                </a:rPr>
                                <m:t>  </m:t>
                              </m:r>
                              <m:r>
                                <a:rPr lang="en-US" i="1">
                                  <a:latin typeface="Cambria Math" panose="02040503050406030204" pitchFamily="18" charset="0"/>
                                </a:rPr>
                                <m:t>𝑑𝑓</m:t>
                              </m:r>
                            </m:den>
                          </m:f>
                        </m:den>
                      </m:f>
                    </m:oMath>
                  </m:oMathPara>
                </a14:m>
                <a:endParaRPr lang="en-US" dirty="0"/>
              </a:p>
              <a:p>
                <a:r>
                  <a:rPr lang="en-US" dirty="0"/>
                  <a:t>In words: error captured by model divided by remaining error</a:t>
                </a:r>
              </a:p>
            </p:txBody>
          </p:sp>
        </mc:Choice>
        <mc:Fallback xmlns="">
          <p:sp>
            <p:nvSpPr>
              <p:cNvPr id="2" name="Content Placeholder 1">
                <a:extLst>
                  <a:ext uri="{FF2B5EF4-FFF2-40B4-BE49-F238E27FC236}">
                    <a16:creationId xmlns:a16="http://schemas.microsoft.com/office/drawing/2014/main" id="{54C0D471-E17F-BE4D-A4CB-EA260EC736CA}"/>
                  </a:ext>
                </a:extLst>
              </p:cNvPr>
              <p:cNvSpPr>
                <a:spLocks noGrp="1" noRot="1" noChangeAspect="1" noMove="1" noResize="1" noEditPoints="1" noAdjustHandles="1" noChangeArrowheads="1" noChangeShapeType="1" noTextEdit="1"/>
              </p:cNvSpPr>
              <p:nvPr>
                <p:ph idx="1"/>
              </p:nvPr>
            </p:nvSpPr>
            <p:spPr>
              <a:blipFill>
                <a:blip r:embed="rId2"/>
                <a:stretch>
                  <a:fillRect l="-2006" t="-16246" r="-1852" b="-10364"/>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54A1AE84-6823-5A41-B1E3-BF709FA1E29A}"/>
              </a:ext>
            </a:extLst>
          </p:cNvPr>
          <p:cNvSpPr>
            <a:spLocks noGrp="1"/>
          </p:cNvSpPr>
          <p:nvPr>
            <p:ph type="title"/>
          </p:nvPr>
        </p:nvSpPr>
        <p:spPr/>
        <p:txBody>
          <a:bodyPr/>
          <a:lstStyle/>
          <a:p>
            <a:r>
              <a:rPr lang="en-US" dirty="0"/>
              <a:t>General F function</a:t>
            </a:r>
          </a:p>
        </p:txBody>
      </p:sp>
    </p:spTree>
    <p:extLst>
      <p:ext uri="{BB962C8B-B14F-4D97-AF65-F5344CB8AC3E}">
        <p14:creationId xmlns:p14="http://schemas.microsoft.com/office/powerpoint/2010/main" val="88118925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D0A5BE0-BA41-CC4A-A604-280B0D154651}"/>
              </a:ext>
            </a:extLst>
          </p:cNvPr>
          <p:cNvPicPr>
            <a:picLocks noChangeAspect="1"/>
          </p:cNvPicPr>
          <p:nvPr/>
        </p:nvPicPr>
        <p:blipFill>
          <a:blip r:embed="rId2"/>
          <a:stretch>
            <a:fillRect/>
          </a:stretch>
        </p:blipFill>
        <p:spPr>
          <a:xfrm>
            <a:off x="368300" y="419100"/>
            <a:ext cx="8407400" cy="6019800"/>
          </a:xfrm>
          <a:prstGeom prst="rect">
            <a:avLst/>
          </a:prstGeom>
        </p:spPr>
      </p:pic>
    </p:spTree>
    <p:extLst>
      <p:ext uri="{BB962C8B-B14F-4D97-AF65-F5344CB8AC3E}">
        <p14:creationId xmlns:p14="http://schemas.microsoft.com/office/powerpoint/2010/main" val="35709719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4E50A70-50DC-1B40-9694-AAA747E84045}"/>
              </a:ext>
            </a:extLst>
          </p:cNvPr>
          <p:cNvPicPr>
            <a:picLocks noChangeAspect="1"/>
          </p:cNvPicPr>
          <p:nvPr/>
        </p:nvPicPr>
        <p:blipFill>
          <a:blip r:embed="rId2"/>
          <a:stretch>
            <a:fillRect/>
          </a:stretch>
        </p:blipFill>
        <p:spPr>
          <a:xfrm>
            <a:off x="368300" y="381000"/>
            <a:ext cx="8407400" cy="6096000"/>
          </a:xfrm>
          <a:prstGeom prst="rect">
            <a:avLst/>
          </a:prstGeom>
        </p:spPr>
      </p:pic>
    </p:spTree>
    <p:extLst>
      <p:ext uri="{BB962C8B-B14F-4D97-AF65-F5344CB8AC3E}">
        <p14:creationId xmlns:p14="http://schemas.microsoft.com/office/powerpoint/2010/main" val="138358265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18378C2-9069-0745-B706-2B40F1D2D64E}"/>
              </a:ext>
            </a:extLst>
          </p:cNvPr>
          <p:cNvSpPr>
            <a:spLocks noGrp="1"/>
          </p:cNvSpPr>
          <p:nvPr>
            <p:ph idx="1"/>
          </p:nvPr>
        </p:nvSpPr>
        <p:spPr/>
        <p:txBody>
          <a:bodyPr/>
          <a:lstStyle/>
          <a:p>
            <a:r>
              <a:rPr lang="en-US" dirty="0"/>
              <a:t>Predicting stock value as a function of PE ratio, earning per stock, and dividend.</a:t>
            </a:r>
          </a:p>
          <a:p>
            <a:r>
              <a:rPr lang="en-US" dirty="0"/>
              <a:t>We have taken </a:t>
            </a:r>
            <a:r>
              <a:rPr lang="en-US" b="1" dirty="0"/>
              <a:t>350</a:t>
            </a:r>
            <a:r>
              <a:rPr lang="en-US" dirty="0"/>
              <a:t> companies.</a:t>
            </a:r>
          </a:p>
          <a:p>
            <a:r>
              <a:rPr lang="en-US" dirty="0"/>
              <a:t>Total sum of squares: 130</a:t>
            </a:r>
          </a:p>
          <a:p>
            <a:r>
              <a:rPr lang="en-US" dirty="0"/>
              <a:t>Residual sum of squares after model: 30</a:t>
            </a:r>
          </a:p>
          <a:p>
            <a:r>
              <a:rPr lang="en-US" dirty="0"/>
              <a:t>Test the significance of this solution with 95% CI</a:t>
            </a:r>
          </a:p>
          <a:p>
            <a:endParaRPr lang="en-US" dirty="0"/>
          </a:p>
        </p:txBody>
      </p:sp>
      <p:sp>
        <p:nvSpPr>
          <p:cNvPr id="3" name="Title 2">
            <a:extLst>
              <a:ext uri="{FF2B5EF4-FFF2-40B4-BE49-F238E27FC236}">
                <a16:creationId xmlns:a16="http://schemas.microsoft.com/office/drawing/2014/main" id="{674A0D9A-1451-EC41-8436-DF87766BA2FE}"/>
              </a:ext>
            </a:extLst>
          </p:cNvPr>
          <p:cNvSpPr>
            <a:spLocks noGrp="1"/>
          </p:cNvSpPr>
          <p:nvPr>
            <p:ph type="title"/>
          </p:nvPr>
        </p:nvSpPr>
        <p:spPr/>
        <p:txBody>
          <a:bodyPr/>
          <a:lstStyle/>
          <a:p>
            <a:r>
              <a:rPr lang="en-US" dirty="0"/>
              <a:t>F- test example2</a:t>
            </a:r>
          </a:p>
        </p:txBody>
      </p:sp>
    </p:spTree>
    <p:extLst>
      <p:ext uri="{BB962C8B-B14F-4D97-AF65-F5344CB8AC3E}">
        <p14:creationId xmlns:p14="http://schemas.microsoft.com/office/powerpoint/2010/main" val="156155486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7AFC0613-75A3-1546-A191-F9834450FB01}"/>
                  </a:ext>
                </a:extLst>
              </p:cNvPr>
              <p:cNvSpPr>
                <a:spLocks noGrp="1"/>
              </p:cNvSpPr>
              <p:nvPr>
                <p:ph idx="1"/>
              </p:nvPr>
            </p:nvSpPr>
            <p:spPr/>
            <p:txBody>
              <a:bodyPr>
                <a:normAutofit fontScale="85000" lnSpcReduction="10000"/>
              </a:bodyPr>
              <a:lstStyle/>
              <a:p>
                <a:r>
                  <a:rPr lang="en-US" dirty="0"/>
                  <a:t>Hypothesis</a:t>
                </a:r>
              </a:p>
              <a:p>
                <a:pPr lvl="1"/>
                <a:r>
                  <a:rPr lang="en-US" dirty="0"/>
                  <a:t>H0: </a:t>
                </a:r>
                <a14:m>
                  <m:oMath xmlns:m="http://schemas.openxmlformats.org/officeDocument/2006/math">
                    <m:r>
                      <a:rPr lang="en-US" i="1" smtClean="0">
                        <a:latin typeface="Cambria Math" panose="02040503050406030204" pitchFamily="18" charset="0"/>
                        <a:ea typeface="Cambria Math" panose="02040503050406030204" pitchFamily="18" charset="0"/>
                      </a:rPr>
                      <m:t>𝛽</m:t>
                    </m:r>
                    <m:r>
                      <a:rPr lang="en-US" b="0" i="1" baseline="-25000" smtClean="0">
                        <a:latin typeface="Cambria Math" panose="02040503050406030204" pitchFamily="18" charset="0"/>
                        <a:ea typeface="Cambria Math" panose="02040503050406030204" pitchFamily="18" charset="0"/>
                      </a:rPr>
                      <m:t>1</m:t>
                    </m:r>
                    <m:r>
                      <a:rPr lang="en-US" b="0" i="1" smtClean="0">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𝛽</m:t>
                    </m:r>
                    <m:r>
                      <a:rPr lang="en-US" b="0" i="1" baseline="-25000" smtClean="0">
                        <a:latin typeface="Cambria Math" panose="02040503050406030204" pitchFamily="18" charset="0"/>
                        <a:ea typeface="Cambria Math" panose="02040503050406030204" pitchFamily="18" charset="0"/>
                      </a:rPr>
                      <m:t>2</m:t>
                    </m:r>
                    <m:r>
                      <a:rPr lang="en-US" b="0" i="1" smtClean="0">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𝛽</m:t>
                    </m:r>
                    <m:r>
                      <a:rPr lang="en-US" b="0" i="1" baseline="-25000" smtClean="0">
                        <a:latin typeface="Cambria Math" panose="02040503050406030204" pitchFamily="18" charset="0"/>
                        <a:ea typeface="Cambria Math" panose="02040503050406030204" pitchFamily="18" charset="0"/>
                      </a:rPr>
                      <m:t>3</m:t>
                    </m:r>
                    <m:r>
                      <a:rPr lang="en-US" b="0" i="1" smtClean="0">
                        <a:latin typeface="Cambria Math" panose="02040503050406030204" pitchFamily="18" charset="0"/>
                        <a:ea typeface="Cambria Math" panose="02040503050406030204" pitchFamily="18" charset="0"/>
                      </a:rPr>
                      <m:t>=0</m:t>
                    </m:r>
                  </m:oMath>
                </a14:m>
                <a:endParaRPr lang="en-US" dirty="0"/>
              </a:p>
              <a:p>
                <a:pPr lvl="1"/>
                <a:r>
                  <a:rPr lang="en-US" dirty="0"/>
                  <a:t>H1: at least one of the coefficients is not zero</a:t>
                </a:r>
              </a:p>
              <a:p>
                <a:r>
                  <a:rPr lang="en-US" dirty="0"/>
                  <a:t>Number of parameters: fd1 = 3</a:t>
                </a:r>
              </a:p>
              <a:p>
                <a:r>
                  <a:rPr lang="en-US" dirty="0"/>
                  <a:t>Number of samples: fd2 = 350</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𝐹</m:t>
                      </m:r>
                      <m:r>
                        <a:rPr lang="en-US" b="0" i="1" baseline="-25000" smtClean="0">
                          <a:latin typeface="Cambria Math" panose="02040503050406030204" pitchFamily="18" charset="0"/>
                        </a:rPr>
                        <m:t>𝑡𝑒𝑠𝑡</m:t>
                      </m:r>
                      <m:r>
                        <a:rPr lang="en-US" b="0" i="1" smtClean="0">
                          <a:latin typeface="Cambria Math" panose="02040503050406030204" pitchFamily="18" charset="0"/>
                        </a:rPr>
                        <m:t>=</m:t>
                      </m:r>
                      <m:f>
                        <m:fPr>
                          <m:ctrlPr>
                            <a:rPr lang="en-US" b="0" i="1" smtClean="0">
                              <a:latin typeface="Cambria Math" panose="02040503050406030204" pitchFamily="18" charset="0"/>
                            </a:rPr>
                          </m:ctrlPr>
                        </m:fPr>
                        <m:num>
                          <m:f>
                            <m:fPr>
                              <m:type m:val="skw"/>
                              <m:ctrlPr>
                                <a:rPr lang="en-US" b="0" i="1" smtClean="0">
                                  <a:latin typeface="Cambria Math" panose="02040503050406030204" pitchFamily="18" charset="0"/>
                                </a:rPr>
                              </m:ctrlPr>
                            </m:fPr>
                            <m:num>
                              <m:r>
                                <a:rPr lang="en-US" b="0" i="1" smtClean="0">
                                  <a:latin typeface="Cambria Math" panose="02040503050406030204" pitchFamily="18" charset="0"/>
                                </a:rPr>
                                <m:t>(130−30)</m:t>
                              </m:r>
                            </m:num>
                            <m:den>
                              <m:r>
                                <a:rPr lang="en-US" b="0" i="1" smtClean="0">
                                  <a:latin typeface="Cambria Math" panose="02040503050406030204" pitchFamily="18" charset="0"/>
                                </a:rPr>
                                <m:t>3</m:t>
                              </m:r>
                            </m:den>
                          </m:f>
                        </m:num>
                        <m:den>
                          <m:f>
                            <m:fPr>
                              <m:type m:val="skw"/>
                              <m:ctrlPr>
                                <a:rPr lang="en-US" b="0" i="1" smtClean="0">
                                  <a:latin typeface="Cambria Math" panose="02040503050406030204" pitchFamily="18" charset="0"/>
                                </a:rPr>
                              </m:ctrlPr>
                            </m:fPr>
                            <m:num>
                              <m:r>
                                <a:rPr lang="en-US" b="0" i="1" smtClean="0">
                                  <a:latin typeface="Cambria Math" panose="02040503050406030204" pitchFamily="18" charset="0"/>
                                </a:rPr>
                                <m:t>30</m:t>
                              </m:r>
                            </m:num>
                            <m:den>
                              <m:r>
                                <a:rPr lang="en-US" b="0" i="1" smtClean="0">
                                  <a:latin typeface="Cambria Math" panose="02040503050406030204" pitchFamily="18" charset="0"/>
                                </a:rPr>
                                <m:t>(350−4)</m:t>
                              </m:r>
                            </m:den>
                          </m:f>
                        </m:den>
                      </m:f>
                      <m:r>
                        <a:rPr lang="en-US" b="0" i="1" smtClean="0">
                          <a:latin typeface="Cambria Math" panose="02040503050406030204" pitchFamily="18" charset="0"/>
                        </a:rPr>
                        <m:t>=346</m:t>
                      </m:r>
                    </m:oMath>
                  </m:oMathPara>
                </a14:m>
                <a:endParaRPr lang="en-US" dirty="0"/>
              </a:p>
              <a:p>
                <a:endParaRPr lang="en-US" dirty="0"/>
              </a:p>
              <a:p>
                <a:r>
                  <a:rPr lang="en-US" dirty="0"/>
                  <a:t>BTW: </a:t>
                </a:r>
                <a:r>
                  <a:rPr lang="en-US" dirty="0" err="1"/>
                  <a:t>qF</a:t>
                </a:r>
                <a:r>
                  <a:rPr lang="en-US" dirty="0"/>
                  <a:t>(0.95, df1=3,df2=346) = 2.63</a:t>
                </a:r>
              </a:p>
            </p:txBody>
          </p:sp>
        </mc:Choice>
        <mc:Fallback xmlns="">
          <p:sp>
            <p:nvSpPr>
              <p:cNvPr id="2" name="Content Placeholder 1">
                <a:extLst>
                  <a:ext uri="{FF2B5EF4-FFF2-40B4-BE49-F238E27FC236}">
                    <a16:creationId xmlns:a16="http://schemas.microsoft.com/office/drawing/2014/main" id="{7AFC0613-75A3-1546-A191-F9834450FB01}"/>
                  </a:ext>
                </a:extLst>
              </p:cNvPr>
              <p:cNvSpPr>
                <a:spLocks noGrp="1" noRot="1" noChangeAspect="1" noMove="1" noResize="1" noEditPoints="1" noAdjustHandles="1" noChangeArrowheads="1" noChangeShapeType="1" noTextEdit="1"/>
              </p:cNvSpPr>
              <p:nvPr>
                <p:ph idx="1"/>
              </p:nvPr>
            </p:nvSpPr>
            <p:spPr>
              <a:blipFill>
                <a:blip r:embed="rId2"/>
                <a:stretch>
                  <a:fillRect t="-2241" b="-2801"/>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4904BF38-639E-9D40-A1A0-6F8B8D49460B}"/>
              </a:ext>
            </a:extLst>
          </p:cNvPr>
          <p:cNvSpPr>
            <a:spLocks noGrp="1"/>
          </p:cNvSpPr>
          <p:nvPr>
            <p:ph type="title"/>
          </p:nvPr>
        </p:nvSpPr>
        <p:spPr/>
        <p:txBody>
          <a:bodyPr/>
          <a:lstStyle/>
          <a:p>
            <a:r>
              <a:rPr lang="en-US" dirty="0"/>
              <a:t>Answer to Example 2</a:t>
            </a:r>
          </a:p>
        </p:txBody>
      </p:sp>
    </p:spTree>
    <p:extLst>
      <p:ext uri="{BB962C8B-B14F-4D97-AF65-F5344CB8AC3E}">
        <p14:creationId xmlns:p14="http://schemas.microsoft.com/office/powerpoint/2010/main" val="396131736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66CC9CB3-1A83-BD49-AFA8-9CADE44E1276}"/>
                  </a:ext>
                </a:extLst>
              </p:cNvPr>
              <p:cNvSpPr>
                <a:spLocks noGrp="1"/>
              </p:cNvSpPr>
              <p:nvPr>
                <p:ph idx="1"/>
              </p:nvPr>
            </p:nvSpPr>
            <p:spPr/>
            <p:txBody>
              <a:bodyPr>
                <a:normAutofit/>
              </a:bodyPr>
              <a:lstStyle/>
              <a:p>
                <a:r>
                  <a:rPr lang="en-US" dirty="0"/>
                  <a:t>Based on 50 samples</a:t>
                </a:r>
              </a:p>
              <a:p>
                <a:pPr lvl="1"/>
                <a14:m>
                  <m:oMath xmlns:m="http://schemas.openxmlformats.org/officeDocument/2006/math">
                    <m:r>
                      <a:rPr lang="en-US" i="1">
                        <a:latin typeface="Cambria Math" panose="02040503050406030204" pitchFamily="18" charset="0"/>
                      </a:rPr>
                      <m:t>𝑦</m:t>
                    </m:r>
                    <m:r>
                      <a:rPr lang="en-US" i="1">
                        <a:latin typeface="Cambria Math" panose="02040503050406030204" pitchFamily="18" charset="0"/>
                      </a:rPr>
                      <m:t>=</m:t>
                    </m:r>
                    <m:r>
                      <a:rPr lang="en-US" i="1">
                        <a:latin typeface="Cambria Math" panose="02040503050406030204" pitchFamily="18" charset="0"/>
                        <a:ea typeface="Cambria Math" panose="02040503050406030204" pitchFamily="18" charset="0"/>
                      </a:rPr>
                      <m:t>𝛽</m:t>
                    </m:r>
                    <m:r>
                      <a:rPr lang="en-US" i="1" baseline="-25000">
                        <a:latin typeface="Cambria Math" panose="02040503050406030204" pitchFamily="18" charset="0"/>
                        <a:ea typeface="Cambria Math" panose="02040503050406030204" pitchFamily="18" charset="0"/>
                      </a:rPr>
                      <m:t>0</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𝛽</m:t>
                    </m:r>
                    <m:r>
                      <a:rPr lang="en-US" i="1" baseline="-25000">
                        <a:latin typeface="Cambria Math" panose="02040503050406030204" pitchFamily="18" charset="0"/>
                        <a:ea typeface="Cambria Math" panose="02040503050406030204" pitchFamily="18" charset="0"/>
                      </a:rPr>
                      <m:t>1</m:t>
                    </m:r>
                    <m:r>
                      <a:rPr lang="en-US" i="1">
                        <a:latin typeface="Cambria Math" panose="02040503050406030204" pitchFamily="18" charset="0"/>
                        <a:ea typeface="Cambria Math" panose="02040503050406030204" pitchFamily="18" charset="0"/>
                      </a:rPr>
                      <m:t>𝑥</m:t>
                    </m:r>
                    <m:r>
                      <a:rPr lang="en-US" i="1" baseline="-25000">
                        <a:latin typeface="Cambria Math" panose="02040503050406030204" pitchFamily="18" charset="0"/>
                        <a:ea typeface="Cambria Math" panose="02040503050406030204" pitchFamily="18" charset="0"/>
                      </a:rPr>
                      <m:t>1</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𝛽</m:t>
                    </m:r>
                    <m:r>
                      <a:rPr lang="en-US" i="1" baseline="-25000">
                        <a:latin typeface="Cambria Math" panose="02040503050406030204" pitchFamily="18" charset="0"/>
                        <a:ea typeface="Cambria Math" panose="02040503050406030204" pitchFamily="18" charset="0"/>
                      </a:rPr>
                      <m:t>2</m:t>
                    </m:r>
                    <m:r>
                      <a:rPr lang="en-US" i="1">
                        <a:latin typeface="Cambria Math" panose="02040503050406030204" pitchFamily="18" charset="0"/>
                        <a:ea typeface="Cambria Math" panose="02040503050406030204" pitchFamily="18" charset="0"/>
                      </a:rPr>
                      <m:t>𝑥</m:t>
                    </m:r>
                    <m:r>
                      <a:rPr lang="en-US" i="1" baseline="-25000">
                        <a:latin typeface="Cambria Math" panose="02040503050406030204" pitchFamily="18" charset="0"/>
                        <a:ea typeface="Cambria Math" panose="02040503050406030204" pitchFamily="18" charset="0"/>
                      </a:rPr>
                      <m:t>2</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𝛽</m:t>
                    </m:r>
                    <m:r>
                      <a:rPr lang="en-US" b="0" i="1" baseline="-25000" smtClean="0">
                        <a:latin typeface="Cambria Math" panose="02040503050406030204" pitchFamily="18" charset="0"/>
                        <a:ea typeface="Cambria Math" panose="02040503050406030204" pitchFamily="18" charset="0"/>
                      </a:rPr>
                      <m:t>3</m:t>
                    </m:r>
                    <m:r>
                      <a:rPr lang="en-US" i="1">
                        <a:latin typeface="Cambria Math" panose="02040503050406030204" pitchFamily="18" charset="0"/>
                        <a:ea typeface="Cambria Math" panose="02040503050406030204" pitchFamily="18" charset="0"/>
                      </a:rPr>
                      <m:t>𝑥</m:t>
                    </m:r>
                    <m:r>
                      <a:rPr lang="en-US" b="0" i="1" baseline="-25000" smtClean="0">
                        <a:latin typeface="Cambria Math" panose="02040503050406030204" pitchFamily="18" charset="0"/>
                        <a:ea typeface="Cambria Math" panose="02040503050406030204" pitchFamily="18" charset="0"/>
                      </a:rPr>
                      <m:t>3</m:t>
                    </m:r>
                  </m:oMath>
                </a14:m>
                <a:r>
                  <a:rPr lang="en-US" dirty="0"/>
                  <a:t>, total standard deviation of residual after the model =100</a:t>
                </a:r>
              </a:p>
              <a:p>
                <a:pPr lvl="1"/>
                <a14:m>
                  <m:oMath xmlns:m="http://schemas.openxmlformats.org/officeDocument/2006/math">
                    <m:r>
                      <a:rPr lang="en-US" i="1">
                        <a:latin typeface="Cambria Math" panose="02040503050406030204" pitchFamily="18" charset="0"/>
                      </a:rPr>
                      <m:t>𝑦</m:t>
                    </m:r>
                    <m:r>
                      <a:rPr lang="en-US" i="1">
                        <a:latin typeface="Cambria Math" panose="02040503050406030204" pitchFamily="18" charset="0"/>
                      </a:rPr>
                      <m:t>=</m:t>
                    </m:r>
                    <m:r>
                      <a:rPr lang="en-US" i="1">
                        <a:latin typeface="Cambria Math" panose="02040503050406030204" pitchFamily="18" charset="0"/>
                        <a:ea typeface="Cambria Math" panose="02040503050406030204" pitchFamily="18" charset="0"/>
                      </a:rPr>
                      <m:t>𝛽</m:t>
                    </m:r>
                    <m:r>
                      <a:rPr lang="en-US" i="1" baseline="-25000">
                        <a:latin typeface="Cambria Math" panose="02040503050406030204" pitchFamily="18" charset="0"/>
                        <a:ea typeface="Cambria Math" panose="02040503050406030204" pitchFamily="18" charset="0"/>
                      </a:rPr>
                      <m:t>0</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𝛽</m:t>
                    </m:r>
                    <m:r>
                      <a:rPr lang="en-US" i="1" baseline="-25000">
                        <a:latin typeface="Cambria Math" panose="02040503050406030204" pitchFamily="18" charset="0"/>
                        <a:ea typeface="Cambria Math" panose="02040503050406030204" pitchFamily="18" charset="0"/>
                      </a:rPr>
                      <m:t>1</m:t>
                    </m:r>
                    <m:r>
                      <a:rPr lang="en-US" i="1">
                        <a:latin typeface="Cambria Math" panose="02040503050406030204" pitchFamily="18" charset="0"/>
                        <a:ea typeface="Cambria Math" panose="02040503050406030204" pitchFamily="18" charset="0"/>
                      </a:rPr>
                      <m:t>𝑥</m:t>
                    </m:r>
                    <m:r>
                      <a:rPr lang="en-US" i="1" baseline="-25000">
                        <a:latin typeface="Cambria Math" panose="02040503050406030204" pitchFamily="18" charset="0"/>
                        <a:ea typeface="Cambria Math" panose="02040503050406030204" pitchFamily="18" charset="0"/>
                      </a:rPr>
                      <m:t>1</m:t>
                    </m:r>
                  </m:oMath>
                </a14:m>
                <a:r>
                  <a:rPr lang="en-US" dirty="0"/>
                  <a:t>, total standard deviation of 130</a:t>
                </a:r>
              </a:p>
              <a:p>
                <a:pPr marL="457200" lvl="1" indent="0">
                  <a:buNone/>
                </a:pPr>
                <a:r>
                  <a:rPr lang="en-US" b="1" u="sng" dirty="0"/>
                  <a:t>Answer</a:t>
                </a:r>
              </a:p>
              <a:p>
                <a:pPr lvl="1"/>
                <a:r>
                  <a:rPr lang="en-US" dirty="0"/>
                  <a:t>H0: b2=b3=0 </a:t>
                </a:r>
              </a:p>
              <a:p>
                <a:pPr lvl="1"/>
                <a:r>
                  <a:rPr lang="en-US" dirty="0"/>
                  <a:t>H1: b2 or b3 not equal to zero</a:t>
                </a:r>
              </a:p>
              <a:p>
                <a:pPr marL="0" indent="0">
                  <a:buNone/>
                </a:pPr>
                <a:endParaRPr lang="en-US" i="1" dirty="0">
                  <a:latin typeface="Cambria Math" panose="02040503050406030204" pitchFamily="18" charset="0"/>
                </a:endParaRPr>
              </a:p>
              <a:p>
                <a:pPr marL="0" indent="0">
                  <a:buNone/>
                </a:pPr>
                <a:endParaRPr lang="en-US" dirty="0"/>
              </a:p>
            </p:txBody>
          </p:sp>
        </mc:Choice>
        <mc:Fallback xmlns="">
          <p:sp>
            <p:nvSpPr>
              <p:cNvPr id="2" name="Content Placeholder 1">
                <a:extLst>
                  <a:ext uri="{FF2B5EF4-FFF2-40B4-BE49-F238E27FC236}">
                    <a16:creationId xmlns:a16="http://schemas.microsoft.com/office/drawing/2014/main" id="{66CC9CB3-1A83-BD49-AFA8-9CADE44E1276}"/>
                  </a:ext>
                </a:extLst>
              </p:cNvPr>
              <p:cNvSpPr>
                <a:spLocks noGrp="1" noRot="1" noChangeAspect="1" noMove="1" noResize="1" noEditPoints="1" noAdjustHandles="1" noChangeArrowheads="1" noChangeShapeType="1" noTextEdit="1"/>
              </p:cNvSpPr>
              <p:nvPr>
                <p:ph idx="1"/>
              </p:nvPr>
            </p:nvSpPr>
            <p:spPr>
              <a:blipFill>
                <a:blip r:embed="rId2"/>
                <a:stretch>
                  <a:fillRect t="-1681"/>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2CB3D893-2193-DE47-9AE7-FB2726CB3707}"/>
              </a:ext>
            </a:extLst>
          </p:cNvPr>
          <p:cNvSpPr>
            <a:spLocks noGrp="1"/>
          </p:cNvSpPr>
          <p:nvPr>
            <p:ph type="title"/>
          </p:nvPr>
        </p:nvSpPr>
        <p:spPr/>
        <p:txBody>
          <a:bodyPr/>
          <a:lstStyle/>
          <a:p>
            <a:r>
              <a:rPr lang="en-US" dirty="0"/>
              <a:t>F-Test Example 3</a:t>
            </a:r>
          </a:p>
        </p:txBody>
      </p:sp>
    </p:spTree>
    <p:extLst>
      <p:ext uri="{BB962C8B-B14F-4D97-AF65-F5344CB8AC3E}">
        <p14:creationId xmlns:p14="http://schemas.microsoft.com/office/powerpoint/2010/main" val="76533161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66CC9CB3-1A83-BD49-AFA8-9CADE44E1276}"/>
                  </a:ext>
                </a:extLst>
              </p:cNvPr>
              <p:cNvSpPr>
                <a:spLocks noGrp="1"/>
              </p:cNvSpPr>
              <p:nvPr>
                <p:ph idx="1"/>
              </p:nvPr>
            </p:nvSpPr>
            <p:spPr>
              <a:xfrm>
                <a:off x="457200" y="1600200"/>
                <a:ext cx="8451669" cy="4525963"/>
              </a:xfrm>
            </p:spPr>
            <p:txBody>
              <a:bodyPr>
                <a:normAutofit fontScale="55000" lnSpcReduction="20000"/>
              </a:bodyPr>
              <a:lstStyle/>
              <a:p>
                <a:pPr marL="0" indent="0">
                  <a:buNone/>
                </a:pPr>
                <a14:m>
                  <m:oMathPara xmlns:m="http://schemas.openxmlformats.org/officeDocument/2006/math">
                    <m:oMathParaPr>
                      <m:jc m:val="centerGroup"/>
                    </m:oMathParaPr>
                    <m:oMath xmlns:m="http://schemas.openxmlformats.org/officeDocument/2006/math">
                      <m:r>
                        <a:rPr lang="en-US" i="1" smtClean="0">
                          <a:solidFill>
                            <a:srgbClr val="FF0000"/>
                          </a:solidFill>
                          <a:latin typeface="Cambria Math" panose="02040503050406030204" pitchFamily="18" charset="0"/>
                        </a:rPr>
                        <m:t>𝑦</m:t>
                      </m:r>
                      <m:r>
                        <a:rPr lang="en-US" i="1" smtClean="0">
                          <a:solidFill>
                            <a:srgbClr val="FF0000"/>
                          </a:solidFill>
                          <a:latin typeface="Cambria Math" panose="02040503050406030204" pitchFamily="18" charset="0"/>
                        </a:rPr>
                        <m:t>=</m:t>
                      </m:r>
                      <m:f>
                        <m:fPr>
                          <m:ctrlPr>
                            <a:rPr lang="en-US" i="1">
                              <a:solidFill>
                                <a:srgbClr val="FF0000"/>
                              </a:solidFill>
                              <a:latin typeface="Cambria Math" panose="02040503050406030204" pitchFamily="18" charset="0"/>
                            </a:rPr>
                          </m:ctrlPr>
                        </m:fPr>
                        <m:num>
                          <m:f>
                            <m:fPr>
                              <m:type m:val="skw"/>
                              <m:ctrlPr>
                                <a:rPr lang="en-US" i="1">
                                  <a:solidFill>
                                    <a:srgbClr val="FF0000"/>
                                  </a:solidFill>
                                  <a:latin typeface="Cambria Math" panose="02040503050406030204" pitchFamily="18" charset="0"/>
                                </a:rPr>
                              </m:ctrlPr>
                            </m:fPr>
                            <m:num>
                              <m:r>
                                <a:rPr lang="en-US" i="1">
                                  <a:solidFill>
                                    <a:srgbClr val="FF0000"/>
                                  </a:solidFill>
                                  <a:latin typeface="Cambria Math" panose="02040503050406030204" pitchFamily="18" charset="0"/>
                                </a:rPr>
                                <m:t>(</m:t>
                              </m:r>
                              <m:r>
                                <a:rPr lang="en-US" i="1">
                                  <a:solidFill>
                                    <a:srgbClr val="FF0000"/>
                                  </a:solidFill>
                                  <a:latin typeface="Cambria Math" panose="02040503050406030204" pitchFamily="18" charset="0"/>
                                </a:rPr>
                                <m:t>𝑆𝑞𝑢𝑎𝑟𝑒</m:t>
                              </m:r>
                              <m:r>
                                <a:rPr lang="en-US" i="1">
                                  <a:solidFill>
                                    <a:srgbClr val="FF0000"/>
                                  </a:solidFill>
                                  <a:latin typeface="Cambria Math" panose="02040503050406030204" pitchFamily="18" charset="0"/>
                                </a:rPr>
                                <m:t> </m:t>
                              </m:r>
                              <m:r>
                                <a:rPr lang="en-US" i="1">
                                  <a:solidFill>
                                    <a:srgbClr val="FF0000"/>
                                  </a:solidFill>
                                  <a:latin typeface="Cambria Math" panose="02040503050406030204" pitchFamily="18" charset="0"/>
                                </a:rPr>
                                <m:t>𝑒𝑟𝑟𝑜𝑟</m:t>
                              </m:r>
                              <m:r>
                                <a:rPr lang="en-US" i="1">
                                  <a:solidFill>
                                    <a:srgbClr val="FF0000"/>
                                  </a:solidFill>
                                  <a:latin typeface="Cambria Math" panose="02040503050406030204" pitchFamily="18" charset="0"/>
                                </a:rPr>
                                <m:t> </m:t>
                              </m:r>
                              <m:r>
                                <a:rPr lang="en-US" b="0" i="1" smtClean="0">
                                  <a:solidFill>
                                    <a:srgbClr val="FF0000"/>
                                  </a:solidFill>
                                  <a:latin typeface="Cambria Math" panose="02040503050406030204" pitchFamily="18" charset="0"/>
                                </a:rPr>
                                <m:t>𝑟𝑒𝑠𝑖𝑑𝑢𝑎𝑙</m:t>
                              </m:r>
                              <m:r>
                                <a:rPr lang="en-US" b="0" i="1" smtClean="0">
                                  <a:solidFill>
                                    <a:srgbClr val="FF0000"/>
                                  </a:solidFill>
                                  <a:latin typeface="Cambria Math" panose="02040503050406030204" pitchFamily="18" charset="0"/>
                                </a:rPr>
                                <m:t> </m:t>
                              </m:r>
                              <m:r>
                                <a:rPr lang="en-US" i="1">
                                  <a:solidFill>
                                    <a:srgbClr val="FF0000"/>
                                  </a:solidFill>
                                  <a:latin typeface="Cambria Math" panose="02040503050406030204" pitchFamily="18" charset="0"/>
                                </a:rPr>
                                <m:t>𝐻</m:t>
                              </m:r>
                              <m:r>
                                <a:rPr lang="en-US" i="1">
                                  <a:solidFill>
                                    <a:srgbClr val="FF0000"/>
                                  </a:solidFill>
                                  <a:latin typeface="Cambria Math" panose="02040503050406030204" pitchFamily="18" charset="0"/>
                                </a:rPr>
                                <m:t>0 −</m:t>
                              </m:r>
                              <m:r>
                                <a:rPr lang="en-US" i="1">
                                  <a:solidFill>
                                    <a:srgbClr val="FF0000"/>
                                  </a:solidFill>
                                  <a:latin typeface="Cambria Math" panose="02040503050406030204" pitchFamily="18" charset="0"/>
                                </a:rPr>
                                <m:t>𝑠𝑞𝑢𝑎𝑟𝑒</m:t>
                              </m:r>
                              <m:r>
                                <a:rPr lang="en-US" i="1">
                                  <a:solidFill>
                                    <a:srgbClr val="FF0000"/>
                                  </a:solidFill>
                                  <a:latin typeface="Cambria Math" panose="02040503050406030204" pitchFamily="18" charset="0"/>
                                </a:rPr>
                                <m:t> </m:t>
                              </m:r>
                              <m:r>
                                <a:rPr lang="en-US" i="1">
                                  <a:solidFill>
                                    <a:srgbClr val="FF0000"/>
                                  </a:solidFill>
                                  <a:latin typeface="Cambria Math" panose="02040503050406030204" pitchFamily="18" charset="0"/>
                                </a:rPr>
                                <m:t>𝑒𝑟𝑟𝑜𝑟</m:t>
                              </m:r>
                              <m:r>
                                <a:rPr lang="en-US" i="1">
                                  <a:solidFill>
                                    <a:srgbClr val="FF0000"/>
                                  </a:solidFill>
                                  <a:latin typeface="Cambria Math" panose="02040503050406030204" pitchFamily="18" charset="0"/>
                                </a:rPr>
                                <m:t> </m:t>
                              </m:r>
                              <m:r>
                                <a:rPr lang="en-US" b="0" i="1" smtClean="0">
                                  <a:solidFill>
                                    <a:srgbClr val="FF0000"/>
                                  </a:solidFill>
                                  <a:latin typeface="Cambria Math" panose="02040503050406030204" pitchFamily="18" charset="0"/>
                                </a:rPr>
                                <m:t>𝑟𝑒𝑠𝑖𝑑𝑢𝑎𝑙</m:t>
                              </m:r>
                              <m:r>
                                <a:rPr lang="en-US" b="0" i="1" smtClean="0">
                                  <a:solidFill>
                                    <a:srgbClr val="FF0000"/>
                                  </a:solidFill>
                                  <a:latin typeface="Cambria Math" panose="02040503050406030204" pitchFamily="18" charset="0"/>
                                </a:rPr>
                                <m:t> </m:t>
                              </m:r>
                              <m:r>
                                <a:rPr lang="en-US" i="1">
                                  <a:solidFill>
                                    <a:srgbClr val="FF0000"/>
                                  </a:solidFill>
                                  <a:latin typeface="Cambria Math" panose="02040503050406030204" pitchFamily="18" charset="0"/>
                                </a:rPr>
                                <m:t>𝐻</m:t>
                              </m:r>
                              <m:r>
                                <a:rPr lang="en-US" i="1">
                                  <a:solidFill>
                                    <a:srgbClr val="FF0000"/>
                                  </a:solidFill>
                                  <a:latin typeface="Cambria Math" panose="02040503050406030204" pitchFamily="18" charset="0"/>
                                </a:rPr>
                                <m:t>1)</m:t>
                              </m:r>
                            </m:num>
                            <m:den>
                              <m:r>
                                <a:rPr lang="en-US" i="1">
                                  <a:solidFill>
                                    <a:srgbClr val="FF0000"/>
                                  </a:solidFill>
                                  <a:latin typeface="Cambria Math" panose="02040503050406030204" pitchFamily="18" charset="0"/>
                                </a:rPr>
                                <m:t>(# </m:t>
                              </m:r>
                              <m:r>
                                <a:rPr lang="en-US" i="1">
                                  <a:solidFill>
                                    <a:srgbClr val="FF0000"/>
                                  </a:solidFill>
                                  <a:latin typeface="Cambria Math" panose="02040503050406030204" pitchFamily="18" charset="0"/>
                                </a:rPr>
                                <m:t>𝑜𝑓</m:t>
                              </m:r>
                              <m:r>
                                <a:rPr lang="en-US" i="1">
                                  <a:solidFill>
                                    <a:srgbClr val="FF0000"/>
                                  </a:solidFill>
                                  <a:latin typeface="Cambria Math" panose="02040503050406030204" pitchFamily="18" charset="0"/>
                                </a:rPr>
                                <m:t> </m:t>
                              </m:r>
                              <m:r>
                                <a:rPr lang="en-US" i="1">
                                  <a:solidFill>
                                    <a:srgbClr val="FF0000"/>
                                  </a:solidFill>
                                  <a:latin typeface="Cambria Math" panose="02040503050406030204" pitchFamily="18" charset="0"/>
                                </a:rPr>
                                <m:t>𝑝𝑎𝑟𝑎𝑚𝑒𝑡𝑒𝑟𝑠</m:t>
                              </m:r>
                              <m:r>
                                <a:rPr lang="en-US" i="1">
                                  <a:solidFill>
                                    <a:srgbClr val="FF0000"/>
                                  </a:solidFill>
                                  <a:latin typeface="Cambria Math" panose="02040503050406030204" pitchFamily="18" charset="0"/>
                                </a:rPr>
                                <m:t> </m:t>
                              </m:r>
                              <m:r>
                                <a:rPr lang="en-US" i="1">
                                  <a:solidFill>
                                    <a:srgbClr val="FF0000"/>
                                  </a:solidFill>
                                  <a:latin typeface="Cambria Math" panose="02040503050406030204" pitchFamily="18" charset="0"/>
                                </a:rPr>
                                <m:t>𝐻</m:t>
                              </m:r>
                              <m:r>
                                <a:rPr lang="en-US" i="1">
                                  <a:solidFill>
                                    <a:srgbClr val="FF0000"/>
                                  </a:solidFill>
                                  <a:latin typeface="Cambria Math" panose="02040503050406030204" pitchFamily="18" charset="0"/>
                                </a:rPr>
                                <m:t>1)</m:t>
                              </m:r>
                            </m:den>
                          </m:f>
                          <m:r>
                            <a:rPr lang="en-US" i="1">
                              <a:solidFill>
                                <a:srgbClr val="FF0000"/>
                              </a:solidFill>
                              <a:latin typeface="Cambria Math" panose="02040503050406030204" pitchFamily="18" charset="0"/>
                            </a:rPr>
                            <m:t> </m:t>
                          </m:r>
                        </m:num>
                        <m:den>
                          <m:f>
                            <m:fPr>
                              <m:type m:val="skw"/>
                              <m:ctrlPr>
                                <a:rPr lang="en-US" i="1">
                                  <a:solidFill>
                                    <a:srgbClr val="FF0000"/>
                                  </a:solidFill>
                                  <a:latin typeface="Cambria Math" panose="02040503050406030204" pitchFamily="18" charset="0"/>
                                </a:rPr>
                              </m:ctrlPr>
                            </m:fPr>
                            <m:num>
                              <m:r>
                                <a:rPr lang="en-US" i="1">
                                  <a:solidFill>
                                    <a:srgbClr val="FF0000"/>
                                  </a:solidFill>
                                  <a:latin typeface="Cambria Math" panose="02040503050406030204" pitchFamily="18" charset="0"/>
                                </a:rPr>
                                <m:t>(</m:t>
                              </m:r>
                              <m:r>
                                <a:rPr lang="en-US" i="1">
                                  <a:solidFill>
                                    <a:srgbClr val="FF0000"/>
                                  </a:solidFill>
                                  <a:latin typeface="Cambria Math" panose="02040503050406030204" pitchFamily="18" charset="0"/>
                                </a:rPr>
                                <m:t>𝑆𝑞𝑢𝑎𝑟𝑒</m:t>
                              </m:r>
                              <m:r>
                                <a:rPr lang="en-US" i="1">
                                  <a:solidFill>
                                    <a:srgbClr val="FF0000"/>
                                  </a:solidFill>
                                  <a:latin typeface="Cambria Math" panose="02040503050406030204" pitchFamily="18" charset="0"/>
                                </a:rPr>
                                <m:t>  </m:t>
                              </m:r>
                              <m:r>
                                <a:rPr lang="en-US" i="1">
                                  <a:solidFill>
                                    <a:srgbClr val="FF0000"/>
                                  </a:solidFill>
                                  <a:latin typeface="Cambria Math" panose="02040503050406030204" pitchFamily="18" charset="0"/>
                                </a:rPr>
                                <m:t>𝑒𝑟𝑟𝑜𝑟</m:t>
                              </m:r>
                              <m:r>
                                <a:rPr lang="en-US" i="1">
                                  <a:solidFill>
                                    <a:srgbClr val="FF0000"/>
                                  </a:solidFill>
                                  <a:latin typeface="Cambria Math" panose="02040503050406030204" pitchFamily="18" charset="0"/>
                                </a:rPr>
                                <m:t> </m:t>
                              </m:r>
                              <m:r>
                                <a:rPr lang="en-US" b="0" i="1" smtClean="0">
                                  <a:solidFill>
                                    <a:srgbClr val="FF0000"/>
                                  </a:solidFill>
                                  <a:latin typeface="Cambria Math" panose="02040503050406030204" pitchFamily="18" charset="0"/>
                                </a:rPr>
                                <m:t>𝑟𝑒𝑠𝑖𝑑𝑢𝑎𝑙</m:t>
                              </m:r>
                              <m:r>
                                <a:rPr lang="en-US" i="1">
                                  <a:solidFill>
                                    <a:srgbClr val="FF0000"/>
                                  </a:solidFill>
                                  <a:latin typeface="Cambria Math" panose="02040503050406030204" pitchFamily="18" charset="0"/>
                                </a:rPr>
                                <m:t> </m:t>
                              </m:r>
                              <m:r>
                                <a:rPr lang="en-US" i="1">
                                  <a:solidFill>
                                    <a:srgbClr val="FF0000"/>
                                  </a:solidFill>
                                  <a:latin typeface="Cambria Math" panose="02040503050406030204" pitchFamily="18" charset="0"/>
                                </a:rPr>
                                <m:t>𝐻</m:t>
                              </m:r>
                              <m:r>
                                <a:rPr lang="en-US" i="1">
                                  <a:solidFill>
                                    <a:srgbClr val="FF0000"/>
                                  </a:solidFill>
                                  <a:latin typeface="Cambria Math" panose="02040503050406030204" pitchFamily="18" charset="0"/>
                                </a:rPr>
                                <m:t>1)</m:t>
                              </m:r>
                            </m:num>
                            <m:den>
                              <m:r>
                                <a:rPr lang="en-US" i="1">
                                  <a:solidFill>
                                    <a:srgbClr val="FF0000"/>
                                  </a:solidFill>
                                  <a:latin typeface="Cambria Math" panose="02040503050406030204" pitchFamily="18" charset="0"/>
                                </a:rPr>
                                <m:t>(#</m:t>
                              </m:r>
                              <m:r>
                                <a:rPr lang="en-US" i="1">
                                  <a:solidFill>
                                    <a:srgbClr val="FF0000"/>
                                  </a:solidFill>
                                  <a:latin typeface="Cambria Math" panose="02040503050406030204" pitchFamily="18" charset="0"/>
                                </a:rPr>
                                <m:t>𝑠𝑎𝑚𝑝𝑙𝑒</m:t>
                              </m:r>
                              <m:r>
                                <a:rPr lang="en-US" i="1">
                                  <a:solidFill>
                                    <a:srgbClr val="FF0000"/>
                                  </a:solidFill>
                                  <a:latin typeface="Cambria Math" panose="02040503050406030204" pitchFamily="18" charset="0"/>
                                </a:rPr>
                                <m:t>−</m:t>
                              </m:r>
                              <m:r>
                                <a:rPr lang="en-US" i="1">
                                  <a:solidFill>
                                    <a:srgbClr val="FF0000"/>
                                  </a:solidFill>
                                  <a:latin typeface="Cambria Math" panose="02040503050406030204" pitchFamily="18" charset="0"/>
                                </a:rPr>
                                <m:t>𝑡𝑜𝑡𝑎𝑙</m:t>
                              </m:r>
                              <m:r>
                                <a:rPr lang="en-US" i="1">
                                  <a:solidFill>
                                    <a:srgbClr val="FF0000"/>
                                  </a:solidFill>
                                  <a:latin typeface="Cambria Math" panose="02040503050406030204" pitchFamily="18" charset="0"/>
                                </a:rPr>
                                <m:t> </m:t>
                              </m:r>
                              <m:r>
                                <a:rPr lang="en-US" i="1">
                                  <a:solidFill>
                                    <a:srgbClr val="FF0000"/>
                                  </a:solidFill>
                                  <a:latin typeface="Cambria Math" panose="02040503050406030204" pitchFamily="18" charset="0"/>
                                </a:rPr>
                                <m:t>𝑝𝑎𝑟𝑎𝑚𝑒𝑡𝑒𝑟𝑠</m:t>
                              </m:r>
                              <m:r>
                                <a:rPr lang="en-US" i="1">
                                  <a:solidFill>
                                    <a:srgbClr val="FF0000"/>
                                  </a:solidFill>
                                  <a:latin typeface="Cambria Math" panose="02040503050406030204" pitchFamily="18" charset="0"/>
                                </a:rPr>
                                <m:t> −1) </m:t>
                              </m:r>
                            </m:den>
                          </m:f>
                        </m:den>
                      </m:f>
                    </m:oMath>
                  </m:oMathPara>
                </a14:m>
                <a:endParaRPr lang="en-US" dirty="0"/>
              </a:p>
              <a:p>
                <a:endParaRPr lang="en-US" dirty="0"/>
              </a:p>
              <a:p>
                <a:pPr marL="0" indent="0">
                  <a:buNone/>
                </a:pPr>
                <a:endParaRPr lang="en-US" i="1" dirty="0">
                  <a:latin typeface="Cambria Math" panose="02040503050406030204" pitchFamily="18" charset="0"/>
                </a:endParaRPr>
              </a:p>
              <a:p>
                <a:pPr marL="0" indent="0">
                  <a:buNone/>
                </a:pPr>
                <a:endParaRPr lang="en-US"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𝐹</m:t>
                      </m:r>
                      <m:r>
                        <a:rPr lang="en-US" i="1" baseline="-25000">
                          <a:latin typeface="Cambria Math" panose="02040503050406030204" pitchFamily="18" charset="0"/>
                        </a:rPr>
                        <m:t>𝑡𝑒𝑠𝑡</m:t>
                      </m:r>
                      <m:r>
                        <a:rPr lang="en-US" i="1">
                          <a:latin typeface="Cambria Math" panose="02040503050406030204" pitchFamily="18" charset="0"/>
                        </a:rPr>
                        <m:t>=</m:t>
                      </m:r>
                      <m:f>
                        <m:fPr>
                          <m:ctrlPr>
                            <a:rPr lang="en-US" i="1">
                              <a:latin typeface="Cambria Math" panose="02040503050406030204" pitchFamily="18" charset="0"/>
                            </a:rPr>
                          </m:ctrlPr>
                        </m:fPr>
                        <m:num>
                          <m:f>
                            <m:fPr>
                              <m:type m:val="skw"/>
                              <m:ctrlPr>
                                <a:rPr lang="en-US" i="1">
                                  <a:latin typeface="Cambria Math" panose="02040503050406030204" pitchFamily="18" charset="0"/>
                                </a:rPr>
                              </m:ctrlPr>
                            </m:fPr>
                            <m:num>
                              <m:r>
                                <a:rPr lang="en-US" i="1">
                                  <a:latin typeface="Cambria Math" panose="02040503050406030204" pitchFamily="18" charset="0"/>
                                </a:rPr>
                                <m:t>(1</m:t>
                              </m:r>
                              <m:r>
                                <a:rPr lang="en-US" b="0" i="1" smtClean="0">
                                  <a:latin typeface="Cambria Math" panose="02040503050406030204" pitchFamily="18" charset="0"/>
                                </a:rPr>
                                <m:t>3</m:t>
                              </m:r>
                              <m:r>
                                <a:rPr lang="en-US" i="1">
                                  <a:latin typeface="Cambria Math" panose="02040503050406030204" pitchFamily="18" charset="0"/>
                                </a:rPr>
                                <m:t>0−</m:t>
                              </m:r>
                              <m:r>
                                <a:rPr lang="en-US" b="0" i="1" smtClean="0">
                                  <a:latin typeface="Cambria Math" panose="02040503050406030204" pitchFamily="18" charset="0"/>
                                </a:rPr>
                                <m:t>10</m:t>
                              </m:r>
                              <m:r>
                                <a:rPr lang="en-US" i="1">
                                  <a:latin typeface="Cambria Math" panose="02040503050406030204" pitchFamily="18" charset="0"/>
                                </a:rPr>
                                <m:t>0)</m:t>
                              </m:r>
                            </m:num>
                            <m:den>
                              <m:r>
                                <a:rPr lang="en-US" b="0" i="1" smtClean="0">
                                  <a:latin typeface="Cambria Math" panose="02040503050406030204" pitchFamily="18" charset="0"/>
                                </a:rPr>
                                <m:t>2</m:t>
                              </m:r>
                            </m:den>
                          </m:f>
                        </m:num>
                        <m:den>
                          <m:f>
                            <m:fPr>
                              <m:type m:val="skw"/>
                              <m:ctrlPr>
                                <a:rPr lang="en-US" i="1">
                                  <a:latin typeface="Cambria Math" panose="02040503050406030204" pitchFamily="18" charset="0"/>
                                </a:rPr>
                              </m:ctrlPr>
                            </m:fPr>
                            <m:num>
                              <m:r>
                                <a:rPr lang="en-US" b="0" i="1" smtClean="0">
                                  <a:latin typeface="Cambria Math" panose="02040503050406030204" pitchFamily="18" charset="0"/>
                                </a:rPr>
                                <m:t>10</m:t>
                              </m:r>
                              <m:r>
                                <a:rPr lang="en-US" i="1">
                                  <a:latin typeface="Cambria Math" panose="02040503050406030204" pitchFamily="18" charset="0"/>
                                </a:rPr>
                                <m:t>0</m:t>
                              </m:r>
                            </m:num>
                            <m:den>
                              <m:r>
                                <a:rPr lang="en-US" i="1">
                                  <a:latin typeface="Cambria Math" panose="02040503050406030204" pitchFamily="18" charset="0"/>
                                </a:rPr>
                                <m:t>(50−4)</m:t>
                              </m:r>
                            </m:den>
                          </m:f>
                        </m:den>
                      </m:f>
                      <m:r>
                        <a:rPr lang="en-US" i="1">
                          <a:latin typeface="Cambria Math" panose="02040503050406030204" pitchFamily="18" charset="0"/>
                        </a:rPr>
                        <m:t>=6</m:t>
                      </m:r>
                      <m:r>
                        <a:rPr lang="en-US" b="0" i="1" smtClean="0">
                          <a:latin typeface="Cambria Math" panose="02040503050406030204" pitchFamily="18" charset="0"/>
                        </a:rPr>
                        <m:t>.9</m:t>
                      </m:r>
                    </m:oMath>
                  </m:oMathPara>
                </a14:m>
                <a:endParaRPr lang="en-US" dirty="0"/>
              </a:p>
              <a:p>
                <a:endParaRPr lang="en-US" dirty="0"/>
              </a:p>
              <a:p>
                <a:endParaRPr lang="en-US" dirty="0"/>
              </a:p>
            </p:txBody>
          </p:sp>
        </mc:Choice>
        <mc:Fallback xmlns="">
          <p:sp>
            <p:nvSpPr>
              <p:cNvPr id="2" name="Content Placeholder 1">
                <a:extLst>
                  <a:ext uri="{FF2B5EF4-FFF2-40B4-BE49-F238E27FC236}">
                    <a16:creationId xmlns:a16="http://schemas.microsoft.com/office/drawing/2014/main" id="{66CC9CB3-1A83-BD49-AFA8-9CADE44E1276}"/>
                  </a:ext>
                </a:extLst>
              </p:cNvPr>
              <p:cNvSpPr>
                <a:spLocks noGrp="1" noRot="1" noChangeAspect="1" noMove="1" noResize="1" noEditPoints="1" noAdjustHandles="1" noChangeArrowheads="1" noChangeShapeType="1" noTextEdit="1"/>
              </p:cNvSpPr>
              <p:nvPr>
                <p:ph idx="1"/>
              </p:nvPr>
            </p:nvSpPr>
            <p:spPr>
              <a:xfrm>
                <a:off x="457200" y="1600200"/>
                <a:ext cx="8451669" cy="4525963"/>
              </a:xfrm>
              <a:blipFill>
                <a:blip r:embed="rId2"/>
                <a:stretch>
                  <a:fillRect t="-16246" r="-1201"/>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2CB3D893-2193-DE47-9AE7-FB2726CB3707}"/>
              </a:ext>
            </a:extLst>
          </p:cNvPr>
          <p:cNvSpPr>
            <a:spLocks noGrp="1"/>
          </p:cNvSpPr>
          <p:nvPr>
            <p:ph type="title"/>
          </p:nvPr>
        </p:nvSpPr>
        <p:spPr/>
        <p:txBody>
          <a:bodyPr/>
          <a:lstStyle/>
          <a:p>
            <a:r>
              <a:rPr lang="en-US" dirty="0"/>
              <a:t>F-Test Example 3 - Solution</a:t>
            </a:r>
          </a:p>
        </p:txBody>
      </p:sp>
    </p:spTree>
    <p:extLst>
      <p:ext uri="{BB962C8B-B14F-4D97-AF65-F5344CB8AC3E}">
        <p14:creationId xmlns:p14="http://schemas.microsoft.com/office/powerpoint/2010/main" val="43369798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A191152-C03D-CF4D-808E-B4728A58F914}"/>
              </a:ext>
            </a:extLst>
          </p:cNvPr>
          <p:cNvSpPr>
            <a:spLocks noGrp="1"/>
          </p:cNvSpPr>
          <p:nvPr>
            <p:ph idx="1"/>
          </p:nvPr>
        </p:nvSpPr>
        <p:spPr>
          <a:xfrm>
            <a:off x="457200" y="873760"/>
            <a:ext cx="8229600" cy="5252403"/>
          </a:xfrm>
        </p:spPr>
        <p:txBody>
          <a:bodyPr>
            <a:normAutofit lnSpcReduction="10000"/>
          </a:bodyPr>
          <a:lstStyle/>
          <a:p>
            <a:r>
              <a:rPr lang="en-US" dirty="0"/>
              <a:t>Critical value of </a:t>
            </a:r>
          </a:p>
          <a:p>
            <a:pPr lvl="1"/>
            <a:r>
              <a:rPr lang="en-US" dirty="0"/>
              <a:t>95% confidence interval of 86 samples</a:t>
            </a:r>
          </a:p>
          <a:p>
            <a:pPr lvl="2"/>
            <a:r>
              <a:rPr lang="en-US" dirty="0"/>
              <a:t>Two sided vs one sided</a:t>
            </a:r>
          </a:p>
          <a:p>
            <a:pPr lvl="1"/>
            <a:r>
              <a:rPr lang="en-US" dirty="0"/>
              <a:t>95% CI of 23 samples</a:t>
            </a:r>
          </a:p>
          <a:p>
            <a:pPr lvl="2"/>
            <a:r>
              <a:rPr lang="en-US" dirty="0"/>
              <a:t>Two sided vs one sided</a:t>
            </a:r>
          </a:p>
          <a:p>
            <a:r>
              <a:rPr lang="en-US" dirty="0"/>
              <a:t>95% Confidence interval of a following measurements</a:t>
            </a:r>
          </a:p>
          <a:p>
            <a:pPr lvl="1"/>
            <a:r>
              <a:rPr lang="en-US" dirty="0"/>
              <a:t>86 samples gave us value of 41.8 with </a:t>
            </a:r>
            <a:r>
              <a:rPr lang="en-US" dirty="0" err="1"/>
              <a:t>sd</a:t>
            </a:r>
            <a:r>
              <a:rPr lang="en-US" dirty="0"/>
              <a:t> = 3.65</a:t>
            </a:r>
          </a:p>
          <a:p>
            <a:pPr lvl="2"/>
            <a:r>
              <a:rPr lang="en-US" dirty="0"/>
              <a:t>Two sided vs one sided</a:t>
            </a:r>
          </a:p>
          <a:p>
            <a:pPr lvl="1"/>
            <a:r>
              <a:rPr lang="en-US" dirty="0"/>
              <a:t>86 samples gave us proportion of 0.82 </a:t>
            </a:r>
          </a:p>
          <a:p>
            <a:pPr lvl="1"/>
            <a:r>
              <a:rPr lang="en-US" dirty="0"/>
              <a:t>23 samples gave us value of 41.8 with </a:t>
            </a:r>
            <a:r>
              <a:rPr lang="en-US" dirty="0" err="1"/>
              <a:t>sd</a:t>
            </a:r>
            <a:r>
              <a:rPr lang="en-US" dirty="0"/>
              <a:t> = 3.65</a:t>
            </a:r>
          </a:p>
        </p:txBody>
      </p:sp>
    </p:spTree>
    <p:extLst>
      <p:ext uri="{BB962C8B-B14F-4D97-AF65-F5344CB8AC3E}">
        <p14:creationId xmlns:p14="http://schemas.microsoft.com/office/powerpoint/2010/main" val="343274846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D9635E31-6857-5641-ABD7-4F07F24A354C}"/>
                  </a:ext>
                </a:extLst>
              </p:cNvPr>
              <p:cNvSpPr>
                <a:spLocks noGrp="1"/>
              </p:cNvSpPr>
              <p:nvPr>
                <p:ph idx="1"/>
              </p:nvPr>
            </p:nvSpPr>
            <p:spPr/>
            <p:txBody>
              <a:bodyPr>
                <a:normAutofit/>
              </a:bodyPr>
              <a:lstStyle/>
              <a:p>
                <a:r>
                  <a:rPr lang="en-US" dirty="0"/>
                  <a:t>We are predicting students grades based on number hours their study</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𝑔𝑟𝑎𝑑𝑒</m:t>
                      </m:r>
                      <m:r>
                        <a:rPr lang="en-US" b="0" i="1" smtClean="0">
                          <a:latin typeface="Cambria Math" panose="02040503050406030204" pitchFamily="18" charset="0"/>
                        </a:rPr>
                        <m:t>=</m:t>
                      </m:r>
                      <m:r>
                        <a:rPr lang="en-US" b="0" i="1" smtClean="0">
                          <a:latin typeface="Cambria Math" panose="02040503050406030204" pitchFamily="18" charset="0"/>
                        </a:rPr>
                        <m:t>𝑦</m:t>
                      </m:r>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𝛽</m:t>
                      </m:r>
                      <m:r>
                        <a:rPr lang="en-US" b="0" i="1" baseline="-25000" smtClean="0">
                          <a:latin typeface="Cambria Math" panose="02040503050406030204" pitchFamily="18" charset="0"/>
                          <a:ea typeface="Cambria Math" panose="02040503050406030204" pitchFamily="18" charset="0"/>
                        </a:rPr>
                        <m:t>0</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𝛽</m:t>
                      </m:r>
                      <m:r>
                        <a:rPr lang="en-US" b="0" i="1" baseline="-25000" smtClean="0">
                          <a:latin typeface="Cambria Math" panose="02040503050406030204" pitchFamily="18" charset="0"/>
                          <a:ea typeface="Cambria Math" panose="02040503050406030204" pitchFamily="18" charset="0"/>
                        </a:rPr>
                        <m:t>1</m:t>
                      </m:r>
                      <m:r>
                        <a:rPr lang="en-US" b="0" i="1" smtClean="0">
                          <a:latin typeface="Cambria Math" panose="02040503050406030204" pitchFamily="18" charset="0"/>
                          <a:ea typeface="Cambria Math" panose="02040503050406030204" pitchFamily="18" charset="0"/>
                        </a:rPr>
                        <m:t>𝑋</m:t>
                      </m:r>
                      <m:r>
                        <a:rPr lang="en-US" b="0" i="1" baseline="-25000" smtClean="0">
                          <a:latin typeface="Cambria Math" panose="02040503050406030204" pitchFamily="18" charset="0"/>
                          <a:ea typeface="Cambria Math" panose="02040503050406030204" pitchFamily="18" charset="0"/>
                        </a:rPr>
                        <m:t>𝑠𝑡</m:t>
                      </m:r>
                    </m:oMath>
                  </m:oMathPara>
                </a14:m>
                <a:endParaRPr lang="en-US" dirty="0"/>
              </a:p>
              <a:p>
                <a:r>
                  <a:rPr lang="en-US" dirty="0"/>
                  <a:t>Write F-test equation as a function of.</a:t>
                </a:r>
              </a:p>
              <a:p>
                <a:pPr lvl="1"/>
                <a:r>
                  <a:rPr lang="en-US" dirty="0"/>
                  <a:t>Total number of samples : 26</a:t>
                </a:r>
              </a:p>
              <a:p>
                <a:pPr lvl="1"/>
                <a:r>
                  <a:rPr lang="en-US" dirty="0"/>
                  <a:t>Total sum of squared</a:t>
                </a:r>
              </a:p>
              <a:p>
                <a:pPr lvl="1"/>
                <a:r>
                  <a:rPr lang="en-US" dirty="0"/>
                  <a:t>Total sum of squared of residuals</a:t>
                </a:r>
              </a:p>
              <a:p>
                <a:pPr lvl="1"/>
                <a:endParaRPr lang="en-US" dirty="0"/>
              </a:p>
              <a:p>
                <a:pPr lvl="1"/>
                <a:endParaRPr lang="en-US" dirty="0"/>
              </a:p>
              <a:p>
                <a:pPr lvl="1"/>
                <a:endParaRPr lang="en-US" dirty="0"/>
              </a:p>
            </p:txBody>
          </p:sp>
        </mc:Choice>
        <mc:Fallback xmlns="">
          <p:sp>
            <p:nvSpPr>
              <p:cNvPr id="2" name="Content Placeholder 1">
                <a:extLst>
                  <a:ext uri="{FF2B5EF4-FFF2-40B4-BE49-F238E27FC236}">
                    <a16:creationId xmlns:a16="http://schemas.microsoft.com/office/drawing/2014/main" id="{D9635E31-6857-5641-ABD7-4F07F24A354C}"/>
                  </a:ext>
                </a:extLst>
              </p:cNvPr>
              <p:cNvSpPr>
                <a:spLocks noGrp="1" noRot="1" noChangeAspect="1" noMove="1" noResize="1" noEditPoints="1" noAdjustHandles="1" noChangeArrowheads="1" noChangeShapeType="1" noTextEdit="1"/>
              </p:cNvSpPr>
              <p:nvPr>
                <p:ph idx="1"/>
              </p:nvPr>
            </p:nvSpPr>
            <p:spPr>
              <a:blipFill>
                <a:blip r:embed="rId2"/>
                <a:stretch>
                  <a:fillRect t="-1681"/>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5D8EEB54-6DC4-034E-BA57-1D2FB034A956}"/>
              </a:ext>
            </a:extLst>
          </p:cNvPr>
          <p:cNvSpPr>
            <a:spLocks noGrp="1"/>
          </p:cNvSpPr>
          <p:nvPr>
            <p:ph type="title"/>
          </p:nvPr>
        </p:nvSpPr>
        <p:spPr/>
        <p:txBody>
          <a:bodyPr/>
          <a:lstStyle/>
          <a:p>
            <a:r>
              <a:rPr lang="en-US" dirty="0"/>
              <a:t>Example: Predicting grades </a:t>
            </a:r>
          </a:p>
        </p:txBody>
      </p:sp>
    </p:spTree>
    <p:extLst>
      <p:ext uri="{BB962C8B-B14F-4D97-AF65-F5344CB8AC3E}">
        <p14:creationId xmlns:p14="http://schemas.microsoft.com/office/powerpoint/2010/main" val="390132260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D9635E31-6857-5641-ABD7-4F07F24A354C}"/>
                  </a:ext>
                </a:extLst>
              </p:cNvPr>
              <p:cNvSpPr>
                <a:spLocks noGrp="1"/>
              </p:cNvSpPr>
              <p:nvPr>
                <p:ph idx="1"/>
              </p:nvPr>
            </p:nvSpPr>
            <p:spPr/>
            <p:txBody>
              <a:bodyPr>
                <a:normAutofit fontScale="85000" lnSpcReduction="10000"/>
              </a:bodyPr>
              <a:lstStyle/>
              <a:p>
                <a:r>
                  <a:rPr lang="en-US" dirty="0"/>
                  <a:t>We are predicting students grades based on number hours their study</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𝑔𝑟𝑎𝑑𝑒</m:t>
                      </m:r>
                      <m:r>
                        <a:rPr lang="en-US" b="0" i="1" smtClean="0">
                          <a:latin typeface="Cambria Math" panose="02040503050406030204" pitchFamily="18" charset="0"/>
                        </a:rPr>
                        <m:t>=</m:t>
                      </m:r>
                      <m:r>
                        <a:rPr lang="en-US" b="0" i="1" smtClean="0">
                          <a:latin typeface="Cambria Math" panose="02040503050406030204" pitchFamily="18" charset="0"/>
                        </a:rPr>
                        <m:t>𝑦</m:t>
                      </m:r>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𝛽</m:t>
                      </m:r>
                      <m:r>
                        <a:rPr lang="en-US" b="0" i="1" baseline="-25000" smtClean="0">
                          <a:latin typeface="Cambria Math" panose="02040503050406030204" pitchFamily="18" charset="0"/>
                          <a:ea typeface="Cambria Math" panose="02040503050406030204" pitchFamily="18" charset="0"/>
                        </a:rPr>
                        <m:t>0</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𝛽</m:t>
                      </m:r>
                      <m:r>
                        <a:rPr lang="en-US" b="0" i="1" baseline="-25000" smtClean="0">
                          <a:latin typeface="Cambria Math" panose="02040503050406030204" pitchFamily="18" charset="0"/>
                          <a:ea typeface="Cambria Math" panose="02040503050406030204" pitchFamily="18" charset="0"/>
                        </a:rPr>
                        <m:t>1</m:t>
                      </m:r>
                      <m:r>
                        <a:rPr lang="en-US" b="0" i="1" smtClean="0">
                          <a:latin typeface="Cambria Math" panose="02040503050406030204" pitchFamily="18" charset="0"/>
                          <a:ea typeface="Cambria Math" panose="02040503050406030204" pitchFamily="18" charset="0"/>
                        </a:rPr>
                        <m:t>𝑋</m:t>
                      </m:r>
                      <m:r>
                        <a:rPr lang="en-US" b="0" i="1" baseline="-25000" smtClean="0">
                          <a:latin typeface="Cambria Math" panose="02040503050406030204" pitchFamily="18" charset="0"/>
                          <a:ea typeface="Cambria Math" panose="02040503050406030204" pitchFamily="18" charset="0"/>
                        </a:rPr>
                        <m:t>𝑠𝑡</m:t>
                      </m:r>
                    </m:oMath>
                  </m:oMathPara>
                </a14:m>
                <a:endParaRPr lang="en-US" dirty="0"/>
              </a:p>
              <a:p>
                <a:r>
                  <a:rPr lang="en-US" dirty="0"/>
                  <a:t>We decide to enhance the model by adding average GPA and also number of hours they sleep to the model</a:t>
                </a:r>
              </a:p>
              <a:p>
                <a:pPr marL="0" indent="0">
                  <a:buNone/>
                </a:pPr>
                <a14:m>
                  <m:oMath xmlns:m="http://schemas.openxmlformats.org/officeDocument/2006/math">
                    <m:r>
                      <a:rPr lang="en-US" i="1">
                        <a:latin typeface="Cambria Math" panose="02040503050406030204" pitchFamily="18" charset="0"/>
                      </a:rPr>
                      <m:t>𝑔𝑟𝑎𝑑𝑒</m:t>
                    </m:r>
                    <m:r>
                      <a:rPr lang="en-US" i="1">
                        <a:latin typeface="Cambria Math" panose="02040503050406030204" pitchFamily="18" charset="0"/>
                      </a:rPr>
                      <m:t>=</m:t>
                    </m:r>
                    <m:r>
                      <a:rPr lang="en-US" i="1">
                        <a:latin typeface="Cambria Math" panose="02040503050406030204" pitchFamily="18" charset="0"/>
                      </a:rPr>
                      <m:t>𝑦</m:t>
                    </m:r>
                    <m:r>
                      <a:rPr lang="en-US" i="1">
                        <a:latin typeface="Cambria Math" panose="02040503050406030204" pitchFamily="18" charset="0"/>
                      </a:rPr>
                      <m:t>=</m:t>
                    </m:r>
                    <m:r>
                      <a:rPr lang="en-US" i="1">
                        <a:latin typeface="Cambria Math" panose="02040503050406030204" pitchFamily="18" charset="0"/>
                        <a:ea typeface="Cambria Math" panose="02040503050406030204" pitchFamily="18" charset="0"/>
                      </a:rPr>
                      <m:t>𝛽</m:t>
                    </m:r>
                    <m:r>
                      <a:rPr lang="en-US" i="1" baseline="-25000">
                        <a:latin typeface="Cambria Math" panose="02040503050406030204" pitchFamily="18" charset="0"/>
                        <a:ea typeface="Cambria Math" panose="02040503050406030204" pitchFamily="18" charset="0"/>
                      </a:rPr>
                      <m:t>0</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𝛽</m:t>
                    </m:r>
                    <m:r>
                      <a:rPr lang="en-US" i="1" baseline="-25000">
                        <a:latin typeface="Cambria Math" panose="02040503050406030204" pitchFamily="18" charset="0"/>
                        <a:ea typeface="Cambria Math" panose="02040503050406030204" pitchFamily="18" charset="0"/>
                      </a:rPr>
                      <m:t>1</m:t>
                    </m:r>
                    <m:r>
                      <a:rPr lang="en-US" i="1">
                        <a:latin typeface="Cambria Math" panose="02040503050406030204" pitchFamily="18" charset="0"/>
                        <a:ea typeface="Cambria Math" panose="02040503050406030204" pitchFamily="18" charset="0"/>
                      </a:rPr>
                      <m:t>𝑋</m:t>
                    </m:r>
                    <m:r>
                      <a:rPr lang="en-US" i="1" baseline="-25000">
                        <a:latin typeface="Cambria Math" panose="02040503050406030204" pitchFamily="18" charset="0"/>
                        <a:ea typeface="Cambria Math" panose="02040503050406030204" pitchFamily="18" charset="0"/>
                      </a:rPr>
                      <m:t>𝑠</m:t>
                    </m:r>
                    <m:r>
                      <a:rPr lang="en-US" b="0" i="1" baseline="-25000" smtClean="0">
                        <a:latin typeface="Cambria Math" panose="02040503050406030204" pitchFamily="18" charset="0"/>
                        <a:ea typeface="Cambria Math" panose="02040503050406030204" pitchFamily="18" charset="0"/>
                      </a:rPr>
                      <m:t>𝑡</m:t>
                    </m:r>
                    <m:r>
                      <a:rPr lang="en-US" b="0" i="1" smtClean="0">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𝛽</m:t>
                    </m:r>
                    <m:r>
                      <a:rPr lang="en-US" b="0" i="1" baseline="-25000" smtClean="0">
                        <a:latin typeface="Cambria Math" panose="02040503050406030204" pitchFamily="18" charset="0"/>
                        <a:ea typeface="Cambria Math" panose="02040503050406030204" pitchFamily="18" charset="0"/>
                      </a:rPr>
                      <m:t>2</m:t>
                    </m:r>
                    <m:r>
                      <a:rPr lang="en-US" i="1">
                        <a:latin typeface="Cambria Math" panose="02040503050406030204" pitchFamily="18" charset="0"/>
                        <a:ea typeface="Cambria Math" panose="02040503050406030204" pitchFamily="18" charset="0"/>
                      </a:rPr>
                      <m:t>𝑋</m:t>
                    </m:r>
                    <m:r>
                      <a:rPr lang="en-US" b="0" i="1" baseline="-25000" smtClean="0">
                        <a:latin typeface="Cambria Math" panose="02040503050406030204" pitchFamily="18" charset="0"/>
                        <a:ea typeface="Cambria Math" panose="02040503050406030204" pitchFamily="18" charset="0"/>
                      </a:rPr>
                      <m:t>𝑔𝑝𝑎</m:t>
                    </m:r>
                  </m:oMath>
                </a14:m>
                <a:r>
                  <a:rPr lang="en-US" dirty="0">
                    <a:ea typeface="Cambria Math" panose="02040503050406030204" pitchFamily="18" charset="0"/>
                  </a:rPr>
                  <a:t> </a:t>
                </a:r>
                <a14:m>
                  <m:oMath xmlns:m="http://schemas.openxmlformats.org/officeDocument/2006/math">
                    <m:r>
                      <a:rPr lang="en-US" b="0" i="0" smtClean="0">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𝛽</m:t>
                    </m:r>
                    <m:r>
                      <a:rPr lang="en-US" b="0" i="1" baseline="-25000" smtClean="0">
                        <a:latin typeface="Cambria Math" panose="02040503050406030204" pitchFamily="18" charset="0"/>
                        <a:ea typeface="Cambria Math" panose="02040503050406030204" pitchFamily="18" charset="0"/>
                      </a:rPr>
                      <m:t>3</m:t>
                    </m:r>
                    <m:r>
                      <a:rPr lang="en-US" i="1">
                        <a:latin typeface="Cambria Math" panose="02040503050406030204" pitchFamily="18" charset="0"/>
                        <a:ea typeface="Cambria Math" panose="02040503050406030204" pitchFamily="18" charset="0"/>
                      </a:rPr>
                      <m:t>𝑋</m:t>
                    </m:r>
                    <m:r>
                      <a:rPr lang="en-US" b="0" i="1" baseline="-25000" smtClean="0">
                        <a:latin typeface="Cambria Math" panose="02040503050406030204" pitchFamily="18" charset="0"/>
                        <a:ea typeface="Cambria Math" panose="02040503050406030204" pitchFamily="18" charset="0"/>
                      </a:rPr>
                      <m:t>𝑠𝑙</m:t>
                    </m:r>
                  </m:oMath>
                </a14:m>
                <a:endParaRPr lang="en-US" dirty="0"/>
              </a:p>
              <a:p>
                <a:r>
                  <a:rPr lang="en-US" dirty="0"/>
                  <a:t>Write F-test equation as a function of.</a:t>
                </a:r>
              </a:p>
              <a:p>
                <a:pPr lvl="1"/>
                <a:r>
                  <a:rPr lang="en-US" dirty="0"/>
                  <a:t>Total number of samples is 26</a:t>
                </a:r>
              </a:p>
              <a:p>
                <a:pPr lvl="1"/>
                <a:r>
                  <a:rPr lang="en-US" dirty="0"/>
                  <a:t>Total sum of squared</a:t>
                </a:r>
              </a:p>
              <a:p>
                <a:pPr lvl="1"/>
                <a:r>
                  <a:rPr lang="en-US" dirty="0"/>
                  <a:t>Total sum of squared of residuals</a:t>
                </a:r>
              </a:p>
              <a:p>
                <a:pPr lvl="1"/>
                <a:endParaRPr lang="en-US" dirty="0"/>
              </a:p>
              <a:p>
                <a:pPr lvl="1"/>
                <a:endParaRPr lang="en-US" dirty="0"/>
              </a:p>
              <a:p>
                <a:pPr lvl="1"/>
                <a:endParaRPr lang="en-US" dirty="0"/>
              </a:p>
            </p:txBody>
          </p:sp>
        </mc:Choice>
        <mc:Fallback xmlns="">
          <p:sp>
            <p:nvSpPr>
              <p:cNvPr id="2" name="Content Placeholder 1">
                <a:extLst>
                  <a:ext uri="{FF2B5EF4-FFF2-40B4-BE49-F238E27FC236}">
                    <a16:creationId xmlns:a16="http://schemas.microsoft.com/office/drawing/2014/main" id="{D9635E31-6857-5641-ABD7-4F07F24A354C}"/>
                  </a:ext>
                </a:extLst>
              </p:cNvPr>
              <p:cNvSpPr>
                <a:spLocks noGrp="1" noRot="1" noChangeAspect="1" noMove="1" noResize="1" noEditPoints="1" noAdjustHandles="1" noChangeArrowheads="1" noChangeShapeType="1" noTextEdit="1"/>
              </p:cNvSpPr>
              <p:nvPr>
                <p:ph idx="1"/>
              </p:nvPr>
            </p:nvSpPr>
            <p:spPr>
              <a:blipFill>
                <a:blip r:embed="rId2"/>
                <a:stretch>
                  <a:fillRect l="-926" t="-2241"/>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5D8EEB54-6DC4-034E-BA57-1D2FB034A956}"/>
              </a:ext>
            </a:extLst>
          </p:cNvPr>
          <p:cNvSpPr>
            <a:spLocks noGrp="1"/>
          </p:cNvSpPr>
          <p:nvPr>
            <p:ph type="title"/>
          </p:nvPr>
        </p:nvSpPr>
        <p:spPr/>
        <p:txBody>
          <a:bodyPr/>
          <a:lstStyle/>
          <a:p>
            <a:r>
              <a:rPr lang="en-US" dirty="0"/>
              <a:t>Example: Improving prediction</a:t>
            </a:r>
          </a:p>
        </p:txBody>
      </p:sp>
    </p:spTree>
    <p:extLst>
      <p:ext uri="{BB962C8B-B14F-4D97-AF65-F5344CB8AC3E}">
        <p14:creationId xmlns:p14="http://schemas.microsoft.com/office/powerpoint/2010/main" val="334001696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D9635E31-6857-5641-ABD7-4F07F24A354C}"/>
                  </a:ext>
                </a:extLst>
              </p:cNvPr>
              <p:cNvSpPr>
                <a:spLocks noGrp="1"/>
              </p:cNvSpPr>
              <p:nvPr>
                <p:ph idx="1"/>
              </p:nvPr>
            </p:nvSpPr>
            <p:spPr/>
            <p:txBody>
              <a:bodyPr>
                <a:normAutofit fontScale="85000" lnSpcReduction="10000"/>
              </a:bodyPr>
              <a:lstStyle/>
              <a:p>
                <a:r>
                  <a:rPr lang="en-US" dirty="0"/>
                  <a:t>We decide to add one more parameter to the base model</a:t>
                </a:r>
              </a:p>
              <a:p>
                <a:pPr marL="0" indent="0">
                  <a:buNone/>
                </a:pPr>
                <a14:m>
                  <m:oMath xmlns:m="http://schemas.openxmlformats.org/officeDocument/2006/math">
                    <m:r>
                      <a:rPr lang="en-US" i="1">
                        <a:latin typeface="Cambria Math" panose="02040503050406030204" pitchFamily="18" charset="0"/>
                      </a:rPr>
                      <m:t>𝑔𝑟𝑎𝑑𝑒</m:t>
                    </m:r>
                    <m:r>
                      <a:rPr lang="en-US" i="1">
                        <a:latin typeface="Cambria Math" panose="02040503050406030204" pitchFamily="18" charset="0"/>
                      </a:rPr>
                      <m:t>=</m:t>
                    </m:r>
                    <m:r>
                      <a:rPr lang="en-US" i="1">
                        <a:latin typeface="Cambria Math" panose="02040503050406030204" pitchFamily="18" charset="0"/>
                      </a:rPr>
                      <m:t>𝑦</m:t>
                    </m:r>
                    <m:r>
                      <a:rPr lang="en-US" i="1">
                        <a:latin typeface="Cambria Math" panose="02040503050406030204" pitchFamily="18" charset="0"/>
                      </a:rPr>
                      <m:t>=</m:t>
                    </m:r>
                    <m:r>
                      <a:rPr lang="en-US" i="1">
                        <a:latin typeface="Cambria Math" panose="02040503050406030204" pitchFamily="18" charset="0"/>
                        <a:ea typeface="Cambria Math" panose="02040503050406030204" pitchFamily="18" charset="0"/>
                      </a:rPr>
                      <m:t>𝛽</m:t>
                    </m:r>
                    <m:r>
                      <a:rPr lang="en-US" i="1" baseline="-25000">
                        <a:latin typeface="Cambria Math" panose="02040503050406030204" pitchFamily="18" charset="0"/>
                        <a:ea typeface="Cambria Math" panose="02040503050406030204" pitchFamily="18" charset="0"/>
                      </a:rPr>
                      <m:t>0</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𝛽</m:t>
                    </m:r>
                    <m:r>
                      <a:rPr lang="en-US" i="1" baseline="-25000">
                        <a:latin typeface="Cambria Math" panose="02040503050406030204" pitchFamily="18" charset="0"/>
                        <a:ea typeface="Cambria Math" panose="02040503050406030204" pitchFamily="18" charset="0"/>
                      </a:rPr>
                      <m:t>1</m:t>
                    </m:r>
                    <m:r>
                      <a:rPr lang="en-US" i="1">
                        <a:latin typeface="Cambria Math" panose="02040503050406030204" pitchFamily="18" charset="0"/>
                        <a:ea typeface="Cambria Math" panose="02040503050406030204" pitchFamily="18" charset="0"/>
                      </a:rPr>
                      <m:t>𝑋</m:t>
                    </m:r>
                    <m:r>
                      <a:rPr lang="en-US" i="1" baseline="-25000">
                        <a:latin typeface="Cambria Math" panose="02040503050406030204" pitchFamily="18" charset="0"/>
                        <a:ea typeface="Cambria Math" panose="02040503050406030204" pitchFamily="18" charset="0"/>
                      </a:rPr>
                      <m:t>𝑠</m:t>
                    </m:r>
                    <m:r>
                      <a:rPr lang="en-US" b="0" i="1" baseline="-25000" smtClean="0">
                        <a:latin typeface="Cambria Math" panose="02040503050406030204" pitchFamily="18" charset="0"/>
                        <a:ea typeface="Cambria Math" panose="02040503050406030204" pitchFamily="18" charset="0"/>
                      </a:rPr>
                      <m:t>𝑡</m:t>
                    </m:r>
                    <m:r>
                      <a:rPr lang="en-US" b="0" i="1" smtClean="0">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𝛽</m:t>
                    </m:r>
                    <m:r>
                      <a:rPr lang="en-US" b="0" i="1" baseline="-25000" smtClean="0">
                        <a:latin typeface="Cambria Math" panose="02040503050406030204" pitchFamily="18" charset="0"/>
                        <a:ea typeface="Cambria Math" panose="02040503050406030204" pitchFamily="18" charset="0"/>
                      </a:rPr>
                      <m:t>2</m:t>
                    </m:r>
                    <m:r>
                      <a:rPr lang="en-US" i="1">
                        <a:latin typeface="Cambria Math" panose="02040503050406030204" pitchFamily="18" charset="0"/>
                        <a:ea typeface="Cambria Math" panose="02040503050406030204" pitchFamily="18" charset="0"/>
                      </a:rPr>
                      <m:t>𝑋</m:t>
                    </m:r>
                    <m:r>
                      <a:rPr lang="en-US" b="0" i="1" baseline="-25000" smtClean="0">
                        <a:latin typeface="Cambria Math" panose="02040503050406030204" pitchFamily="18" charset="0"/>
                        <a:ea typeface="Cambria Math" panose="02040503050406030204" pitchFamily="18" charset="0"/>
                      </a:rPr>
                      <m:t>𝑔𝑝𝑎</m:t>
                    </m:r>
                  </m:oMath>
                </a14:m>
                <a:r>
                  <a:rPr lang="en-US" dirty="0">
                    <a:ea typeface="Cambria Math" panose="02040503050406030204" pitchFamily="18" charset="0"/>
                  </a:rPr>
                  <a:t> </a:t>
                </a:r>
                <a14:m>
                  <m:oMath xmlns:m="http://schemas.openxmlformats.org/officeDocument/2006/math">
                    <m:r>
                      <a:rPr lang="en-US" b="0" i="0" smtClean="0">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𝛽</m:t>
                    </m:r>
                    <m:r>
                      <a:rPr lang="en-US" b="0" i="1" baseline="-25000" smtClean="0">
                        <a:latin typeface="Cambria Math" panose="02040503050406030204" pitchFamily="18" charset="0"/>
                        <a:ea typeface="Cambria Math" panose="02040503050406030204" pitchFamily="18" charset="0"/>
                      </a:rPr>
                      <m:t>3</m:t>
                    </m:r>
                    <m:r>
                      <a:rPr lang="en-US" i="1">
                        <a:latin typeface="Cambria Math" panose="02040503050406030204" pitchFamily="18" charset="0"/>
                        <a:ea typeface="Cambria Math" panose="02040503050406030204" pitchFamily="18" charset="0"/>
                      </a:rPr>
                      <m:t>𝑋</m:t>
                    </m:r>
                    <m:r>
                      <a:rPr lang="en-US" b="0" i="1" baseline="-25000" smtClean="0">
                        <a:latin typeface="Cambria Math" panose="02040503050406030204" pitchFamily="18" charset="0"/>
                        <a:ea typeface="Cambria Math" panose="02040503050406030204" pitchFamily="18" charset="0"/>
                      </a:rPr>
                      <m:t>𝑠𝑙</m:t>
                    </m:r>
                  </m:oMath>
                </a14:m>
                <a:endParaRPr lang="en-US" dirty="0"/>
              </a:p>
              <a:p>
                <a:r>
                  <a:rPr lang="en-US" dirty="0"/>
                  <a:t>The new parameter is number of hours that their exercise</a:t>
                </a:r>
              </a:p>
              <a:p>
                <a14:m>
                  <m:oMath xmlns:m="http://schemas.openxmlformats.org/officeDocument/2006/math">
                    <m:r>
                      <a:rPr lang="en-US" i="1">
                        <a:latin typeface="Cambria Math" panose="02040503050406030204" pitchFamily="18" charset="0"/>
                      </a:rPr>
                      <m:t>𝑔𝑟𝑎𝑑𝑒</m:t>
                    </m:r>
                    <m:r>
                      <a:rPr lang="en-US" i="1">
                        <a:latin typeface="Cambria Math" panose="02040503050406030204" pitchFamily="18" charset="0"/>
                      </a:rPr>
                      <m:t>=</m:t>
                    </m:r>
                    <m:r>
                      <a:rPr lang="en-US" i="1">
                        <a:latin typeface="Cambria Math" panose="02040503050406030204" pitchFamily="18" charset="0"/>
                      </a:rPr>
                      <m:t>𝑦</m:t>
                    </m:r>
                    <m:r>
                      <a:rPr lang="en-US" i="1">
                        <a:latin typeface="Cambria Math" panose="02040503050406030204" pitchFamily="18" charset="0"/>
                      </a:rPr>
                      <m:t>=</m:t>
                    </m:r>
                    <m:r>
                      <a:rPr lang="en-US" i="1">
                        <a:latin typeface="Cambria Math" panose="02040503050406030204" pitchFamily="18" charset="0"/>
                        <a:ea typeface="Cambria Math" panose="02040503050406030204" pitchFamily="18" charset="0"/>
                      </a:rPr>
                      <m:t>𝛽</m:t>
                    </m:r>
                    <m:r>
                      <a:rPr lang="en-US" i="1" baseline="-25000">
                        <a:latin typeface="Cambria Math" panose="02040503050406030204" pitchFamily="18" charset="0"/>
                        <a:ea typeface="Cambria Math" panose="02040503050406030204" pitchFamily="18" charset="0"/>
                      </a:rPr>
                      <m:t>0</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𝛽</m:t>
                    </m:r>
                    <m:r>
                      <a:rPr lang="en-US" i="1" baseline="-25000">
                        <a:latin typeface="Cambria Math" panose="02040503050406030204" pitchFamily="18" charset="0"/>
                        <a:ea typeface="Cambria Math" panose="02040503050406030204" pitchFamily="18" charset="0"/>
                      </a:rPr>
                      <m:t>1</m:t>
                    </m:r>
                    <m:r>
                      <a:rPr lang="en-US" i="1">
                        <a:latin typeface="Cambria Math" panose="02040503050406030204" pitchFamily="18" charset="0"/>
                        <a:ea typeface="Cambria Math" panose="02040503050406030204" pitchFamily="18" charset="0"/>
                      </a:rPr>
                      <m:t>𝑋</m:t>
                    </m:r>
                    <m:r>
                      <a:rPr lang="en-US" i="1" baseline="-25000">
                        <a:latin typeface="Cambria Math" panose="02040503050406030204" pitchFamily="18" charset="0"/>
                        <a:ea typeface="Cambria Math" panose="02040503050406030204" pitchFamily="18" charset="0"/>
                      </a:rPr>
                      <m:t>𝑠𝑡</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𝛽</m:t>
                    </m:r>
                    <m:r>
                      <a:rPr lang="en-US" i="1" baseline="-25000">
                        <a:latin typeface="Cambria Math" panose="02040503050406030204" pitchFamily="18" charset="0"/>
                        <a:ea typeface="Cambria Math" panose="02040503050406030204" pitchFamily="18" charset="0"/>
                      </a:rPr>
                      <m:t>2</m:t>
                    </m:r>
                    <m:r>
                      <a:rPr lang="en-US" i="1">
                        <a:latin typeface="Cambria Math" panose="02040503050406030204" pitchFamily="18" charset="0"/>
                        <a:ea typeface="Cambria Math" panose="02040503050406030204" pitchFamily="18" charset="0"/>
                      </a:rPr>
                      <m:t>𝑋</m:t>
                    </m:r>
                    <m:r>
                      <a:rPr lang="en-US" i="1" baseline="-25000">
                        <a:latin typeface="Cambria Math" panose="02040503050406030204" pitchFamily="18" charset="0"/>
                        <a:ea typeface="Cambria Math" panose="02040503050406030204" pitchFamily="18" charset="0"/>
                      </a:rPr>
                      <m:t>𝑔𝑝𝑎</m:t>
                    </m:r>
                  </m:oMath>
                </a14:m>
                <a:r>
                  <a:rPr lang="en-US" dirty="0">
                    <a:ea typeface="Cambria Math" panose="02040503050406030204" pitchFamily="18" charset="0"/>
                  </a:rPr>
                  <a:t> </a:t>
                </a:r>
                <a14:m>
                  <m:oMath xmlns:m="http://schemas.openxmlformats.org/officeDocument/2006/math">
                    <m:r>
                      <a:rPr lang="en-US" b="0" i="0" smtClean="0">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𝛽</m:t>
                    </m:r>
                    <m:r>
                      <a:rPr lang="en-US" i="1" baseline="-25000">
                        <a:latin typeface="Cambria Math" panose="02040503050406030204" pitchFamily="18" charset="0"/>
                        <a:ea typeface="Cambria Math" panose="02040503050406030204" pitchFamily="18" charset="0"/>
                      </a:rPr>
                      <m:t>3</m:t>
                    </m:r>
                    <m:r>
                      <a:rPr lang="en-US" i="1">
                        <a:latin typeface="Cambria Math" panose="02040503050406030204" pitchFamily="18" charset="0"/>
                        <a:ea typeface="Cambria Math" panose="02040503050406030204" pitchFamily="18" charset="0"/>
                      </a:rPr>
                      <m:t>𝑋</m:t>
                    </m:r>
                    <m:r>
                      <a:rPr lang="en-US" i="1" baseline="-25000">
                        <a:latin typeface="Cambria Math" panose="02040503050406030204" pitchFamily="18" charset="0"/>
                        <a:ea typeface="Cambria Math" panose="02040503050406030204" pitchFamily="18" charset="0"/>
                      </a:rPr>
                      <m:t>𝑠𝑙</m:t>
                    </m:r>
                    <m:r>
                      <a:rPr lang="en-US">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𝛽</m:t>
                    </m:r>
                    <m:r>
                      <a:rPr lang="en-US" b="0" i="1" baseline="-25000" smtClean="0">
                        <a:latin typeface="Cambria Math" panose="02040503050406030204" pitchFamily="18" charset="0"/>
                        <a:ea typeface="Cambria Math" panose="02040503050406030204" pitchFamily="18" charset="0"/>
                      </a:rPr>
                      <m:t>4</m:t>
                    </m:r>
                    <m:r>
                      <a:rPr lang="en-US" i="1">
                        <a:latin typeface="Cambria Math" panose="02040503050406030204" pitchFamily="18" charset="0"/>
                        <a:ea typeface="Cambria Math" panose="02040503050406030204" pitchFamily="18" charset="0"/>
                      </a:rPr>
                      <m:t>𝑋</m:t>
                    </m:r>
                    <m:r>
                      <a:rPr lang="en-US" b="0" i="1" baseline="-25000" smtClean="0">
                        <a:latin typeface="Cambria Math" panose="02040503050406030204" pitchFamily="18" charset="0"/>
                        <a:ea typeface="Cambria Math" panose="02040503050406030204" pitchFamily="18" charset="0"/>
                      </a:rPr>
                      <m:t>𝑒𝑥</m:t>
                    </m:r>
                  </m:oMath>
                </a14:m>
                <a:endParaRPr lang="en-US" dirty="0"/>
              </a:p>
              <a:p>
                <a:r>
                  <a:rPr lang="en-US" dirty="0"/>
                  <a:t>Write F-test equation as a function of.</a:t>
                </a:r>
              </a:p>
              <a:p>
                <a:pPr lvl="1"/>
                <a:r>
                  <a:rPr lang="en-US" dirty="0"/>
                  <a:t>Total number of samples is 26</a:t>
                </a:r>
              </a:p>
              <a:p>
                <a:pPr lvl="1"/>
                <a:r>
                  <a:rPr lang="en-US" dirty="0"/>
                  <a:t>Total sum of squared</a:t>
                </a:r>
              </a:p>
              <a:p>
                <a:pPr lvl="1"/>
                <a:r>
                  <a:rPr lang="en-US" dirty="0"/>
                  <a:t>Total sum of squared of residuals</a:t>
                </a:r>
              </a:p>
              <a:p>
                <a:pPr lvl="1"/>
                <a:endParaRPr lang="en-US" dirty="0"/>
              </a:p>
              <a:p>
                <a:pPr lvl="1"/>
                <a:endParaRPr lang="en-US" dirty="0"/>
              </a:p>
              <a:p>
                <a:pPr lvl="1"/>
                <a:endParaRPr lang="en-US" dirty="0"/>
              </a:p>
            </p:txBody>
          </p:sp>
        </mc:Choice>
        <mc:Fallback xmlns="">
          <p:sp>
            <p:nvSpPr>
              <p:cNvPr id="2" name="Content Placeholder 1">
                <a:extLst>
                  <a:ext uri="{FF2B5EF4-FFF2-40B4-BE49-F238E27FC236}">
                    <a16:creationId xmlns:a16="http://schemas.microsoft.com/office/drawing/2014/main" id="{D9635E31-6857-5641-ABD7-4F07F24A354C}"/>
                  </a:ext>
                </a:extLst>
              </p:cNvPr>
              <p:cNvSpPr>
                <a:spLocks noGrp="1" noRot="1" noChangeAspect="1" noMove="1" noResize="1" noEditPoints="1" noAdjustHandles="1" noChangeArrowheads="1" noChangeShapeType="1" noTextEdit="1"/>
              </p:cNvSpPr>
              <p:nvPr>
                <p:ph idx="1"/>
              </p:nvPr>
            </p:nvSpPr>
            <p:spPr>
              <a:blipFill>
                <a:blip r:embed="rId2"/>
                <a:stretch>
                  <a:fillRect l="-926" t="-2241"/>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5D8EEB54-6DC4-034E-BA57-1D2FB034A956}"/>
              </a:ext>
            </a:extLst>
          </p:cNvPr>
          <p:cNvSpPr>
            <a:spLocks noGrp="1"/>
          </p:cNvSpPr>
          <p:nvPr>
            <p:ph type="title"/>
          </p:nvPr>
        </p:nvSpPr>
        <p:spPr/>
        <p:txBody>
          <a:bodyPr/>
          <a:lstStyle/>
          <a:p>
            <a:r>
              <a:rPr lang="en-US" dirty="0"/>
              <a:t>Example: Improving prediction further</a:t>
            </a:r>
          </a:p>
        </p:txBody>
      </p:sp>
    </p:spTree>
    <p:extLst>
      <p:ext uri="{BB962C8B-B14F-4D97-AF65-F5344CB8AC3E}">
        <p14:creationId xmlns:p14="http://schemas.microsoft.com/office/powerpoint/2010/main" val="138157974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51E8E9F-6098-194F-8472-7B6687AB33E3}"/>
              </a:ext>
            </a:extLst>
          </p:cNvPr>
          <p:cNvSpPr>
            <a:spLocks noGrp="1"/>
          </p:cNvSpPr>
          <p:nvPr>
            <p:ph idx="1"/>
          </p:nvPr>
        </p:nvSpPr>
        <p:spPr>
          <a:xfrm>
            <a:off x="457200" y="772160"/>
            <a:ext cx="8229600" cy="5354003"/>
          </a:xfrm>
        </p:spPr>
        <p:txBody>
          <a:bodyPr/>
          <a:lstStyle/>
          <a:p>
            <a:r>
              <a:rPr lang="en-US" dirty="0"/>
              <a:t>We have taken 23 samples and created a linear model to predict students grade with a linear model as a function of number of hours their study:  y=1.62+2.3 X </a:t>
            </a:r>
          </a:p>
          <a:p>
            <a:r>
              <a:rPr lang="en-US" dirty="0"/>
              <a:t>We decide to add a new </a:t>
            </a:r>
          </a:p>
          <a:p>
            <a:endParaRPr lang="en-US" dirty="0"/>
          </a:p>
          <a:p>
            <a:endParaRPr lang="en-US" dirty="0"/>
          </a:p>
          <a:p>
            <a:endParaRPr lang="en-US" dirty="0"/>
          </a:p>
        </p:txBody>
      </p:sp>
    </p:spTree>
    <p:extLst>
      <p:ext uri="{BB962C8B-B14F-4D97-AF65-F5344CB8AC3E}">
        <p14:creationId xmlns:p14="http://schemas.microsoft.com/office/powerpoint/2010/main" val="123673274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6E584546-01AE-8347-AE13-44A2B9351629}"/>
                  </a:ext>
                </a:extLst>
              </p:cNvPr>
              <p:cNvSpPr>
                <a:spLocks noGrp="1"/>
              </p:cNvSpPr>
              <p:nvPr>
                <p:ph idx="1"/>
              </p:nvPr>
            </p:nvSpPr>
            <p:spPr/>
            <p:txBody>
              <a:bodyPr/>
              <a:lstStyle/>
              <a:p>
                <a:r>
                  <a:rPr lang="en-US" dirty="0"/>
                  <a:t>Error Surface</a:t>
                </a:r>
              </a:p>
              <a:p>
                <a:r>
                  <a:rPr lang="en-US" dirty="0"/>
                  <a:t>Gradient Descent</a:t>
                </a:r>
              </a:p>
              <a:p>
                <a:r>
                  <a:rPr lang="en-US" dirty="0"/>
                  <a:t>Multi-Linear Regression in matrix form</a:t>
                </a:r>
              </a:p>
              <a:p>
                <a:pPr marL="457200" lvl="1" indent="0">
                  <a:buNone/>
                </a:pPr>
                <a14:m>
                  <m:oMathPara xmlns:m="http://schemas.openxmlformats.org/officeDocument/2006/math">
                    <m:oMathParaPr>
                      <m:jc m:val="centerGroup"/>
                    </m:oMathParaPr>
                    <m:oMath xmlns:m="http://schemas.openxmlformats.org/officeDocument/2006/math">
                      <m:r>
                        <m:rPr>
                          <m:nor/>
                        </m:rPr>
                        <a:rPr lang="en-US"/>
                        <m:t>y</m:t>
                      </m:r>
                      <m:r>
                        <m:rPr>
                          <m:nor/>
                        </m:rPr>
                        <a:rPr lang="en-US" baseline="-25000"/>
                        <m:t>i</m:t>
                      </m:r>
                      <m:r>
                        <m:rPr>
                          <m:nor/>
                        </m:rPr>
                        <a:rPr lang="en-US"/>
                        <m:t>=</m:t>
                      </m:r>
                      <m:r>
                        <m:rPr>
                          <m:nor/>
                        </m:rPr>
                        <a:rPr lang="el-GR"/>
                        <m:t>β</m:t>
                      </m:r>
                      <m:r>
                        <m:rPr>
                          <m:nor/>
                        </m:rPr>
                        <a:rPr lang="el-GR" baseline="-25000"/>
                        <m:t>0</m:t>
                      </m:r>
                      <m:r>
                        <m:rPr>
                          <m:nor/>
                        </m:rPr>
                        <a:rPr lang="el-GR"/>
                        <m:t>+</m:t>
                      </m:r>
                      <m:r>
                        <m:rPr>
                          <m:nor/>
                        </m:rPr>
                        <a:rPr lang="el-GR"/>
                        <m:t>β</m:t>
                      </m:r>
                      <m:r>
                        <m:rPr>
                          <m:nor/>
                        </m:rPr>
                        <a:rPr lang="el-GR" baseline="-25000"/>
                        <m:t>1</m:t>
                      </m:r>
                      <m:r>
                        <m:rPr>
                          <m:nor/>
                        </m:rPr>
                        <a:rPr lang="en-US" b="0" i="0" smtClean="0"/>
                        <m:t>x</m:t>
                      </m:r>
                      <m:r>
                        <m:rPr>
                          <m:nor/>
                        </m:rPr>
                        <a:rPr lang="en-US" baseline="-25000"/>
                        <m:t>i</m:t>
                      </m:r>
                      <m:r>
                        <m:rPr>
                          <m:nor/>
                        </m:rPr>
                        <a:rPr lang="en-US"/>
                        <m:t>+</m:t>
                      </m:r>
                      <m:r>
                        <m:rPr>
                          <m:nor/>
                        </m:rPr>
                        <a:rPr lang="el-GR"/>
                        <m:t>ϵ</m:t>
                      </m:r>
                      <m:r>
                        <a:rPr lang="en-US" b="0" i="1" baseline="-25000" smtClean="0">
                          <a:latin typeface="Cambria Math" panose="02040503050406030204" pitchFamily="18" charset="0"/>
                        </a:rPr>
                        <m:t>𝑖</m:t>
                      </m:r>
                      <m:r>
                        <m:rPr>
                          <m:nor/>
                        </m:rPr>
                        <a:rPr lang="en-US" b="0" i="0" smtClean="0"/>
                        <m:t>               </m:t>
                      </m:r>
                      <m:r>
                        <m:rPr>
                          <m:nor/>
                        </m:rPr>
                        <a:rPr lang="en-US"/>
                        <m:t>for</m:t>
                      </m:r>
                      <m:r>
                        <m:rPr>
                          <m:nor/>
                        </m:rPr>
                        <a:rPr lang="en-US"/>
                        <m:t> </m:t>
                      </m:r>
                      <m:r>
                        <m:rPr>
                          <m:nor/>
                        </m:rPr>
                        <a:rPr lang="en-US"/>
                        <m:t>i</m:t>
                      </m:r>
                      <m:r>
                        <m:rPr>
                          <m:nor/>
                        </m:rPr>
                        <a:rPr lang="en-US"/>
                        <m:t>=1,...,</m:t>
                      </m:r>
                      <m:r>
                        <m:rPr>
                          <m:nor/>
                        </m:rPr>
                        <a:rPr lang="en-US"/>
                        <m:t>n</m:t>
                      </m:r>
                    </m:oMath>
                  </m:oMathPara>
                </a14:m>
                <a:endParaRPr lang="en-US" dirty="0"/>
              </a:p>
              <a:p>
                <a:pPr marL="457200" lvl="1" indent="0">
                  <a:buNone/>
                </a:pPr>
                <a:endParaRPr lang="en-US" dirty="0"/>
              </a:p>
            </p:txBody>
          </p:sp>
        </mc:Choice>
        <mc:Fallback xmlns="">
          <p:sp>
            <p:nvSpPr>
              <p:cNvPr id="2" name="Content Placeholder 1">
                <a:extLst>
                  <a:ext uri="{FF2B5EF4-FFF2-40B4-BE49-F238E27FC236}">
                    <a16:creationId xmlns:a16="http://schemas.microsoft.com/office/drawing/2014/main" id="{6E584546-01AE-8347-AE13-44A2B9351629}"/>
                  </a:ext>
                </a:extLst>
              </p:cNvPr>
              <p:cNvSpPr>
                <a:spLocks noGrp="1" noRot="1" noChangeAspect="1" noMove="1" noResize="1" noEditPoints="1" noAdjustHandles="1" noChangeArrowheads="1" noChangeShapeType="1" noTextEdit="1"/>
              </p:cNvSpPr>
              <p:nvPr>
                <p:ph idx="1"/>
              </p:nvPr>
            </p:nvSpPr>
            <p:spPr>
              <a:blipFill>
                <a:blip r:embed="rId3"/>
                <a:stretch>
                  <a:fillRect t="-1681"/>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E18B3FFD-F53A-684B-8553-4D9880D206C9}"/>
              </a:ext>
            </a:extLst>
          </p:cNvPr>
          <p:cNvSpPr>
            <a:spLocks noGrp="1"/>
          </p:cNvSpPr>
          <p:nvPr>
            <p:ph type="title"/>
          </p:nvPr>
        </p:nvSpPr>
        <p:spPr/>
        <p:txBody>
          <a:bodyPr>
            <a:normAutofit fontScale="90000"/>
          </a:bodyPr>
          <a:lstStyle/>
          <a:p>
            <a:r>
              <a:rPr lang="en-US" dirty="0"/>
              <a:t>Multi Linear </a:t>
            </a:r>
            <a:r>
              <a:rPr lang="en-US"/>
              <a:t>Regression –Numerical </a:t>
            </a:r>
            <a:r>
              <a:rPr lang="en-US" dirty="0"/>
              <a:t>Solution</a:t>
            </a:r>
          </a:p>
        </p:txBody>
      </p:sp>
      <p:pic>
        <p:nvPicPr>
          <p:cNvPr id="5" name="Picture 4" descr="Text, letter&#10;&#10;Description automatically generated">
            <a:extLst>
              <a:ext uri="{FF2B5EF4-FFF2-40B4-BE49-F238E27FC236}">
                <a16:creationId xmlns:a16="http://schemas.microsoft.com/office/drawing/2014/main" id="{01B3E3AC-51E1-9247-A06D-957B26054D33}"/>
              </a:ext>
            </a:extLst>
          </p:cNvPr>
          <p:cNvPicPr>
            <a:picLocks noChangeAspect="1"/>
          </p:cNvPicPr>
          <p:nvPr/>
        </p:nvPicPr>
        <p:blipFill>
          <a:blip r:embed="rId4"/>
          <a:stretch>
            <a:fillRect/>
          </a:stretch>
        </p:blipFill>
        <p:spPr>
          <a:xfrm>
            <a:off x="715537" y="4391024"/>
            <a:ext cx="2991614" cy="1917701"/>
          </a:xfrm>
          <a:prstGeom prst="rect">
            <a:avLst/>
          </a:prstGeom>
        </p:spPr>
      </p:pic>
      <p:pic>
        <p:nvPicPr>
          <p:cNvPr id="7" name="Picture 6" descr="Diagram&#10;&#10;Description automatically generated">
            <a:extLst>
              <a:ext uri="{FF2B5EF4-FFF2-40B4-BE49-F238E27FC236}">
                <a16:creationId xmlns:a16="http://schemas.microsoft.com/office/drawing/2014/main" id="{50F6A30F-04BE-1744-8753-6A81E52FB3E2}"/>
              </a:ext>
            </a:extLst>
          </p:cNvPr>
          <p:cNvPicPr>
            <a:picLocks noChangeAspect="1"/>
          </p:cNvPicPr>
          <p:nvPr/>
        </p:nvPicPr>
        <p:blipFill>
          <a:blip r:embed="rId5"/>
          <a:stretch>
            <a:fillRect/>
          </a:stretch>
        </p:blipFill>
        <p:spPr>
          <a:xfrm>
            <a:off x="4935878" y="4125262"/>
            <a:ext cx="2791588" cy="2449224"/>
          </a:xfrm>
          <a:prstGeom prst="rect">
            <a:avLst/>
          </a:prstGeom>
        </p:spPr>
      </p:pic>
      <p:sp>
        <p:nvSpPr>
          <p:cNvPr id="8" name="TextBox 7">
            <a:extLst>
              <a:ext uri="{FF2B5EF4-FFF2-40B4-BE49-F238E27FC236}">
                <a16:creationId xmlns:a16="http://schemas.microsoft.com/office/drawing/2014/main" id="{C3805191-8D55-6442-89E6-711203E2CBAA}"/>
              </a:ext>
            </a:extLst>
          </p:cNvPr>
          <p:cNvSpPr txBox="1"/>
          <p:nvPr/>
        </p:nvSpPr>
        <p:spPr>
          <a:xfrm>
            <a:off x="4092498" y="5096107"/>
            <a:ext cx="843380" cy="546410"/>
          </a:xfrm>
          <a:prstGeom prst="rect">
            <a:avLst/>
          </a:prstGeom>
        </p:spPr>
        <p:txBody>
          <a:bodyPr vert="horz" wrap="none" lIns="91440" tIns="45720" rIns="91440" bIns="45720" rtlCol="0">
            <a:noAutofit/>
          </a:bodyPr>
          <a:lstStyle/>
          <a:p>
            <a:r>
              <a:rPr lang="en-US" sz="3600" b="1" dirty="0">
                <a:solidFill>
                  <a:prstClr val="black"/>
                </a:solidFill>
                <a:latin typeface="Source Sans Pro Light"/>
                <a:cs typeface="Source Sans Pro Light"/>
              </a:rPr>
              <a:t> =&gt; </a:t>
            </a:r>
          </a:p>
        </p:txBody>
      </p:sp>
    </p:spTree>
    <p:extLst>
      <p:ext uri="{BB962C8B-B14F-4D97-AF65-F5344CB8AC3E}">
        <p14:creationId xmlns:p14="http://schemas.microsoft.com/office/powerpoint/2010/main" val="2579384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Graphical user interface, text, application, email&#10;&#10;Description automatically generated">
            <a:extLst>
              <a:ext uri="{FF2B5EF4-FFF2-40B4-BE49-F238E27FC236}">
                <a16:creationId xmlns:a16="http://schemas.microsoft.com/office/drawing/2014/main" id="{79FAAFD2-1650-DB47-B4A8-8B501D09B47F}"/>
              </a:ext>
            </a:extLst>
          </p:cNvPr>
          <p:cNvPicPr>
            <a:picLocks noChangeAspect="1"/>
          </p:cNvPicPr>
          <p:nvPr/>
        </p:nvPicPr>
        <p:blipFill>
          <a:blip r:embed="rId2"/>
          <a:stretch>
            <a:fillRect/>
          </a:stretch>
        </p:blipFill>
        <p:spPr>
          <a:xfrm>
            <a:off x="0" y="131272"/>
            <a:ext cx="9144000" cy="6618033"/>
          </a:xfrm>
          <a:prstGeom prst="rect">
            <a:avLst/>
          </a:prstGeom>
        </p:spPr>
      </p:pic>
    </p:spTree>
    <p:extLst>
      <p:ext uri="{BB962C8B-B14F-4D97-AF65-F5344CB8AC3E}">
        <p14:creationId xmlns:p14="http://schemas.microsoft.com/office/powerpoint/2010/main" val="339820293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250B04-9437-5A8D-0387-46D845F04722}"/>
              </a:ext>
            </a:extLst>
          </p:cNvPr>
          <p:cNvSpPr>
            <a:spLocks noGrp="1"/>
          </p:cNvSpPr>
          <p:nvPr>
            <p:ph type="ctrTitle"/>
          </p:nvPr>
        </p:nvSpPr>
        <p:spPr/>
        <p:txBody>
          <a:bodyPr/>
          <a:lstStyle/>
          <a:p>
            <a:r>
              <a:rPr lang="en-US" dirty="0"/>
              <a:t>Two sample test</a:t>
            </a:r>
          </a:p>
        </p:txBody>
      </p:sp>
      <p:sp>
        <p:nvSpPr>
          <p:cNvPr id="3" name="Subtitle 2">
            <a:extLst>
              <a:ext uri="{FF2B5EF4-FFF2-40B4-BE49-F238E27FC236}">
                <a16:creationId xmlns:a16="http://schemas.microsoft.com/office/drawing/2014/main" id="{A6DCEBE5-2C81-7627-1410-23372E56E192}"/>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56591104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731F7966-B56E-1543-A677-302F6B014C85}"/>
                  </a:ext>
                </a:extLst>
              </p:cNvPr>
              <p:cNvSpPr>
                <a:spLocks noGrp="1"/>
              </p:cNvSpPr>
              <p:nvPr>
                <p:ph idx="1"/>
              </p:nvPr>
            </p:nvSpPr>
            <p:spPr/>
            <p:txBody>
              <a:bodyPr>
                <a:normAutofit/>
              </a:bodyPr>
              <a:lstStyle/>
              <a:p>
                <a:r>
                  <a:rPr lang="en-US" dirty="0"/>
                  <a:t>Comparing the distribution of the sample means from two populations and generally interested to </a:t>
                </a:r>
              </a:p>
              <a:p>
                <a:pPr lvl="1"/>
                <a:r>
                  <a:rPr lang="en-US" dirty="0"/>
                  <a:t>H0: </a:t>
                </a:r>
                <a14:m>
                  <m:oMath xmlns:m="http://schemas.openxmlformats.org/officeDocument/2006/math">
                    <m:r>
                      <a:rPr lang="en-US" i="1" smtClean="0">
                        <a:latin typeface="Cambria Math" panose="02040503050406030204" pitchFamily="18" charset="0"/>
                        <a:ea typeface="Cambria Math" panose="02040503050406030204" pitchFamily="18" charset="0"/>
                      </a:rPr>
                      <m:t>𝜇</m:t>
                    </m:r>
                    <m:r>
                      <a:rPr lang="en-US" i="1" baseline="-25000">
                        <a:latin typeface="Cambria Math" panose="02040503050406030204" pitchFamily="18" charset="0"/>
                        <a:ea typeface="Cambria Math" panose="02040503050406030204" pitchFamily="18" charset="0"/>
                      </a:rPr>
                      <m:t>1</m:t>
                    </m:r>
                    <m:r>
                      <a:rPr lang="en-US" i="1">
                        <a:latin typeface="Cambria Math" panose="02040503050406030204" pitchFamily="18" charset="0"/>
                        <a:ea typeface="Cambria Math" panose="02040503050406030204" pitchFamily="18" charset="0"/>
                      </a:rPr>
                      <m:t>=</m:t>
                    </m:r>
                    <m:r>
                      <a:rPr lang="en-US" i="1" smtClean="0">
                        <a:latin typeface="Cambria Math" panose="02040503050406030204" pitchFamily="18" charset="0"/>
                        <a:ea typeface="Cambria Math" panose="02040503050406030204" pitchFamily="18" charset="0"/>
                      </a:rPr>
                      <m:t>𝜇</m:t>
                    </m:r>
                    <m:r>
                      <a:rPr lang="en-US" i="1" baseline="-25000">
                        <a:latin typeface="Cambria Math" panose="02040503050406030204" pitchFamily="18" charset="0"/>
                        <a:ea typeface="Cambria Math" panose="02040503050406030204" pitchFamily="18" charset="0"/>
                      </a:rPr>
                      <m:t>2</m:t>
                    </m:r>
                    <m:r>
                      <a:rPr lang="en-US" b="0" i="1" baseline="-25000"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𝑜𝑟</m:t>
                    </m:r>
                    <m:r>
                      <a:rPr lang="en-US" b="0" i="1" smtClean="0">
                        <a:latin typeface="Cambria Math" panose="02040503050406030204" pitchFamily="18" charset="0"/>
                        <a:ea typeface="Cambria Math" panose="02040503050406030204" pitchFamily="18" charset="0"/>
                      </a:rPr>
                      <m:t>  </m:t>
                    </m:r>
                    <m:r>
                      <a:rPr lang="en-US" i="1" smtClean="0">
                        <a:latin typeface="Cambria Math" panose="02040503050406030204" pitchFamily="18" charset="0"/>
                        <a:ea typeface="Cambria Math" panose="02040503050406030204" pitchFamily="18" charset="0"/>
                      </a:rPr>
                      <m:t>𝜇</m:t>
                    </m:r>
                    <m:r>
                      <a:rPr lang="en-US" b="0" i="1" baseline="-25000" smtClean="0">
                        <a:latin typeface="Cambria Math" panose="02040503050406030204" pitchFamily="18" charset="0"/>
                        <a:ea typeface="Cambria Math" panose="02040503050406030204" pitchFamily="18" charset="0"/>
                      </a:rPr>
                      <m:t>1</m:t>
                    </m:r>
                    <m:r>
                      <a:rPr lang="en-US" b="0" i="1" smtClean="0">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𝜇</m:t>
                    </m:r>
                    <m:r>
                      <a:rPr lang="en-US" b="0" i="1" baseline="-25000" smtClean="0">
                        <a:latin typeface="Cambria Math" panose="02040503050406030204" pitchFamily="18" charset="0"/>
                        <a:ea typeface="Cambria Math" panose="02040503050406030204" pitchFamily="18" charset="0"/>
                      </a:rPr>
                      <m:t>2</m:t>
                    </m:r>
                    <m:r>
                      <a:rPr lang="en-US" b="0" i="1" smtClean="0">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0</m:t>
                    </m:r>
                  </m:oMath>
                </a14:m>
                <a:endParaRPr lang="en-US" dirty="0"/>
              </a:p>
              <a:p>
                <a:pPr lvl="1"/>
                <a:r>
                  <a:rPr lang="en-US" dirty="0"/>
                  <a:t>H1: means are not equal or difference is not zero</a:t>
                </a:r>
              </a:p>
              <a:p>
                <a:endParaRPr lang="en-US" dirty="0"/>
              </a:p>
              <a:p>
                <a:endParaRPr lang="en-US" dirty="0"/>
              </a:p>
              <a:p>
                <a:endParaRPr lang="en-US" dirty="0"/>
              </a:p>
            </p:txBody>
          </p:sp>
        </mc:Choice>
        <mc:Fallback xmlns="">
          <p:sp>
            <p:nvSpPr>
              <p:cNvPr id="2" name="Content Placeholder 1">
                <a:extLst>
                  <a:ext uri="{FF2B5EF4-FFF2-40B4-BE49-F238E27FC236}">
                    <a16:creationId xmlns:a16="http://schemas.microsoft.com/office/drawing/2014/main" id="{731F7966-B56E-1543-A677-302F6B014C85}"/>
                  </a:ext>
                </a:extLst>
              </p:cNvPr>
              <p:cNvSpPr>
                <a:spLocks noGrp="1" noRot="1" noChangeAspect="1" noMove="1" noResize="1" noEditPoints="1" noAdjustHandles="1" noChangeArrowheads="1" noChangeShapeType="1" noTextEdit="1"/>
              </p:cNvSpPr>
              <p:nvPr>
                <p:ph idx="1"/>
              </p:nvPr>
            </p:nvSpPr>
            <p:spPr>
              <a:blipFill>
                <a:blip r:embed="rId2"/>
                <a:stretch>
                  <a:fillRect t="-1681"/>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726165A4-C981-7F41-9D94-5CAB8395809B}"/>
              </a:ext>
            </a:extLst>
          </p:cNvPr>
          <p:cNvSpPr>
            <a:spLocks noGrp="1"/>
          </p:cNvSpPr>
          <p:nvPr>
            <p:ph type="title"/>
          </p:nvPr>
        </p:nvSpPr>
        <p:spPr/>
        <p:txBody>
          <a:bodyPr/>
          <a:lstStyle/>
          <a:p>
            <a:r>
              <a:rPr lang="en-US" dirty="0"/>
              <a:t>Two Sample Test/Procedure</a:t>
            </a:r>
          </a:p>
        </p:txBody>
      </p:sp>
      <p:pic>
        <p:nvPicPr>
          <p:cNvPr id="5" name="Picture 4">
            <a:extLst>
              <a:ext uri="{FF2B5EF4-FFF2-40B4-BE49-F238E27FC236}">
                <a16:creationId xmlns:a16="http://schemas.microsoft.com/office/drawing/2014/main" id="{F2871A56-CAF3-B642-B9A2-4079056C51C3}"/>
              </a:ext>
            </a:extLst>
          </p:cNvPr>
          <p:cNvPicPr>
            <a:picLocks noChangeAspect="1"/>
          </p:cNvPicPr>
          <p:nvPr/>
        </p:nvPicPr>
        <p:blipFill>
          <a:blip r:embed="rId3"/>
          <a:stretch>
            <a:fillRect/>
          </a:stretch>
        </p:blipFill>
        <p:spPr>
          <a:xfrm>
            <a:off x="896587" y="4143744"/>
            <a:ext cx="7928524" cy="2304557"/>
          </a:xfrm>
          <a:prstGeom prst="rect">
            <a:avLst/>
          </a:prstGeom>
        </p:spPr>
      </p:pic>
    </p:spTree>
    <p:extLst>
      <p:ext uri="{BB962C8B-B14F-4D97-AF65-F5344CB8AC3E}">
        <p14:creationId xmlns:p14="http://schemas.microsoft.com/office/powerpoint/2010/main" val="241262470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FB16576D-62E7-0543-9818-D8C495D5D5EA}"/>
                  </a:ext>
                </a:extLst>
              </p:cNvPr>
              <p:cNvSpPr>
                <a:spLocks noGrp="1"/>
              </p:cNvSpPr>
              <p:nvPr>
                <p:ph idx="1"/>
              </p:nvPr>
            </p:nvSpPr>
            <p:spPr/>
            <p:txBody>
              <a:bodyPr>
                <a:normAutofit lnSpcReduction="10000"/>
              </a:bodyPr>
              <a:lstStyle/>
              <a:p>
                <a:r>
                  <a:rPr lang="en-US" dirty="0"/>
                  <a:t>Standard deviation of </a:t>
                </a:r>
                <a14:m>
                  <m:oMath xmlns:m="http://schemas.openxmlformats.org/officeDocument/2006/math">
                    <m:r>
                      <a:rPr lang="en-US" i="1" smtClean="0">
                        <a:latin typeface="Cambria Math" panose="02040503050406030204" pitchFamily="18" charset="0"/>
                        <a:ea typeface="Cambria Math" panose="02040503050406030204" pitchFamily="18" charset="0"/>
                      </a:rPr>
                      <m:t>𝜇</m:t>
                    </m:r>
                    <m:r>
                      <a:rPr lang="en-US" b="0" i="1" smtClean="0">
                        <a:latin typeface="Cambria Math" panose="02040503050406030204" pitchFamily="18" charset="0"/>
                        <a:ea typeface="Cambria Math" panose="02040503050406030204" pitchFamily="18" charset="0"/>
                      </a:rPr>
                      <m:t>1−</m:t>
                    </m:r>
                    <m:r>
                      <a:rPr lang="en-US" b="0" i="1" smtClean="0">
                        <a:latin typeface="Cambria Math" panose="02040503050406030204" pitchFamily="18" charset="0"/>
                        <a:ea typeface="Cambria Math" panose="02040503050406030204" pitchFamily="18" charset="0"/>
                      </a:rPr>
                      <m:t>𝜇</m:t>
                    </m:r>
                    <m:r>
                      <a:rPr lang="en-US" b="0" i="1" smtClean="0">
                        <a:latin typeface="Cambria Math" panose="02040503050406030204" pitchFamily="18" charset="0"/>
                        <a:ea typeface="Cambria Math" panose="02040503050406030204" pitchFamily="18" charset="0"/>
                      </a:rPr>
                      <m:t>2</m:t>
                    </m:r>
                  </m:oMath>
                </a14:m>
                <a:r>
                  <a:rPr lang="en-US" dirty="0"/>
                  <a:t> is as follows</a:t>
                </a:r>
              </a:p>
              <a:p>
                <a:pPr marL="0" indent="0">
                  <a:buNone/>
                </a:pPr>
                <a14:m>
                  <m:oMathPara xmlns:m="http://schemas.openxmlformats.org/officeDocument/2006/math">
                    <m:oMathParaPr>
                      <m:jc m:val="centerGroup"/>
                    </m:oMathParaPr>
                    <m:oMath xmlns:m="http://schemas.openxmlformats.org/officeDocument/2006/math">
                      <m:rad>
                        <m:radPr>
                          <m:degHide m:val="on"/>
                          <m:ctrlPr>
                            <a:rPr lang="en-US" i="1" smtClean="0">
                              <a:latin typeface="Cambria Math" panose="02040503050406030204" pitchFamily="18" charset="0"/>
                            </a:rPr>
                          </m:ctrlPr>
                        </m:radPr>
                        <m:deg/>
                        <m:e>
                          <m:f>
                            <m:fPr>
                              <m:ctrlPr>
                                <a:rPr lang="en-US" i="1" smtClean="0">
                                  <a:latin typeface="Cambria Math" panose="02040503050406030204" pitchFamily="18" charset="0"/>
                                </a:rPr>
                              </m:ctrlPr>
                            </m:fPr>
                            <m:num>
                              <m:r>
                                <a:rPr lang="en-US" i="1" smtClean="0">
                                  <a:latin typeface="Cambria Math" panose="02040503050406030204" pitchFamily="18" charset="0"/>
                                  <a:ea typeface="Cambria Math" panose="02040503050406030204" pitchFamily="18" charset="0"/>
                                </a:rPr>
                                <m:t>𝜎</m:t>
                              </m:r>
                              <m:r>
                                <a:rPr lang="en-US" b="0" i="1" baseline="-25000" smtClean="0">
                                  <a:latin typeface="Cambria Math" panose="02040503050406030204" pitchFamily="18" charset="0"/>
                                  <a:ea typeface="Cambria Math" panose="02040503050406030204" pitchFamily="18" charset="0"/>
                                </a:rPr>
                                <m:t>1</m:t>
                              </m:r>
                              <m:r>
                                <a:rPr lang="en-US" b="0" i="1" baseline="30000" smtClean="0">
                                  <a:latin typeface="Cambria Math" panose="02040503050406030204" pitchFamily="18" charset="0"/>
                                  <a:ea typeface="Cambria Math" panose="02040503050406030204" pitchFamily="18" charset="0"/>
                                </a:rPr>
                                <m:t>2</m:t>
                              </m:r>
                            </m:num>
                            <m:den>
                              <m:r>
                                <a:rPr lang="en-US" b="0" i="1" smtClean="0">
                                  <a:latin typeface="Cambria Math" panose="02040503050406030204" pitchFamily="18" charset="0"/>
                                </a:rPr>
                                <m:t>𝑛</m:t>
                              </m:r>
                              <m:r>
                                <a:rPr lang="en-US" b="0" i="1" baseline="-25000" smtClean="0">
                                  <a:latin typeface="Cambria Math" panose="02040503050406030204" pitchFamily="18" charset="0"/>
                                </a:rPr>
                                <m:t>1</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i="1">
                                  <a:latin typeface="Cambria Math" panose="02040503050406030204" pitchFamily="18" charset="0"/>
                                  <a:ea typeface="Cambria Math" panose="02040503050406030204" pitchFamily="18" charset="0"/>
                                </a:rPr>
                                <m:t>𝜎</m:t>
                              </m:r>
                              <m:r>
                                <a:rPr lang="en-US" b="0" i="1" baseline="-25000" smtClean="0">
                                  <a:latin typeface="Cambria Math" panose="02040503050406030204" pitchFamily="18" charset="0"/>
                                  <a:ea typeface="Cambria Math" panose="02040503050406030204" pitchFamily="18" charset="0"/>
                                </a:rPr>
                                <m:t>2</m:t>
                              </m:r>
                              <m:r>
                                <a:rPr lang="en-US" i="1" baseline="30000">
                                  <a:latin typeface="Cambria Math" panose="02040503050406030204" pitchFamily="18" charset="0"/>
                                  <a:ea typeface="Cambria Math" panose="02040503050406030204" pitchFamily="18" charset="0"/>
                                </a:rPr>
                                <m:t>2</m:t>
                              </m:r>
                            </m:num>
                            <m:den>
                              <m:r>
                                <a:rPr lang="en-US" b="0" i="1" smtClean="0">
                                  <a:latin typeface="Cambria Math" panose="02040503050406030204" pitchFamily="18" charset="0"/>
                                </a:rPr>
                                <m:t>𝑛</m:t>
                              </m:r>
                              <m:r>
                                <a:rPr lang="en-US" b="0" i="1" baseline="-25000" smtClean="0">
                                  <a:latin typeface="Cambria Math" panose="02040503050406030204" pitchFamily="18" charset="0"/>
                                </a:rPr>
                                <m:t>2</m:t>
                              </m:r>
                            </m:den>
                          </m:f>
                        </m:e>
                      </m:rad>
                      <m:r>
                        <a:rPr lang="en-US" b="0" i="0" smtClean="0">
                          <a:latin typeface="Cambria Math" panose="02040503050406030204" pitchFamily="18" charset="0"/>
                        </a:rPr>
                        <m:t>  , </m:t>
                      </m:r>
                      <m:rad>
                        <m:radPr>
                          <m:degHide m:val="on"/>
                          <m:ctrlPr>
                            <a:rPr lang="en-US" i="1">
                              <a:latin typeface="Cambria Math" panose="02040503050406030204" pitchFamily="18" charset="0"/>
                            </a:rPr>
                          </m:ctrlPr>
                        </m:radPr>
                        <m:deg/>
                        <m:e>
                          <m:f>
                            <m:fPr>
                              <m:ctrlPr>
                                <a:rPr lang="en-US" i="1">
                                  <a:latin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𝑆</m:t>
                              </m:r>
                              <m:r>
                                <a:rPr lang="en-US" i="1" baseline="-25000">
                                  <a:latin typeface="Cambria Math" panose="02040503050406030204" pitchFamily="18" charset="0"/>
                                  <a:ea typeface="Cambria Math" panose="02040503050406030204" pitchFamily="18" charset="0"/>
                                </a:rPr>
                                <m:t>1</m:t>
                              </m:r>
                              <m:r>
                                <a:rPr lang="en-US" i="1" baseline="30000">
                                  <a:latin typeface="Cambria Math" panose="02040503050406030204" pitchFamily="18" charset="0"/>
                                  <a:ea typeface="Cambria Math" panose="02040503050406030204" pitchFamily="18" charset="0"/>
                                </a:rPr>
                                <m:t>2</m:t>
                              </m:r>
                            </m:num>
                            <m:den>
                              <m:r>
                                <a:rPr lang="en-US" i="1">
                                  <a:latin typeface="Cambria Math" panose="02040503050406030204" pitchFamily="18" charset="0"/>
                                </a:rPr>
                                <m:t>𝑛</m:t>
                              </m:r>
                              <m:r>
                                <a:rPr lang="en-US" i="1" baseline="-25000">
                                  <a:latin typeface="Cambria Math" panose="02040503050406030204" pitchFamily="18" charset="0"/>
                                </a:rPr>
                                <m:t>1</m:t>
                              </m:r>
                            </m:den>
                          </m:f>
                          <m:r>
                            <a:rPr lang="en-US" i="1">
                              <a:latin typeface="Cambria Math" panose="02040503050406030204" pitchFamily="18" charset="0"/>
                            </a:rPr>
                            <m:t>+</m:t>
                          </m:r>
                          <m:f>
                            <m:fPr>
                              <m:ctrlPr>
                                <a:rPr lang="en-US" i="1">
                                  <a:latin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𝑆</m:t>
                              </m:r>
                              <m:r>
                                <a:rPr lang="en-US" i="1" baseline="-25000">
                                  <a:latin typeface="Cambria Math" panose="02040503050406030204" pitchFamily="18" charset="0"/>
                                  <a:ea typeface="Cambria Math" panose="02040503050406030204" pitchFamily="18" charset="0"/>
                                </a:rPr>
                                <m:t>2</m:t>
                              </m:r>
                              <m:r>
                                <a:rPr lang="en-US" i="1" baseline="30000">
                                  <a:latin typeface="Cambria Math" panose="02040503050406030204" pitchFamily="18" charset="0"/>
                                  <a:ea typeface="Cambria Math" panose="02040503050406030204" pitchFamily="18" charset="0"/>
                                </a:rPr>
                                <m:t>2</m:t>
                              </m:r>
                            </m:num>
                            <m:den>
                              <m:r>
                                <a:rPr lang="en-US" i="1">
                                  <a:latin typeface="Cambria Math" panose="02040503050406030204" pitchFamily="18" charset="0"/>
                                </a:rPr>
                                <m:t>𝑛</m:t>
                              </m:r>
                              <m:r>
                                <a:rPr lang="en-US" i="1" baseline="-25000">
                                  <a:latin typeface="Cambria Math" panose="02040503050406030204" pitchFamily="18" charset="0"/>
                                </a:rPr>
                                <m:t>2</m:t>
                              </m:r>
                            </m:den>
                          </m:f>
                        </m:e>
                      </m:rad>
                    </m:oMath>
                  </m:oMathPara>
                </a14:m>
                <a:endParaRPr lang="en-US" dirty="0"/>
              </a:p>
              <a:p>
                <a:pPr marL="0" indent="0">
                  <a:buNone/>
                </a:pPr>
                <a:r>
                  <a:rPr lang="en-US" dirty="0"/>
                  <a:t>Confidence Interval </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𝑡</m:t>
                      </m:r>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r>
                            <a:rPr lang="en-US" b="0" i="1" baseline="-25000" smtClean="0">
                              <a:latin typeface="Cambria Math" panose="02040503050406030204" pitchFamily="18" charset="0"/>
                            </a:rPr>
                            <m:t>1</m:t>
                          </m:r>
                        </m:e>
                      </m:acc>
                      <m:r>
                        <a:rPr lang="en-US" b="0" i="1" smtClean="0">
                          <a:latin typeface="Cambria Math" panose="02040503050406030204" pitchFamily="18" charset="0"/>
                        </a:rPr>
                        <m:t>−</m:t>
                      </m:r>
                      <m:acc>
                        <m:accPr>
                          <m:chr m:val="̅"/>
                          <m:ctrlPr>
                            <a:rPr lang="en-US" i="1">
                              <a:latin typeface="Cambria Math" panose="02040503050406030204" pitchFamily="18" charset="0"/>
                            </a:rPr>
                          </m:ctrlPr>
                        </m:accPr>
                        <m:e>
                          <m:r>
                            <a:rPr lang="en-US" i="1">
                              <a:latin typeface="Cambria Math" panose="02040503050406030204" pitchFamily="18" charset="0"/>
                            </a:rPr>
                            <m:t>𝑥</m:t>
                          </m:r>
                          <m:r>
                            <a:rPr lang="en-US" b="0" i="1" baseline="-25000" smtClean="0">
                              <a:latin typeface="Cambria Math" panose="02040503050406030204" pitchFamily="18" charset="0"/>
                            </a:rPr>
                            <m:t>2</m:t>
                          </m:r>
                        </m:e>
                      </m:acc>
                      <m:r>
                        <a:rPr lang="en-US" b="0" i="1" smtClean="0">
                          <a:latin typeface="Cambria Math" panose="02040503050406030204" pitchFamily="18" charset="0"/>
                        </a:rPr>
                        <m:t>)/</m:t>
                      </m:r>
                      <m:rad>
                        <m:radPr>
                          <m:degHide m:val="on"/>
                          <m:ctrlPr>
                            <a:rPr lang="en-US" i="1">
                              <a:latin typeface="Cambria Math" panose="02040503050406030204" pitchFamily="18" charset="0"/>
                            </a:rPr>
                          </m:ctrlPr>
                        </m:radPr>
                        <m:deg/>
                        <m:e>
                          <m:f>
                            <m:fPr>
                              <m:ctrlPr>
                                <a:rPr lang="en-US" i="1">
                                  <a:latin typeface="Cambria Math" panose="02040503050406030204" pitchFamily="18" charset="0"/>
                                </a:rPr>
                              </m:ctrlPr>
                            </m:fPr>
                            <m:num>
                              <m:r>
                                <a:rPr lang="en-US" i="1">
                                  <a:latin typeface="Cambria Math" panose="02040503050406030204" pitchFamily="18" charset="0"/>
                                  <a:ea typeface="Cambria Math" panose="02040503050406030204" pitchFamily="18" charset="0"/>
                                </a:rPr>
                                <m:t>𝑆</m:t>
                              </m:r>
                              <m:r>
                                <a:rPr lang="en-US" i="1" baseline="-25000">
                                  <a:latin typeface="Cambria Math" panose="02040503050406030204" pitchFamily="18" charset="0"/>
                                  <a:ea typeface="Cambria Math" panose="02040503050406030204" pitchFamily="18" charset="0"/>
                                </a:rPr>
                                <m:t>1</m:t>
                              </m:r>
                              <m:r>
                                <a:rPr lang="en-US" i="1" baseline="30000">
                                  <a:latin typeface="Cambria Math" panose="02040503050406030204" pitchFamily="18" charset="0"/>
                                  <a:ea typeface="Cambria Math" panose="02040503050406030204" pitchFamily="18" charset="0"/>
                                </a:rPr>
                                <m:t>2</m:t>
                              </m:r>
                            </m:num>
                            <m:den>
                              <m:r>
                                <a:rPr lang="en-US" i="1">
                                  <a:latin typeface="Cambria Math" panose="02040503050406030204" pitchFamily="18" charset="0"/>
                                </a:rPr>
                                <m:t>𝑛</m:t>
                              </m:r>
                              <m:r>
                                <a:rPr lang="en-US" i="1" baseline="-25000">
                                  <a:latin typeface="Cambria Math" panose="02040503050406030204" pitchFamily="18" charset="0"/>
                                </a:rPr>
                                <m:t>1</m:t>
                              </m:r>
                            </m:den>
                          </m:f>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ea typeface="Cambria Math" panose="02040503050406030204" pitchFamily="18" charset="0"/>
                                </a:rPr>
                                <m:t>𝑆</m:t>
                              </m:r>
                              <m:r>
                                <a:rPr lang="en-US" i="1" baseline="-25000">
                                  <a:latin typeface="Cambria Math" panose="02040503050406030204" pitchFamily="18" charset="0"/>
                                  <a:ea typeface="Cambria Math" panose="02040503050406030204" pitchFamily="18" charset="0"/>
                                </a:rPr>
                                <m:t>2</m:t>
                              </m:r>
                              <m:r>
                                <a:rPr lang="en-US" i="1" baseline="30000">
                                  <a:latin typeface="Cambria Math" panose="02040503050406030204" pitchFamily="18" charset="0"/>
                                  <a:ea typeface="Cambria Math" panose="02040503050406030204" pitchFamily="18" charset="0"/>
                                </a:rPr>
                                <m:t>2</m:t>
                              </m:r>
                            </m:num>
                            <m:den>
                              <m:r>
                                <a:rPr lang="en-US" i="1">
                                  <a:latin typeface="Cambria Math" panose="02040503050406030204" pitchFamily="18" charset="0"/>
                                </a:rPr>
                                <m:t>𝑛</m:t>
                              </m:r>
                              <m:r>
                                <a:rPr lang="en-US" i="1" baseline="-25000">
                                  <a:latin typeface="Cambria Math" panose="02040503050406030204" pitchFamily="18" charset="0"/>
                                </a:rPr>
                                <m:t>2</m:t>
                              </m:r>
                            </m:den>
                          </m:f>
                        </m:e>
                      </m:rad>
                    </m:oMath>
                  </m:oMathPara>
                </a14:m>
                <a:endParaRPr lang="en-US" dirty="0"/>
              </a:p>
              <a:p>
                <a:pPr marL="0" indent="0">
                  <a:buNone/>
                </a:pPr>
                <a:r>
                  <a:rPr lang="en-US" dirty="0"/>
                  <a:t>Degree of freedom: </a:t>
                </a:r>
                <a14:m>
                  <m:oMath xmlns:m="http://schemas.openxmlformats.org/officeDocument/2006/math">
                    <m:r>
                      <m:rPr>
                        <m:sty m:val="p"/>
                      </m:rPr>
                      <a:rPr lang="en-US" b="0" i="0" smtClean="0">
                        <a:latin typeface="Cambria Math" panose="02040503050406030204" pitchFamily="18" charset="0"/>
                      </a:rPr>
                      <m:t>min</m:t>
                    </m:r>
                    <m:r>
                      <a:rPr lang="en-US" b="0" i="1" smtClean="0">
                        <a:latin typeface="Cambria Math" panose="02040503050406030204" pitchFamily="18" charset="0"/>
                      </a:rPr>
                      <m:t>⁡(</m:t>
                    </m:r>
                    <m:r>
                      <a:rPr lang="en-US" b="0" i="1" smtClean="0">
                        <a:latin typeface="Cambria Math" panose="02040503050406030204" pitchFamily="18" charset="0"/>
                      </a:rPr>
                      <m:t>𝑛</m:t>
                    </m:r>
                    <m:r>
                      <a:rPr lang="en-US" b="0" i="1" baseline="-25000" smtClean="0">
                        <a:latin typeface="Cambria Math" panose="02040503050406030204" pitchFamily="18" charset="0"/>
                      </a:rPr>
                      <m:t>1</m:t>
                    </m:r>
                    <m:r>
                      <a:rPr lang="en-US" b="0" i="1" smtClean="0">
                        <a:latin typeface="Cambria Math" panose="02040503050406030204" pitchFamily="18" charset="0"/>
                      </a:rPr>
                      <m:t>−1,</m:t>
                    </m:r>
                    <m:r>
                      <a:rPr lang="en-US" b="0" i="1" smtClean="0">
                        <a:latin typeface="Cambria Math" panose="02040503050406030204" pitchFamily="18" charset="0"/>
                      </a:rPr>
                      <m:t>𝑛</m:t>
                    </m:r>
                    <m:r>
                      <a:rPr lang="en-US" b="0" i="1" baseline="-25000" smtClean="0">
                        <a:latin typeface="Cambria Math" panose="02040503050406030204" pitchFamily="18" charset="0"/>
                      </a:rPr>
                      <m:t>2</m:t>
                    </m:r>
                    <m:r>
                      <a:rPr lang="en-US" b="0" i="1" smtClean="0">
                        <a:latin typeface="Cambria Math" panose="02040503050406030204" pitchFamily="18" charset="0"/>
                      </a:rPr>
                      <m:t>−1)</m:t>
                    </m:r>
                  </m:oMath>
                </a14:m>
                <a:endParaRPr lang="en-US" dirty="0"/>
              </a:p>
            </p:txBody>
          </p:sp>
        </mc:Choice>
        <mc:Fallback xmlns="">
          <p:sp>
            <p:nvSpPr>
              <p:cNvPr id="2" name="Content Placeholder 1">
                <a:extLst>
                  <a:ext uri="{FF2B5EF4-FFF2-40B4-BE49-F238E27FC236}">
                    <a16:creationId xmlns:a16="http://schemas.microsoft.com/office/drawing/2014/main" id="{FB16576D-62E7-0543-9818-D8C495D5D5EA}"/>
                  </a:ext>
                </a:extLst>
              </p:cNvPr>
              <p:cNvSpPr>
                <a:spLocks noGrp="1" noRot="1" noChangeAspect="1" noMove="1" noResize="1" noEditPoints="1" noAdjustHandles="1" noChangeArrowheads="1" noChangeShapeType="1" noTextEdit="1"/>
              </p:cNvSpPr>
              <p:nvPr>
                <p:ph idx="1"/>
              </p:nvPr>
            </p:nvSpPr>
            <p:spPr>
              <a:blipFill>
                <a:blip r:embed="rId2"/>
                <a:stretch>
                  <a:fillRect l="-1852" t="-3081" b="-3361"/>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5285535F-99C3-6F42-BD31-ECED06E9DD7B}"/>
              </a:ext>
            </a:extLst>
          </p:cNvPr>
          <p:cNvSpPr>
            <a:spLocks noGrp="1"/>
          </p:cNvSpPr>
          <p:nvPr>
            <p:ph type="title"/>
          </p:nvPr>
        </p:nvSpPr>
        <p:spPr/>
        <p:txBody>
          <a:bodyPr/>
          <a:lstStyle/>
          <a:p>
            <a:r>
              <a:rPr lang="en-US" dirty="0"/>
              <a:t>Confidence Interval</a:t>
            </a:r>
          </a:p>
        </p:txBody>
      </p:sp>
    </p:spTree>
    <p:extLst>
      <p:ext uri="{BB962C8B-B14F-4D97-AF65-F5344CB8AC3E}">
        <p14:creationId xmlns:p14="http://schemas.microsoft.com/office/powerpoint/2010/main" val="52214466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34A7BE-53A7-B940-4135-B57694485DD1}"/>
              </a:ext>
            </a:extLst>
          </p:cNvPr>
          <p:cNvSpPr>
            <a:spLocks noGrp="1"/>
          </p:cNvSpPr>
          <p:nvPr>
            <p:ph type="ctrTitle"/>
          </p:nvPr>
        </p:nvSpPr>
        <p:spPr/>
        <p:txBody>
          <a:bodyPr/>
          <a:lstStyle/>
          <a:p>
            <a:r>
              <a:rPr lang="en-US" dirty="0"/>
              <a:t>ANOVA</a:t>
            </a:r>
          </a:p>
        </p:txBody>
      </p:sp>
      <p:sp>
        <p:nvSpPr>
          <p:cNvPr id="3" name="Subtitle 2">
            <a:extLst>
              <a:ext uri="{FF2B5EF4-FFF2-40B4-BE49-F238E27FC236}">
                <a16:creationId xmlns:a16="http://schemas.microsoft.com/office/drawing/2014/main" id="{39D71B2A-F027-068B-1C07-BCB3B625A839}"/>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41228050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Graphical user interface, text, application, email&#10;&#10;Description automatically generated">
            <a:extLst>
              <a:ext uri="{FF2B5EF4-FFF2-40B4-BE49-F238E27FC236}">
                <a16:creationId xmlns:a16="http://schemas.microsoft.com/office/drawing/2014/main" id="{2924F55B-A4F8-4844-A35C-CCE6A9951A34}"/>
              </a:ext>
            </a:extLst>
          </p:cNvPr>
          <p:cNvPicPr>
            <a:picLocks noChangeAspect="1"/>
          </p:cNvPicPr>
          <p:nvPr/>
        </p:nvPicPr>
        <p:blipFill>
          <a:blip r:embed="rId2"/>
          <a:stretch>
            <a:fillRect/>
          </a:stretch>
        </p:blipFill>
        <p:spPr>
          <a:xfrm>
            <a:off x="298450" y="755650"/>
            <a:ext cx="8547100" cy="5346700"/>
          </a:xfrm>
          <a:prstGeom prst="rect">
            <a:avLst/>
          </a:prstGeom>
        </p:spPr>
      </p:pic>
    </p:spTree>
    <p:extLst>
      <p:ext uri="{BB962C8B-B14F-4D97-AF65-F5344CB8AC3E}">
        <p14:creationId xmlns:p14="http://schemas.microsoft.com/office/powerpoint/2010/main" val="171843809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hart, box and whisker chart&#10;&#10;Description automatically generated">
            <a:extLst>
              <a:ext uri="{FF2B5EF4-FFF2-40B4-BE49-F238E27FC236}">
                <a16:creationId xmlns:a16="http://schemas.microsoft.com/office/drawing/2014/main" id="{E93CE62B-D678-9540-94E2-13FCDF97CCBE}"/>
              </a:ext>
            </a:extLst>
          </p:cNvPr>
          <p:cNvPicPr>
            <a:picLocks noChangeAspect="1"/>
          </p:cNvPicPr>
          <p:nvPr/>
        </p:nvPicPr>
        <p:blipFill>
          <a:blip r:embed="rId2"/>
          <a:stretch>
            <a:fillRect/>
          </a:stretch>
        </p:blipFill>
        <p:spPr>
          <a:xfrm>
            <a:off x="991288" y="68263"/>
            <a:ext cx="7805950" cy="6264275"/>
          </a:xfrm>
          <a:prstGeom prst="rect">
            <a:avLst/>
          </a:prstGeom>
          <a:noFill/>
        </p:spPr>
      </p:pic>
    </p:spTree>
    <p:extLst>
      <p:ext uri="{BB962C8B-B14F-4D97-AF65-F5344CB8AC3E}">
        <p14:creationId xmlns:p14="http://schemas.microsoft.com/office/powerpoint/2010/main" val="177839179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Text, email&#10;&#10;Description automatically generated">
            <a:extLst>
              <a:ext uri="{FF2B5EF4-FFF2-40B4-BE49-F238E27FC236}">
                <a16:creationId xmlns:a16="http://schemas.microsoft.com/office/drawing/2014/main" id="{B4D65AE5-DB0B-3942-97C7-64C5544048B4}"/>
              </a:ext>
            </a:extLst>
          </p:cNvPr>
          <p:cNvPicPr>
            <a:picLocks noChangeAspect="1"/>
          </p:cNvPicPr>
          <p:nvPr/>
        </p:nvPicPr>
        <p:blipFill>
          <a:blip r:embed="rId2"/>
          <a:stretch>
            <a:fillRect/>
          </a:stretch>
        </p:blipFill>
        <p:spPr>
          <a:xfrm>
            <a:off x="735013" y="164149"/>
            <a:ext cx="8318500" cy="6072502"/>
          </a:xfrm>
          <a:prstGeom prst="rect">
            <a:avLst/>
          </a:prstGeom>
          <a:noFill/>
        </p:spPr>
      </p:pic>
    </p:spTree>
    <p:extLst>
      <p:ext uri="{BB962C8B-B14F-4D97-AF65-F5344CB8AC3E}">
        <p14:creationId xmlns:p14="http://schemas.microsoft.com/office/powerpoint/2010/main" val="241184669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Graphical user interface, text, application, letter, email&#10;&#10;Description automatically generated">
            <a:extLst>
              <a:ext uri="{FF2B5EF4-FFF2-40B4-BE49-F238E27FC236}">
                <a16:creationId xmlns:a16="http://schemas.microsoft.com/office/drawing/2014/main" id="{CB49BE87-7B89-294D-8263-B257031FF190}"/>
              </a:ext>
            </a:extLst>
          </p:cNvPr>
          <p:cNvPicPr>
            <a:picLocks noChangeAspect="1"/>
          </p:cNvPicPr>
          <p:nvPr/>
        </p:nvPicPr>
        <p:blipFill>
          <a:blip r:embed="rId2"/>
          <a:stretch>
            <a:fillRect/>
          </a:stretch>
        </p:blipFill>
        <p:spPr>
          <a:xfrm>
            <a:off x="735013" y="184944"/>
            <a:ext cx="8318500" cy="6030912"/>
          </a:xfrm>
          <a:prstGeom prst="rect">
            <a:avLst/>
          </a:prstGeom>
          <a:noFill/>
        </p:spPr>
      </p:pic>
    </p:spTree>
    <p:extLst>
      <p:ext uri="{BB962C8B-B14F-4D97-AF65-F5344CB8AC3E}">
        <p14:creationId xmlns:p14="http://schemas.microsoft.com/office/powerpoint/2010/main" val="733361979"/>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Text, letter&#10;&#10;Description automatically generated">
            <a:extLst>
              <a:ext uri="{FF2B5EF4-FFF2-40B4-BE49-F238E27FC236}">
                <a16:creationId xmlns:a16="http://schemas.microsoft.com/office/drawing/2014/main" id="{900F42AC-4E1B-9241-B1C8-217893F87CF3}"/>
              </a:ext>
            </a:extLst>
          </p:cNvPr>
          <p:cNvPicPr>
            <a:picLocks noChangeAspect="1"/>
          </p:cNvPicPr>
          <p:nvPr/>
        </p:nvPicPr>
        <p:blipFill>
          <a:blip r:embed="rId2"/>
          <a:stretch>
            <a:fillRect/>
          </a:stretch>
        </p:blipFill>
        <p:spPr>
          <a:xfrm>
            <a:off x="735013" y="184944"/>
            <a:ext cx="8318500" cy="6030912"/>
          </a:xfrm>
          <a:prstGeom prst="rect">
            <a:avLst/>
          </a:prstGeom>
          <a:noFill/>
        </p:spPr>
      </p:pic>
    </p:spTree>
    <p:extLst>
      <p:ext uri="{BB962C8B-B14F-4D97-AF65-F5344CB8AC3E}">
        <p14:creationId xmlns:p14="http://schemas.microsoft.com/office/powerpoint/2010/main" val="285290808"/>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83901A-1BE2-F67C-A32A-FD64D1259B4A}"/>
              </a:ext>
            </a:extLst>
          </p:cNvPr>
          <p:cNvSpPr>
            <a:spLocks noGrp="1"/>
          </p:cNvSpPr>
          <p:nvPr>
            <p:ph type="ctrTitle"/>
          </p:nvPr>
        </p:nvSpPr>
        <p:spPr/>
        <p:txBody>
          <a:bodyPr/>
          <a:lstStyle/>
          <a:p>
            <a:r>
              <a:rPr lang="en-US" dirty="0"/>
              <a:t>Error Type</a:t>
            </a:r>
          </a:p>
        </p:txBody>
      </p:sp>
      <p:sp>
        <p:nvSpPr>
          <p:cNvPr id="3" name="Subtitle 2">
            <a:extLst>
              <a:ext uri="{FF2B5EF4-FFF2-40B4-BE49-F238E27FC236}">
                <a16:creationId xmlns:a16="http://schemas.microsoft.com/office/drawing/2014/main" id="{FB63F634-AC2E-FB44-95FF-0C33D687DAF2}"/>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032539560"/>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Table&#10;&#10;Description automatically generated">
            <a:extLst>
              <a:ext uri="{FF2B5EF4-FFF2-40B4-BE49-F238E27FC236}">
                <a16:creationId xmlns:a16="http://schemas.microsoft.com/office/drawing/2014/main" id="{B2DE32C0-25FE-E54E-B09D-EE1AD79F852D}"/>
              </a:ext>
            </a:extLst>
          </p:cNvPr>
          <p:cNvPicPr>
            <a:picLocks noChangeAspect="1"/>
          </p:cNvPicPr>
          <p:nvPr/>
        </p:nvPicPr>
        <p:blipFill>
          <a:blip r:embed="rId2"/>
          <a:stretch>
            <a:fillRect/>
          </a:stretch>
        </p:blipFill>
        <p:spPr>
          <a:xfrm>
            <a:off x="735013" y="174547"/>
            <a:ext cx="8318500" cy="6051707"/>
          </a:xfrm>
          <a:prstGeom prst="rect">
            <a:avLst/>
          </a:prstGeom>
          <a:noFill/>
        </p:spPr>
      </p:pic>
    </p:spTree>
    <p:extLst>
      <p:ext uri="{BB962C8B-B14F-4D97-AF65-F5344CB8AC3E}">
        <p14:creationId xmlns:p14="http://schemas.microsoft.com/office/powerpoint/2010/main" val="1405518729"/>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Graphical user interface, text, application, email&#10;&#10;Description automatically generated">
            <a:extLst>
              <a:ext uri="{FF2B5EF4-FFF2-40B4-BE49-F238E27FC236}">
                <a16:creationId xmlns:a16="http://schemas.microsoft.com/office/drawing/2014/main" id="{80B38D0E-E589-5E4D-82FA-3F3B033C056F}"/>
              </a:ext>
            </a:extLst>
          </p:cNvPr>
          <p:cNvPicPr>
            <a:picLocks noChangeAspect="1"/>
          </p:cNvPicPr>
          <p:nvPr/>
        </p:nvPicPr>
        <p:blipFill>
          <a:blip r:embed="rId2"/>
          <a:stretch>
            <a:fillRect/>
          </a:stretch>
        </p:blipFill>
        <p:spPr>
          <a:xfrm>
            <a:off x="735013" y="174547"/>
            <a:ext cx="8318500" cy="6051707"/>
          </a:xfrm>
          <a:prstGeom prst="rect">
            <a:avLst/>
          </a:prstGeom>
          <a:noFill/>
        </p:spPr>
      </p:pic>
    </p:spTree>
    <p:extLst>
      <p:ext uri="{BB962C8B-B14F-4D97-AF65-F5344CB8AC3E}">
        <p14:creationId xmlns:p14="http://schemas.microsoft.com/office/powerpoint/2010/main" val="2735111518"/>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Graphical user interface, text, application, email&#10;&#10;Description automatically generated">
            <a:extLst>
              <a:ext uri="{FF2B5EF4-FFF2-40B4-BE49-F238E27FC236}">
                <a16:creationId xmlns:a16="http://schemas.microsoft.com/office/drawing/2014/main" id="{59B1566E-0D2B-EE4F-ABC7-D35A3E00F1F2}"/>
              </a:ext>
            </a:extLst>
          </p:cNvPr>
          <p:cNvPicPr>
            <a:picLocks noChangeAspect="1"/>
          </p:cNvPicPr>
          <p:nvPr/>
        </p:nvPicPr>
        <p:blipFill>
          <a:blip r:embed="rId2"/>
          <a:stretch>
            <a:fillRect/>
          </a:stretch>
        </p:blipFill>
        <p:spPr>
          <a:xfrm>
            <a:off x="735013" y="195343"/>
            <a:ext cx="8318500" cy="6010114"/>
          </a:xfrm>
          <a:prstGeom prst="rect">
            <a:avLst/>
          </a:prstGeom>
          <a:noFill/>
        </p:spPr>
      </p:pic>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BB59A160-D831-3F45-BF99-19DEF6166FC9}"/>
                  </a:ext>
                </a:extLst>
              </p:cNvPr>
              <p:cNvSpPr txBox="1"/>
              <p:nvPr/>
            </p:nvSpPr>
            <p:spPr>
              <a:xfrm>
                <a:off x="1308100" y="4109955"/>
                <a:ext cx="6527800" cy="2120901"/>
              </a:xfrm>
              <a:prstGeom prst="rect">
                <a:avLst/>
              </a:prstGeom>
              <a:ln w="57150">
                <a:solidFill>
                  <a:schemeClr val="tx1"/>
                </a:solidFill>
              </a:ln>
            </p:spPr>
            <p:txBody>
              <a:bodyPr vert="horz" wrap="none" lIns="91440" tIns="45720" rIns="91440" bIns="45720" rtlCol="0">
                <a:normAutofit/>
              </a:bodyPr>
              <a:lstStyle/>
              <a:p>
                <a:pPr/>
                <a14:m>
                  <m:oMathPara xmlns:m="http://schemas.openxmlformats.org/officeDocument/2006/math">
                    <m:oMathParaPr>
                      <m:jc m:val="centerGroup"/>
                    </m:oMathParaPr>
                    <m:oMath xmlns:m="http://schemas.openxmlformats.org/officeDocument/2006/math">
                      <m:r>
                        <a:rPr lang="en-US" sz="2000" b="0" i="1" smtClean="0">
                          <a:solidFill>
                            <a:prstClr val="black"/>
                          </a:solidFill>
                          <a:latin typeface="Cambria Math" panose="02040503050406030204" pitchFamily="18" charset="0"/>
                          <a:cs typeface="Source Sans Pro Light"/>
                        </a:rPr>
                        <m:t>𝑇𝑢𝑘𝑒𝑦</m:t>
                      </m:r>
                      <m:r>
                        <a:rPr lang="en-US" sz="2000" b="0" i="1" smtClean="0">
                          <a:solidFill>
                            <a:prstClr val="black"/>
                          </a:solidFill>
                          <a:latin typeface="Cambria Math" panose="02040503050406030204" pitchFamily="18" charset="0"/>
                          <a:cs typeface="Source Sans Pro Light"/>
                        </a:rPr>
                        <m:t> </m:t>
                      </m:r>
                      <m:r>
                        <a:rPr lang="en-US" sz="2000" b="0" i="1" smtClean="0">
                          <a:solidFill>
                            <a:prstClr val="black"/>
                          </a:solidFill>
                          <a:latin typeface="Cambria Math" panose="02040503050406030204" pitchFamily="18" charset="0"/>
                          <a:cs typeface="Source Sans Pro Light"/>
                        </a:rPr>
                        <m:t>𝐻𝑆𝑇</m:t>
                      </m:r>
                      <m:r>
                        <a:rPr lang="en-US" sz="2000" b="0" i="1" smtClean="0">
                          <a:solidFill>
                            <a:prstClr val="black"/>
                          </a:solidFill>
                          <a:latin typeface="Cambria Math" panose="02040503050406030204" pitchFamily="18" charset="0"/>
                          <a:cs typeface="Source Sans Pro Light"/>
                        </a:rPr>
                        <m:t>=</m:t>
                      </m:r>
                      <m:r>
                        <a:rPr lang="en-US" sz="2000" b="0" i="1" smtClean="0">
                          <a:solidFill>
                            <a:prstClr val="black"/>
                          </a:solidFill>
                          <a:latin typeface="Cambria Math" panose="02040503050406030204" pitchFamily="18" charset="0"/>
                          <a:cs typeface="Source Sans Pro Light"/>
                        </a:rPr>
                        <m:t>𝑞</m:t>
                      </m:r>
                      <m:rad>
                        <m:radPr>
                          <m:degHide m:val="on"/>
                          <m:ctrlPr>
                            <a:rPr lang="en-US" sz="2000" b="0" i="1" smtClean="0">
                              <a:solidFill>
                                <a:prstClr val="black"/>
                              </a:solidFill>
                              <a:latin typeface="Cambria Math" panose="02040503050406030204" pitchFamily="18" charset="0"/>
                            </a:rPr>
                          </m:ctrlPr>
                        </m:radPr>
                        <m:deg/>
                        <m:e>
                          <m:f>
                            <m:fPr>
                              <m:ctrlPr>
                                <a:rPr lang="en-US" sz="2000" b="0" i="1" smtClean="0">
                                  <a:solidFill>
                                    <a:prstClr val="black"/>
                                  </a:solidFill>
                                  <a:latin typeface="Cambria Math" panose="02040503050406030204" pitchFamily="18" charset="0"/>
                                </a:rPr>
                              </m:ctrlPr>
                            </m:fPr>
                            <m:num>
                              <m:r>
                                <a:rPr lang="en-US" sz="2000" b="0" i="1" smtClean="0">
                                  <a:solidFill>
                                    <a:prstClr val="black"/>
                                  </a:solidFill>
                                  <a:latin typeface="Cambria Math" panose="02040503050406030204" pitchFamily="18" charset="0"/>
                                </a:rPr>
                                <m:t>𝑆𝑆𝑊</m:t>
                              </m:r>
                            </m:num>
                            <m:den>
                              <m:r>
                                <a:rPr lang="en-US" sz="2000" b="0" i="1" smtClean="0">
                                  <a:solidFill>
                                    <a:prstClr val="black"/>
                                  </a:solidFill>
                                  <a:latin typeface="Cambria Math" panose="02040503050406030204" pitchFamily="18" charset="0"/>
                                </a:rPr>
                                <m:t>𝑛</m:t>
                              </m:r>
                              <m:r>
                                <a:rPr lang="en-US" sz="2000" b="0" i="1" baseline="-25000" smtClean="0">
                                  <a:solidFill>
                                    <a:prstClr val="black"/>
                                  </a:solidFill>
                                  <a:latin typeface="Cambria Math" panose="02040503050406030204" pitchFamily="18" charset="0"/>
                                </a:rPr>
                                <m:t>𝑖</m:t>
                              </m:r>
                            </m:den>
                          </m:f>
                        </m:e>
                      </m:rad>
                    </m:oMath>
                  </m:oMathPara>
                </a14:m>
                <a:endParaRPr lang="en-US" sz="2000" dirty="0">
                  <a:solidFill>
                    <a:prstClr val="black"/>
                  </a:solidFill>
                  <a:latin typeface="Source Sans Pro Light"/>
                  <a:cs typeface="Source Sans Pro Light"/>
                </a:endParaRPr>
              </a:p>
              <a:p>
                <a:r>
                  <a:rPr lang="en-US" sz="2000" dirty="0">
                    <a:solidFill>
                      <a:prstClr val="black"/>
                    </a:solidFill>
                    <a:latin typeface="Source Sans Pro Light"/>
                    <a:cs typeface="Source Sans Pro Light"/>
                  </a:rPr>
                  <a:t>q: constant number</a:t>
                </a:r>
              </a:p>
              <a:p>
                <a:r>
                  <a:rPr lang="en-US" sz="2000" dirty="0">
                    <a:solidFill>
                      <a:prstClr val="black"/>
                    </a:solidFill>
                    <a:latin typeface="Source Sans Pro Light"/>
                    <a:cs typeface="Source Sans Pro Light"/>
                  </a:rPr>
                  <a:t>SSW: mean squared within</a:t>
                </a:r>
              </a:p>
              <a:p>
                <a:r>
                  <a:rPr lang="en-US" sz="2000" dirty="0" err="1">
                    <a:solidFill>
                      <a:prstClr val="black"/>
                    </a:solidFill>
                    <a:latin typeface="Source Sans Pro Light"/>
                    <a:cs typeface="Source Sans Pro Light"/>
                  </a:rPr>
                  <a:t>ni</a:t>
                </a:r>
                <a:r>
                  <a:rPr lang="en-US" sz="2000" dirty="0">
                    <a:solidFill>
                      <a:prstClr val="black"/>
                    </a:solidFill>
                    <a:latin typeface="Source Sans Pro Light"/>
                    <a:cs typeface="Source Sans Pro Light"/>
                  </a:rPr>
                  <a:t>: number of samples in each group (assumes to be the same) </a:t>
                </a:r>
              </a:p>
            </p:txBody>
          </p:sp>
        </mc:Choice>
        <mc:Fallback xmlns="">
          <p:sp>
            <p:nvSpPr>
              <p:cNvPr id="2" name="TextBox 1">
                <a:extLst>
                  <a:ext uri="{FF2B5EF4-FFF2-40B4-BE49-F238E27FC236}">
                    <a16:creationId xmlns:a16="http://schemas.microsoft.com/office/drawing/2014/main" id="{BB59A160-D831-3F45-BF99-19DEF6166FC9}"/>
                  </a:ext>
                </a:extLst>
              </p:cNvPr>
              <p:cNvSpPr txBox="1">
                <a:spLocks noRot="1" noChangeAspect="1" noMove="1" noResize="1" noEditPoints="1" noAdjustHandles="1" noChangeArrowheads="1" noChangeShapeType="1" noTextEdit="1"/>
              </p:cNvSpPr>
              <p:nvPr/>
            </p:nvSpPr>
            <p:spPr>
              <a:xfrm>
                <a:off x="1308100" y="4109955"/>
                <a:ext cx="6527800" cy="2120901"/>
              </a:xfrm>
              <a:prstGeom prst="rect">
                <a:avLst/>
              </a:prstGeom>
              <a:blipFill>
                <a:blip r:embed="rId3"/>
                <a:stretch>
                  <a:fillRect l="-771" r="-2119"/>
                </a:stretch>
              </a:blipFill>
              <a:ln w="57150">
                <a:solidFill>
                  <a:schemeClr val="tx1"/>
                </a:solidFill>
              </a:ln>
            </p:spPr>
            <p:txBody>
              <a:bodyPr/>
              <a:lstStyle/>
              <a:p>
                <a:r>
                  <a:rPr lang="en-US">
                    <a:noFill/>
                  </a:rPr>
                  <a:t> </a:t>
                </a:r>
              </a:p>
            </p:txBody>
          </p:sp>
        </mc:Fallback>
      </mc:AlternateContent>
    </p:spTree>
    <p:extLst>
      <p:ext uri="{BB962C8B-B14F-4D97-AF65-F5344CB8AC3E}">
        <p14:creationId xmlns:p14="http://schemas.microsoft.com/office/powerpoint/2010/main" val="2971613238"/>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DA0963-F395-1993-0EBE-1F8ED0338378}"/>
              </a:ext>
            </a:extLst>
          </p:cNvPr>
          <p:cNvSpPr>
            <a:spLocks noGrp="1"/>
          </p:cNvSpPr>
          <p:nvPr>
            <p:ph type="ctrTitle"/>
          </p:nvPr>
        </p:nvSpPr>
        <p:spPr/>
        <p:txBody>
          <a:bodyPr/>
          <a:lstStyle/>
          <a:p>
            <a:r>
              <a:rPr lang="en-US" dirty="0"/>
              <a:t>ANOVA vs Regression</a:t>
            </a:r>
          </a:p>
        </p:txBody>
      </p:sp>
      <p:sp>
        <p:nvSpPr>
          <p:cNvPr id="3" name="Subtitle 2">
            <a:extLst>
              <a:ext uri="{FF2B5EF4-FFF2-40B4-BE49-F238E27FC236}">
                <a16:creationId xmlns:a16="http://schemas.microsoft.com/office/drawing/2014/main" id="{FFD88105-2DD2-58D4-06F6-DD55E7070DD4}"/>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532600517"/>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Graphical user interface, text, application, email&#10;&#10;Description automatically generated">
            <a:extLst>
              <a:ext uri="{FF2B5EF4-FFF2-40B4-BE49-F238E27FC236}">
                <a16:creationId xmlns:a16="http://schemas.microsoft.com/office/drawing/2014/main" id="{1BECF449-5088-F7D6-4239-2DDDE0AD542A}"/>
              </a:ext>
            </a:extLst>
          </p:cNvPr>
          <p:cNvPicPr>
            <a:picLocks noChangeAspect="1"/>
          </p:cNvPicPr>
          <p:nvPr/>
        </p:nvPicPr>
        <p:blipFill>
          <a:blip r:embed="rId2"/>
          <a:stretch>
            <a:fillRect/>
          </a:stretch>
        </p:blipFill>
        <p:spPr>
          <a:xfrm>
            <a:off x="349250" y="425450"/>
            <a:ext cx="7772400" cy="5528338"/>
          </a:xfrm>
          <a:prstGeom prst="rect">
            <a:avLst/>
          </a:prstGeom>
        </p:spPr>
      </p:pic>
    </p:spTree>
    <p:extLst>
      <p:ext uri="{BB962C8B-B14F-4D97-AF65-F5344CB8AC3E}">
        <p14:creationId xmlns:p14="http://schemas.microsoft.com/office/powerpoint/2010/main" val="2430093460"/>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55D254-F6E9-1DDC-1204-5B600BF039C7}"/>
              </a:ext>
            </a:extLst>
          </p:cNvPr>
          <p:cNvSpPr>
            <a:spLocks noGrp="1"/>
          </p:cNvSpPr>
          <p:nvPr>
            <p:ph type="ctrTitle"/>
          </p:nvPr>
        </p:nvSpPr>
        <p:spPr/>
        <p:txBody>
          <a:bodyPr/>
          <a:lstStyle/>
          <a:p>
            <a:r>
              <a:rPr lang="en-US" dirty="0"/>
              <a:t>ANCOVA</a:t>
            </a:r>
          </a:p>
        </p:txBody>
      </p:sp>
      <p:sp>
        <p:nvSpPr>
          <p:cNvPr id="3" name="Subtitle 2">
            <a:extLst>
              <a:ext uri="{FF2B5EF4-FFF2-40B4-BE49-F238E27FC236}">
                <a16:creationId xmlns:a16="http://schemas.microsoft.com/office/drawing/2014/main" id="{797EC71B-D60A-49FF-6D42-17EA2856534F}"/>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545279907"/>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Graphical user interface, text, application, email&#10;&#10;Description automatically generated">
            <a:extLst>
              <a:ext uri="{FF2B5EF4-FFF2-40B4-BE49-F238E27FC236}">
                <a16:creationId xmlns:a16="http://schemas.microsoft.com/office/drawing/2014/main" id="{9C8AC0F3-543B-AAF8-C87F-E44F00819936}"/>
              </a:ext>
            </a:extLst>
          </p:cNvPr>
          <p:cNvPicPr>
            <a:picLocks noChangeAspect="1"/>
          </p:cNvPicPr>
          <p:nvPr/>
        </p:nvPicPr>
        <p:blipFill>
          <a:blip r:embed="rId2"/>
          <a:stretch>
            <a:fillRect/>
          </a:stretch>
        </p:blipFill>
        <p:spPr>
          <a:xfrm>
            <a:off x="387350" y="831850"/>
            <a:ext cx="7772400" cy="4823841"/>
          </a:xfrm>
          <a:prstGeom prst="rect">
            <a:avLst/>
          </a:prstGeom>
        </p:spPr>
      </p:pic>
    </p:spTree>
    <p:extLst>
      <p:ext uri="{BB962C8B-B14F-4D97-AF65-F5344CB8AC3E}">
        <p14:creationId xmlns:p14="http://schemas.microsoft.com/office/powerpoint/2010/main" val="1663185002"/>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Graphical user interface, text, application&#10;&#10;Description automatically generated">
            <a:extLst>
              <a:ext uri="{FF2B5EF4-FFF2-40B4-BE49-F238E27FC236}">
                <a16:creationId xmlns:a16="http://schemas.microsoft.com/office/drawing/2014/main" id="{3D84780E-7887-FBEF-31B2-08078D6FADD1}"/>
              </a:ext>
            </a:extLst>
          </p:cNvPr>
          <p:cNvPicPr>
            <a:picLocks noChangeAspect="1"/>
          </p:cNvPicPr>
          <p:nvPr/>
        </p:nvPicPr>
        <p:blipFill>
          <a:blip r:embed="rId2"/>
          <a:stretch>
            <a:fillRect/>
          </a:stretch>
        </p:blipFill>
        <p:spPr>
          <a:xfrm>
            <a:off x="342900" y="508000"/>
            <a:ext cx="7772400" cy="5368324"/>
          </a:xfrm>
          <a:prstGeom prst="rect">
            <a:avLst/>
          </a:prstGeom>
        </p:spPr>
      </p:pic>
    </p:spTree>
    <p:extLst>
      <p:ext uri="{BB962C8B-B14F-4D97-AF65-F5344CB8AC3E}">
        <p14:creationId xmlns:p14="http://schemas.microsoft.com/office/powerpoint/2010/main" val="144565658"/>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Graphical user interface, text, application, email&#10;&#10;Description automatically generated">
            <a:extLst>
              <a:ext uri="{FF2B5EF4-FFF2-40B4-BE49-F238E27FC236}">
                <a16:creationId xmlns:a16="http://schemas.microsoft.com/office/drawing/2014/main" id="{B7DB5192-E30D-6EDD-D560-13244E5E7FC6}"/>
              </a:ext>
            </a:extLst>
          </p:cNvPr>
          <p:cNvPicPr>
            <a:picLocks noChangeAspect="1"/>
          </p:cNvPicPr>
          <p:nvPr/>
        </p:nvPicPr>
        <p:blipFill>
          <a:blip r:embed="rId2"/>
          <a:stretch>
            <a:fillRect/>
          </a:stretch>
        </p:blipFill>
        <p:spPr>
          <a:xfrm>
            <a:off x="355600" y="431800"/>
            <a:ext cx="7772400" cy="5524959"/>
          </a:xfrm>
          <a:prstGeom prst="rect">
            <a:avLst/>
          </a:prstGeom>
        </p:spPr>
      </p:pic>
    </p:spTree>
    <p:extLst>
      <p:ext uri="{BB962C8B-B14F-4D97-AF65-F5344CB8AC3E}">
        <p14:creationId xmlns:p14="http://schemas.microsoft.com/office/powerpoint/2010/main" val="1473387369"/>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3A2D97-699E-A1FC-33B4-8968757FFDFF}"/>
              </a:ext>
            </a:extLst>
          </p:cNvPr>
          <p:cNvSpPr>
            <a:spLocks noGrp="1"/>
          </p:cNvSpPr>
          <p:nvPr>
            <p:ph type="ctrTitle"/>
          </p:nvPr>
        </p:nvSpPr>
        <p:spPr/>
        <p:txBody>
          <a:bodyPr/>
          <a:lstStyle/>
          <a:p>
            <a:r>
              <a:rPr lang="en-US" dirty="0"/>
              <a:t>Two Way ANOVA</a:t>
            </a:r>
          </a:p>
        </p:txBody>
      </p:sp>
      <p:sp>
        <p:nvSpPr>
          <p:cNvPr id="3" name="Subtitle 2">
            <a:extLst>
              <a:ext uri="{FF2B5EF4-FFF2-40B4-BE49-F238E27FC236}">
                <a16:creationId xmlns:a16="http://schemas.microsoft.com/office/drawing/2014/main" id="{02354D19-5AF3-932B-F7D1-89DCD0CA42CD}"/>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616115587"/>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Graphical user interface, text, application, email&#10;&#10;Description automatically generated">
            <a:extLst>
              <a:ext uri="{FF2B5EF4-FFF2-40B4-BE49-F238E27FC236}">
                <a16:creationId xmlns:a16="http://schemas.microsoft.com/office/drawing/2014/main" id="{75966AD3-02C1-7B56-7743-447EE0C825E9}"/>
              </a:ext>
            </a:extLst>
          </p:cNvPr>
          <p:cNvPicPr>
            <a:picLocks noChangeAspect="1"/>
          </p:cNvPicPr>
          <p:nvPr/>
        </p:nvPicPr>
        <p:blipFill>
          <a:blip r:embed="rId2"/>
          <a:stretch>
            <a:fillRect/>
          </a:stretch>
        </p:blipFill>
        <p:spPr>
          <a:xfrm>
            <a:off x="374650" y="660400"/>
            <a:ext cx="7772400" cy="5126726"/>
          </a:xfrm>
          <a:prstGeom prst="rect">
            <a:avLst/>
          </a:prstGeom>
        </p:spPr>
      </p:pic>
    </p:spTree>
    <p:extLst>
      <p:ext uri="{BB962C8B-B14F-4D97-AF65-F5344CB8AC3E}">
        <p14:creationId xmlns:p14="http://schemas.microsoft.com/office/powerpoint/2010/main" val="804916909"/>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Graphical user interface, text, application, email&#10;&#10;Description automatically generated">
            <a:extLst>
              <a:ext uri="{FF2B5EF4-FFF2-40B4-BE49-F238E27FC236}">
                <a16:creationId xmlns:a16="http://schemas.microsoft.com/office/drawing/2014/main" id="{7452BF55-A510-DC6F-9B8D-1D0D585A0376}"/>
              </a:ext>
            </a:extLst>
          </p:cNvPr>
          <p:cNvPicPr>
            <a:picLocks noChangeAspect="1"/>
          </p:cNvPicPr>
          <p:nvPr/>
        </p:nvPicPr>
        <p:blipFill>
          <a:blip r:embed="rId2"/>
          <a:stretch>
            <a:fillRect/>
          </a:stretch>
        </p:blipFill>
        <p:spPr>
          <a:xfrm>
            <a:off x="374650" y="488950"/>
            <a:ext cx="7772400" cy="5444207"/>
          </a:xfrm>
          <a:prstGeom prst="rect">
            <a:avLst/>
          </a:prstGeom>
        </p:spPr>
      </p:pic>
    </p:spTree>
    <p:extLst>
      <p:ext uri="{BB962C8B-B14F-4D97-AF65-F5344CB8AC3E}">
        <p14:creationId xmlns:p14="http://schemas.microsoft.com/office/powerpoint/2010/main" val="171232038"/>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93E201-F660-5E0F-EF2D-9E886FEBAD85}"/>
              </a:ext>
            </a:extLst>
          </p:cNvPr>
          <p:cNvSpPr>
            <a:spLocks noGrp="1"/>
          </p:cNvSpPr>
          <p:nvPr>
            <p:ph type="ctrTitle"/>
          </p:nvPr>
        </p:nvSpPr>
        <p:spPr/>
        <p:txBody>
          <a:bodyPr/>
          <a:lstStyle/>
          <a:p>
            <a:r>
              <a:rPr lang="en-US" dirty="0"/>
              <a:t>Classification</a:t>
            </a:r>
          </a:p>
        </p:txBody>
      </p:sp>
      <p:sp>
        <p:nvSpPr>
          <p:cNvPr id="3" name="Subtitle 2">
            <a:extLst>
              <a:ext uri="{FF2B5EF4-FFF2-40B4-BE49-F238E27FC236}">
                <a16:creationId xmlns:a16="http://schemas.microsoft.com/office/drawing/2014/main" id="{E6CF4235-363A-1733-7777-BE3805174409}"/>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576801079"/>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342AC450-9BA1-E444-9391-BB7A9356A171}"/>
                  </a:ext>
                </a:extLst>
              </p:cNvPr>
              <p:cNvSpPr>
                <a:spLocks noGrp="1"/>
              </p:cNvSpPr>
              <p:nvPr>
                <p:ph idx="1"/>
              </p:nvPr>
            </p:nvSpPr>
            <p:spPr/>
            <p:txBody>
              <a:bodyPr/>
              <a:lstStyle/>
              <a:p>
                <a:r>
                  <a:rPr lang="en-US" dirty="0"/>
                  <a:t>Logistic Function:</a:t>
                </a:r>
              </a:p>
              <a:p>
                <a:pPr marL="0" indent="0" algn="ctr">
                  <a:buNone/>
                </a:pPr>
                <a14:m>
                  <m:oMath xmlns:m="http://schemas.openxmlformats.org/officeDocument/2006/math">
                    <m:r>
                      <a:rPr lang="en-US" b="0" i="1" smtClean="0">
                        <a:latin typeface="Cambria Math" panose="02040503050406030204" pitchFamily="18" charset="0"/>
                      </a:rPr>
                      <m:t>𝑦</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𝑒</m:t>
                        </m:r>
                        <m:r>
                          <a:rPr lang="en-US" b="0" i="1" baseline="30000" smtClean="0">
                            <a:latin typeface="Cambria Math" panose="02040503050406030204" pitchFamily="18" charset="0"/>
                          </a:rPr>
                          <m:t>𝑍</m:t>
                        </m:r>
                      </m:num>
                      <m:den>
                        <m:r>
                          <a:rPr lang="en-US" b="0" i="1" smtClean="0">
                            <a:latin typeface="Cambria Math" panose="02040503050406030204" pitchFamily="18" charset="0"/>
                          </a:rPr>
                          <m:t>1+</m:t>
                        </m:r>
                        <m:r>
                          <a:rPr lang="en-US" b="0" i="1" smtClean="0">
                            <a:latin typeface="Cambria Math" panose="02040503050406030204" pitchFamily="18" charset="0"/>
                          </a:rPr>
                          <m:t>𝑒𝑧</m:t>
                        </m:r>
                        <m:r>
                          <a:rPr lang="en-US" b="0" i="1" baseline="30000" smtClean="0">
                            <a:latin typeface="Cambria Math" panose="02040503050406030204" pitchFamily="18" charset="0"/>
                          </a:rPr>
                          <m:t> </m:t>
                        </m:r>
                      </m:den>
                    </m:f>
                  </m:oMath>
                </a14:m>
                <a:r>
                  <a:rPr lang="en-US" dirty="0"/>
                  <a:t> </a:t>
                </a:r>
              </a:p>
              <a:p>
                <a:pPr marL="0" indent="0">
                  <a:buNone/>
                </a:pPr>
                <a:endParaRPr lang="en-US" dirty="0"/>
              </a:p>
            </p:txBody>
          </p:sp>
        </mc:Choice>
        <mc:Fallback xmlns="">
          <p:sp>
            <p:nvSpPr>
              <p:cNvPr id="2" name="Content Placeholder 1">
                <a:extLst>
                  <a:ext uri="{FF2B5EF4-FFF2-40B4-BE49-F238E27FC236}">
                    <a16:creationId xmlns:a16="http://schemas.microsoft.com/office/drawing/2014/main" id="{342AC450-9BA1-E444-9391-BB7A9356A171}"/>
                  </a:ext>
                </a:extLst>
              </p:cNvPr>
              <p:cNvSpPr>
                <a:spLocks noGrp="1" noRot="1" noChangeAspect="1" noMove="1" noResize="1" noEditPoints="1" noAdjustHandles="1" noChangeArrowheads="1" noChangeShapeType="1" noTextEdit="1"/>
              </p:cNvSpPr>
              <p:nvPr>
                <p:ph idx="1"/>
              </p:nvPr>
            </p:nvSpPr>
            <p:spPr>
              <a:blipFill>
                <a:blip r:embed="rId3"/>
                <a:stretch>
                  <a:fillRect t="-1681"/>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DA53682E-AAA7-C040-B081-B01CB0F1285B}"/>
              </a:ext>
            </a:extLst>
          </p:cNvPr>
          <p:cNvSpPr>
            <a:spLocks noGrp="1"/>
          </p:cNvSpPr>
          <p:nvPr>
            <p:ph type="title"/>
          </p:nvPr>
        </p:nvSpPr>
        <p:spPr/>
        <p:txBody>
          <a:bodyPr/>
          <a:lstStyle/>
          <a:p>
            <a:r>
              <a:rPr lang="en-US" dirty="0"/>
              <a:t>Logistic Function Is a Good Fit</a:t>
            </a:r>
          </a:p>
        </p:txBody>
      </p:sp>
      <p:pic>
        <p:nvPicPr>
          <p:cNvPr id="4" name="Picture 3" descr="Screen Shot 2020-09-08 at 3.45.55 PM.png">
            <a:extLst>
              <a:ext uri="{FF2B5EF4-FFF2-40B4-BE49-F238E27FC236}">
                <a16:creationId xmlns:a16="http://schemas.microsoft.com/office/drawing/2014/main" id="{D6F73623-DAFD-DD42-8D8C-36F7A23DD35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751943" y="3429000"/>
            <a:ext cx="4585229" cy="2263145"/>
          </a:xfrm>
          <a:prstGeom prst="rect">
            <a:avLst/>
          </a:prstGeom>
        </p:spPr>
      </p:pic>
    </p:spTree>
    <p:extLst>
      <p:ext uri="{BB962C8B-B14F-4D97-AF65-F5344CB8AC3E}">
        <p14:creationId xmlns:p14="http://schemas.microsoft.com/office/powerpoint/2010/main" val="2992756937"/>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2C131A33-F1C8-F943-ABE4-7A7F28C4BFDA}"/>
                  </a:ext>
                </a:extLst>
              </p:cNvPr>
              <p:cNvSpPr>
                <a:spLocks noGrp="1"/>
              </p:cNvSpPr>
              <p:nvPr>
                <p:ph idx="1"/>
              </p:nvPr>
            </p:nvSpPr>
            <p:spPr/>
            <p:txBody>
              <a:bodyPr>
                <a:normAutofit fontScale="77500" lnSpcReduction="20000"/>
              </a:bodyPr>
              <a:lstStyle/>
              <a:p>
                <a:r>
                  <a:rPr lang="en-US" dirty="0"/>
                  <a:t>When Logistic regression is used for rare events, the model will be trained for a none proportional ratio of samples </a:t>
                </a:r>
              </a:p>
              <a:p>
                <a:pPr lvl="1"/>
                <a:r>
                  <a:rPr lang="en-US" dirty="0"/>
                  <a:t>Like training with a set with 40% of rare event sample </a:t>
                </a:r>
              </a:p>
              <a:p>
                <a:r>
                  <a:rPr lang="en-US" dirty="0"/>
                  <a:t>As a result the model will calculate probabilities wrong!</a:t>
                </a:r>
              </a:p>
              <a:p>
                <a:pPr marL="0" indent="0">
                  <a:buNone/>
                </a:pPr>
                <a:r>
                  <a:rPr lang="en-US" b="1" u="sng" dirty="0"/>
                  <a:t>Solution:</a:t>
                </a:r>
              </a:p>
              <a:p>
                <a:r>
                  <a:rPr lang="en-US" dirty="0"/>
                  <a:t>Case control sampling </a:t>
                </a:r>
              </a:p>
              <a:p>
                <a:pPr lvl="1"/>
                <a:r>
                  <a:rPr lang="en-US" dirty="0"/>
                  <a:t>Regression parameters </a:t>
                </a:r>
                <a14:m>
                  <m:oMath xmlns:m="http://schemas.openxmlformats.org/officeDocument/2006/math">
                    <m:r>
                      <a:rPr lang="en-US" i="1" smtClean="0">
                        <a:latin typeface="Cambria Math" panose="02040503050406030204" pitchFamily="18" charset="0"/>
                        <a:ea typeface="Cambria Math" panose="02040503050406030204" pitchFamily="18" charset="0"/>
                      </a:rPr>
                      <m:t>𝛽</m:t>
                    </m:r>
                    <m:r>
                      <a:rPr lang="en-US" b="0" i="1" baseline="-25000" smtClean="0">
                        <a:latin typeface="Cambria Math" panose="02040503050406030204" pitchFamily="18" charset="0"/>
                        <a:ea typeface="Cambria Math" panose="02040503050406030204" pitchFamily="18" charset="0"/>
                      </a:rPr>
                      <m:t>𝑖</m:t>
                    </m:r>
                  </m:oMath>
                </a14:m>
                <a:r>
                  <a:rPr lang="en-US" dirty="0"/>
                  <a:t> are accurate, and only the intercept </a:t>
                </a:r>
                <a14:m>
                  <m:oMath xmlns:m="http://schemas.openxmlformats.org/officeDocument/2006/math">
                    <m:r>
                      <a:rPr lang="en-US" i="1">
                        <a:latin typeface="Cambria Math" panose="02040503050406030204" pitchFamily="18" charset="0"/>
                        <a:ea typeface="Cambria Math" panose="02040503050406030204" pitchFamily="18" charset="0"/>
                      </a:rPr>
                      <m:t>𝛽</m:t>
                    </m:r>
                    <m:r>
                      <a:rPr lang="en-US" b="0" i="1" baseline="-25000" smtClean="0">
                        <a:latin typeface="Cambria Math" panose="02040503050406030204" pitchFamily="18" charset="0"/>
                        <a:ea typeface="Cambria Math" panose="02040503050406030204" pitchFamily="18" charset="0"/>
                      </a:rPr>
                      <m:t>0</m:t>
                    </m:r>
                  </m:oMath>
                </a14:m>
                <a:r>
                  <a:rPr lang="en-US" dirty="0"/>
                  <a:t> is not, which gets corrected by</a:t>
                </a:r>
              </a:p>
              <a:p>
                <a:pPr marL="457200" lvl="1" indent="0">
                  <a:buNone/>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𝛽</m:t>
                      </m:r>
                      <m:r>
                        <a:rPr lang="en-US" b="0" i="1" baseline="-25000" smtClean="0">
                          <a:latin typeface="Cambria Math" panose="02040503050406030204" pitchFamily="18" charset="0"/>
                          <a:ea typeface="Cambria Math" panose="02040503050406030204" pitchFamily="18" charset="0"/>
                        </a:rPr>
                        <m:t>0</m:t>
                      </m:r>
                      <m:r>
                        <a:rPr lang="en-US" b="0" i="1" baseline="30000"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𝛽</m:t>
                      </m:r>
                      <m:r>
                        <a:rPr lang="en-US" b="0" i="1" baseline="-25000" smtClean="0">
                          <a:latin typeface="Cambria Math" panose="02040503050406030204" pitchFamily="18" charset="0"/>
                          <a:ea typeface="Cambria Math" panose="02040503050406030204" pitchFamily="18" charset="0"/>
                        </a:rPr>
                        <m:t>0</m:t>
                      </m:r>
                      <m:r>
                        <a:rPr lang="en-US" b="0" i="1" smtClean="0">
                          <a:latin typeface="Cambria Math" panose="02040503050406030204" pitchFamily="18" charset="0"/>
                          <a:ea typeface="Cambria Math" panose="02040503050406030204" pitchFamily="18" charset="0"/>
                        </a:rPr>
                        <m:t>+</m:t>
                      </m:r>
                      <m:func>
                        <m:funcPr>
                          <m:ctrlPr>
                            <a:rPr lang="en-US" b="0" i="1" baseline="-25000" smtClean="0">
                              <a:latin typeface="Cambria Math" panose="02040503050406030204" pitchFamily="18" charset="0"/>
                              <a:ea typeface="Cambria Math" panose="02040503050406030204" pitchFamily="18" charset="0"/>
                            </a:rPr>
                          </m:ctrlPr>
                        </m:funcPr>
                        <m:fName>
                          <m:r>
                            <m:rPr>
                              <m:sty m:val="p"/>
                            </m:rPr>
                            <a:rPr lang="en-US" b="0" i="0" smtClean="0">
                              <a:latin typeface="Cambria Math" panose="02040503050406030204" pitchFamily="18" charset="0"/>
                              <a:ea typeface="Cambria Math" panose="02040503050406030204" pitchFamily="18" charset="0"/>
                            </a:rPr>
                            <m:t>log</m:t>
                          </m:r>
                        </m:fName>
                        <m:e>
                          <m:d>
                            <m:dPr>
                              <m:ctrlPr>
                                <a:rPr lang="en-US" b="0" i="1" smtClean="0">
                                  <a:latin typeface="Cambria Math" panose="02040503050406030204" pitchFamily="18" charset="0"/>
                                  <a:ea typeface="Cambria Math" panose="02040503050406030204" pitchFamily="18" charset="0"/>
                                </a:rPr>
                              </m:ctrlPr>
                            </m:dPr>
                            <m:e>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𝑝</m:t>
                                  </m:r>
                                  <m:r>
                                    <a:rPr lang="en-US" b="0" i="1" baseline="-25000" smtClean="0">
                                      <a:latin typeface="Cambria Math" panose="02040503050406030204" pitchFamily="18" charset="0"/>
                                      <a:ea typeface="Cambria Math" panose="02040503050406030204" pitchFamily="18" charset="0"/>
                                    </a:rPr>
                                    <m:t>𝑟𝑎𝑟𝑒</m:t>
                                  </m:r>
                                </m:num>
                                <m:den>
                                  <m:r>
                                    <a:rPr lang="en-US" b="0" i="1" smtClean="0">
                                      <a:latin typeface="Cambria Math" panose="02040503050406030204" pitchFamily="18" charset="0"/>
                                      <a:ea typeface="Cambria Math" panose="02040503050406030204" pitchFamily="18" charset="0"/>
                                    </a:rPr>
                                    <m:t>1−</m:t>
                                  </m:r>
                                  <m:r>
                                    <a:rPr lang="en-US" b="0" i="1" smtClean="0">
                                      <a:latin typeface="Cambria Math" panose="02040503050406030204" pitchFamily="18" charset="0"/>
                                      <a:ea typeface="Cambria Math" panose="02040503050406030204" pitchFamily="18" charset="0"/>
                                    </a:rPr>
                                    <m:t>𝑝𝑟𝑎𝑟𝑒</m:t>
                                  </m:r>
                                </m:den>
                              </m:f>
                            </m:e>
                          </m:d>
                        </m:e>
                      </m:func>
                      <m:r>
                        <a:rPr lang="en-US" b="0" i="1" smtClean="0">
                          <a:latin typeface="Cambria Math" panose="02040503050406030204" pitchFamily="18" charset="0"/>
                          <a:ea typeface="Cambria Math" panose="02040503050406030204" pitchFamily="18" charset="0"/>
                        </a:rPr>
                        <m:t>−</m:t>
                      </m:r>
                      <m:r>
                        <m:rPr>
                          <m:sty m:val="p"/>
                        </m:rPr>
                        <a:rPr lang="en-US" b="0" i="0" smtClean="0">
                          <a:latin typeface="Cambria Math" panose="02040503050406030204" pitchFamily="18" charset="0"/>
                          <a:ea typeface="Cambria Math" panose="02040503050406030204" pitchFamily="18" charset="0"/>
                        </a:rPr>
                        <m:t>log</m:t>
                      </m:r>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𝑝</m:t>
                          </m:r>
                          <m:r>
                            <a:rPr lang="en-US" b="0" i="1" baseline="-25000" smtClean="0">
                              <a:latin typeface="Cambria Math" panose="02040503050406030204" pitchFamily="18" charset="0"/>
                              <a:ea typeface="Cambria Math" panose="02040503050406030204" pitchFamily="18" charset="0"/>
                            </a:rPr>
                            <m:t>𝑠𝑒𝑡</m:t>
                          </m:r>
                        </m:num>
                        <m:den>
                          <m:r>
                            <a:rPr lang="en-US" b="0" i="1" smtClean="0">
                              <a:latin typeface="Cambria Math" panose="02040503050406030204" pitchFamily="18" charset="0"/>
                              <a:ea typeface="Cambria Math" panose="02040503050406030204" pitchFamily="18" charset="0"/>
                            </a:rPr>
                            <m:t>1−</m:t>
                          </m:r>
                          <m:r>
                            <a:rPr lang="en-US" b="0" i="1" smtClean="0">
                              <a:latin typeface="Cambria Math" panose="02040503050406030204" pitchFamily="18" charset="0"/>
                              <a:ea typeface="Cambria Math" panose="02040503050406030204" pitchFamily="18" charset="0"/>
                            </a:rPr>
                            <m:t>𝑝𝑠𝑒𝑡</m:t>
                          </m:r>
                        </m:den>
                      </m:f>
                      <m:r>
                        <a:rPr lang="en-US" b="0" i="1" smtClean="0">
                          <a:latin typeface="Cambria Math" panose="02040503050406030204" pitchFamily="18" charset="0"/>
                          <a:ea typeface="Cambria Math" panose="02040503050406030204" pitchFamily="18" charset="0"/>
                        </a:rPr>
                        <m:t>)</m:t>
                      </m:r>
                    </m:oMath>
                  </m:oMathPara>
                </a14:m>
                <a:endParaRPr lang="en-US" dirty="0"/>
              </a:p>
              <a:p>
                <a:r>
                  <a:rPr lang="en-US" dirty="0" err="1"/>
                  <a:t>P</a:t>
                </a:r>
                <a:r>
                  <a:rPr lang="en-US" baseline="-25000" dirty="0" err="1"/>
                  <a:t>rare</a:t>
                </a:r>
                <a:r>
                  <a:rPr lang="en-US" dirty="0"/>
                  <a:t>: actual probability of the rare event</a:t>
                </a:r>
              </a:p>
              <a:p>
                <a:r>
                  <a:rPr lang="en-US" dirty="0" err="1"/>
                  <a:t>P</a:t>
                </a:r>
                <a:r>
                  <a:rPr lang="en-US" baseline="-25000" dirty="0" err="1"/>
                  <a:t>set</a:t>
                </a:r>
                <a:r>
                  <a:rPr lang="en-US" dirty="0"/>
                  <a:t>: probability of the rare event in the training set</a:t>
                </a:r>
              </a:p>
            </p:txBody>
          </p:sp>
        </mc:Choice>
        <mc:Fallback xmlns="">
          <p:sp>
            <p:nvSpPr>
              <p:cNvPr id="2" name="Content Placeholder 1">
                <a:extLst>
                  <a:ext uri="{FF2B5EF4-FFF2-40B4-BE49-F238E27FC236}">
                    <a16:creationId xmlns:a16="http://schemas.microsoft.com/office/drawing/2014/main" id="{2C131A33-F1C8-F943-ABE4-7A7F28C4BFDA}"/>
                  </a:ext>
                </a:extLst>
              </p:cNvPr>
              <p:cNvSpPr>
                <a:spLocks noGrp="1" noRot="1" noChangeAspect="1" noMove="1" noResize="1" noEditPoints="1" noAdjustHandles="1" noChangeArrowheads="1" noChangeShapeType="1" noTextEdit="1"/>
              </p:cNvSpPr>
              <p:nvPr>
                <p:ph idx="1"/>
              </p:nvPr>
            </p:nvSpPr>
            <p:spPr>
              <a:blipFill>
                <a:blip r:embed="rId3"/>
                <a:stretch>
                  <a:fillRect l="-1389" t="-2801"/>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D0C0C975-6E98-E948-8B31-87AA87E1FD67}"/>
              </a:ext>
            </a:extLst>
          </p:cNvPr>
          <p:cNvSpPr>
            <a:spLocks noGrp="1"/>
          </p:cNvSpPr>
          <p:nvPr>
            <p:ph type="title"/>
          </p:nvPr>
        </p:nvSpPr>
        <p:spPr/>
        <p:txBody>
          <a:bodyPr>
            <a:normAutofit fontScale="90000"/>
          </a:bodyPr>
          <a:lstStyle/>
          <a:p>
            <a:r>
              <a:rPr lang="en-US" dirty="0"/>
              <a:t>Logistic Regression &amp; Case Control Sampling</a:t>
            </a:r>
          </a:p>
        </p:txBody>
      </p:sp>
    </p:spTree>
    <p:extLst>
      <p:ext uri="{BB962C8B-B14F-4D97-AF65-F5344CB8AC3E}">
        <p14:creationId xmlns:p14="http://schemas.microsoft.com/office/powerpoint/2010/main" val="2802052812"/>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Table&#10;&#10;Description automatically generated with medium confidence">
            <a:extLst>
              <a:ext uri="{FF2B5EF4-FFF2-40B4-BE49-F238E27FC236}">
                <a16:creationId xmlns:a16="http://schemas.microsoft.com/office/drawing/2014/main" id="{CBC2F3A9-2439-E441-8765-2458191C7010}"/>
              </a:ext>
            </a:extLst>
          </p:cNvPr>
          <p:cNvPicPr>
            <a:picLocks noChangeAspect="1"/>
          </p:cNvPicPr>
          <p:nvPr/>
        </p:nvPicPr>
        <p:blipFill>
          <a:blip r:embed="rId2"/>
          <a:stretch>
            <a:fillRect/>
          </a:stretch>
        </p:blipFill>
        <p:spPr>
          <a:xfrm>
            <a:off x="0" y="0"/>
            <a:ext cx="8318500" cy="5989318"/>
          </a:xfrm>
          <a:prstGeom prst="rect">
            <a:avLst/>
          </a:prstGeom>
          <a:noFill/>
        </p:spPr>
      </p:pic>
      <p:pic>
        <p:nvPicPr>
          <p:cNvPr id="4" name="Picture 3" descr="A picture containing chart&#10;&#10;Description automatically generated">
            <a:extLst>
              <a:ext uri="{FF2B5EF4-FFF2-40B4-BE49-F238E27FC236}">
                <a16:creationId xmlns:a16="http://schemas.microsoft.com/office/drawing/2014/main" id="{DD8D2938-977E-A841-82F1-82E39A7A0C38}"/>
              </a:ext>
            </a:extLst>
          </p:cNvPr>
          <p:cNvPicPr>
            <a:picLocks noChangeAspect="1"/>
          </p:cNvPicPr>
          <p:nvPr/>
        </p:nvPicPr>
        <p:blipFill>
          <a:blip r:embed="rId3"/>
          <a:stretch>
            <a:fillRect/>
          </a:stretch>
        </p:blipFill>
        <p:spPr>
          <a:xfrm>
            <a:off x="6304127" y="3106011"/>
            <a:ext cx="2046858" cy="3655106"/>
          </a:xfrm>
          <a:prstGeom prst="rect">
            <a:avLst/>
          </a:prstGeom>
          <a:noFill/>
        </p:spPr>
      </p:pic>
      <p:sp>
        <p:nvSpPr>
          <p:cNvPr id="5" name="TextBox 4">
            <a:extLst>
              <a:ext uri="{FF2B5EF4-FFF2-40B4-BE49-F238E27FC236}">
                <a16:creationId xmlns:a16="http://schemas.microsoft.com/office/drawing/2014/main" id="{874BD00A-5C0F-D64B-ADCD-8FA28A3C8153}"/>
              </a:ext>
            </a:extLst>
          </p:cNvPr>
          <p:cNvSpPr txBox="1"/>
          <p:nvPr/>
        </p:nvSpPr>
        <p:spPr>
          <a:xfrm>
            <a:off x="5051465" y="6356452"/>
            <a:ext cx="2276091" cy="404665"/>
          </a:xfrm>
          <a:prstGeom prst="rect">
            <a:avLst/>
          </a:prstGeom>
        </p:spPr>
        <p:txBody>
          <a:bodyPr vert="horz" wrap="none" lIns="91440" tIns="45720" rIns="91440" bIns="45720" rtlCol="0">
            <a:normAutofit/>
          </a:bodyPr>
          <a:lstStyle/>
          <a:p>
            <a:r>
              <a:rPr lang="en-US" sz="1400" dirty="0">
                <a:solidFill>
                  <a:prstClr val="black"/>
                </a:solidFill>
                <a:latin typeface="Source Sans Pro Light"/>
                <a:cs typeface="Source Sans Pro Light"/>
              </a:rPr>
              <a:t>Reference: Wikipedia</a:t>
            </a:r>
          </a:p>
        </p:txBody>
      </p:sp>
    </p:spTree>
    <p:extLst>
      <p:ext uri="{BB962C8B-B14F-4D97-AF65-F5344CB8AC3E}">
        <p14:creationId xmlns:p14="http://schemas.microsoft.com/office/powerpoint/2010/main" val="1925093871"/>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Graphical user interface, text, application, email&#10;&#10;Description automatically generated">
            <a:extLst>
              <a:ext uri="{FF2B5EF4-FFF2-40B4-BE49-F238E27FC236}">
                <a16:creationId xmlns:a16="http://schemas.microsoft.com/office/drawing/2014/main" id="{5ABC6F12-60E3-794C-812F-69237E586950}"/>
              </a:ext>
            </a:extLst>
          </p:cNvPr>
          <p:cNvPicPr>
            <a:picLocks noChangeAspect="1"/>
          </p:cNvPicPr>
          <p:nvPr/>
        </p:nvPicPr>
        <p:blipFill>
          <a:blip r:embed="rId2"/>
          <a:stretch>
            <a:fillRect/>
          </a:stretch>
        </p:blipFill>
        <p:spPr>
          <a:xfrm>
            <a:off x="735013" y="216139"/>
            <a:ext cx="8318500" cy="5968523"/>
          </a:xfrm>
          <a:prstGeom prst="rect">
            <a:avLst/>
          </a:prstGeom>
          <a:noFill/>
        </p:spPr>
      </p:pic>
    </p:spTree>
    <p:extLst>
      <p:ext uri="{BB962C8B-B14F-4D97-AF65-F5344CB8AC3E}">
        <p14:creationId xmlns:p14="http://schemas.microsoft.com/office/powerpoint/2010/main" val="2656995238"/>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Graphical user interface, text, application, email&#10;&#10;Description automatically generated">
            <a:extLst>
              <a:ext uri="{FF2B5EF4-FFF2-40B4-BE49-F238E27FC236}">
                <a16:creationId xmlns:a16="http://schemas.microsoft.com/office/drawing/2014/main" id="{DF0CB799-8E21-B942-9F9E-AB7C60A0DF57}"/>
              </a:ext>
            </a:extLst>
          </p:cNvPr>
          <p:cNvPicPr>
            <a:picLocks noChangeAspect="1"/>
          </p:cNvPicPr>
          <p:nvPr/>
        </p:nvPicPr>
        <p:blipFill>
          <a:blip r:embed="rId2"/>
          <a:stretch>
            <a:fillRect/>
          </a:stretch>
        </p:blipFill>
        <p:spPr>
          <a:xfrm>
            <a:off x="735013" y="236935"/>
            <a:ext cx="8318500" cy="5926930"/>
          </a:xfrm>
          <a:prstGeom prst="rect">
            <a:avLst/>
          </a:prstGeom>
          <a:noFill/>
        </p:spPr>
      </p:pic>
    </p:spTree>
    <p:extLst>
      <p:ext uri="{BB962C8B-B14F-4D97-AF65-F5344CB8AC3E}">
        <p14:creationId xmlns:p14="http://schemas.microsoft.com/office/powerpoint/2010/main" val="3927335358"/>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hart, line chart&#10;&#10;Description automatically generated">
            <a:extLst>
              <a:ext uri="{FF2B5EF4-FFF2-40B4-BE49-F238E27FC236}">
                <a16:creationId xmlns:a16="http://schemas.microsoft.com/office/drawing/2014/main" id="{65EBDE3A-DFB7-BD4B-89EF-DCB383F3B052}"/>
              </a:ext>
            </a:extLst>
          </p:cNvPr>
          <p:cNvPicPr>
            <a:picLocks noChangeAspect="1"/>
          </p:cNvPicPr>
          <p:nvPr/>
        </p:nvPicPr>
        <p:blipFill>
          <a:blip r:embed="rId2"/>
          <a:stretch>
            <a:fillRect/>
          </a:stretch>
        </p:blipFill>
        <p:spPr>
          <a:xfrm>
            <a:off x="330200" y="283936"/>
            <a:ext cx="8483600" cy="5854700"/>
          </a:xfrm>
          <a:prstGeom prst="rect">
            <a:avLst/>
          </a:prstGeom>
        </p:spPr>
      </p:pic>
    </p:spTree>
    <p:extLst>
      <p:ext uri="{BB962C8B-B14F-4D97-AF65-F5344CB8AC3E}">
        <p14:creationId xmlns:p14="http://schemas.microsoft.com/office/powerpoint/2010/main" val="3062593797"/>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CF69551-28F3-F741-88AD-29EC52230801}"/>
              </a:ext>
            </a:extLst>
          </p:cNvPr>
          <p:cNvSpPr>
            <a:spLocks noGrp="1"/>
          </p:cNvSpPr>
          <p:nvPr>
            <p:ph idx="1"/>
          </p:nvPr>
        </p:nvSpPr>
        <p:spPr/>
        <p:txBody>
          <a:bodyPr>
            <a:normAutofit fontScale="62500" lnSpcReduction="20000"/>
          </a:bodyPr>
          <a:lstStyle/>
          <a:p>
            <a:r>
              <a:rPr lang="en-US" dirty="0"/>
              <a:t>Logistic regression is easy to implement and interpret.</a:t>
            </a:r>
          </a:p>
          <a:p>
            <a:r>
              <a:rPr lang="en-US" dirty="0">
                <a:solidFill>
                  <a:srgbClr val="C00000"/>
                </a:solidFill>
              </a:rPr>
              <a:t>If number of observations is less than the number of features, it will overfit</a:t>
            </a:r>
          </a:p>
          <a:p>
            <a:r>
              <a:rPr lang="en-US" dirty="0"/>
              <a:t>No assumption on distribution of classes in feature space</a:t>
            </a:r>
          </a:p>
          <a:p>
            <a:r>
              <a:rPr lang="en-US" dirty="0">
                <a:solidFill>
                  <a:srgbClr val="C00000"/>
                </a:solidFill>
              </a:rPr>
              <a:t>The boundaries constructed are linear</a:t>
            </a:r>
          </a:p>
          <a:p>
            <a:r>
              <a:rPr lang="en-US" dirty="0"/>
              <a:t>Multinomial regression/multiple classes implementation and interpretation is easy</a:t>
            </a:r>
          </a:p>
          <a:p>
            <a:r>
              <a:rPr lang="en-US" dirty="0">
                <a:solidFill>
                  <a:srgbClr val="C00000"/>
                </a:solidFill>
              </a:rPr>
              <a:t>Assuming linear dependency of dependent and independent variables</a:t>
            </a:r>
          </a:p>
          <a:p>
            <a:r>
              <a:rPr lang="en-US" dirty="0"/>
              <a:t>Measures importance of each independent variable and also positive or negative correlation </a:t>
            </a:r>
          </a:p>
          <a:p>
            <a:r>
              <a:rPr lang="en-US" dirty="0">
                <a:solidFill>
                  <a:srgbClr val="C00000"/>
                </a:solidFill>
              </a:rPr>
              <a:t>Not appropriate for non-linear problems and complex relationships</a:t>
            </a:r>
          </a:p>
          <a:p>
            <a:r>
              <a:rPr lang="en-US" dirty="0"/>
              <a:t>Mostly doesn’t overfit</a:t>
            </a:r>
          </a:p>
          <a:p>
            <a:r>
              <a:rPr lang="en-US" dirty="0">
                <a:solidFill>
                  <a:srgbClr val="C00000"/>
                </a:solidFill>
              </a:rPr>
              <a:t>Extracts linear dependency of independent variables and log odd of dependent variable. </a:t>
            </a:r>
          </a:p>
          <a:p>
            <a:endParaRPr lang="en-US" dirty="0"/>
          </a:p>
        </p:txBody>
      </p:sp>
      <p:sp>
        <p:nvSpPr>
          <p:cNvPr id="3" name="Title 2">
            <a:extLst>
              <a:ext uri="{FF2B5EF4-FFF2-40B4-BE49-F238E27FC236}">
                <a16:creationId xmlns:a16="http://schemas.microsoft.com/office/drawing/2014/main" id="{4E62D021-C42C-1842-913C-BFB0BCCB5761}"/>
              </a:ext>
            </a:extLst>
          </p:cNvPr>
          <p:cNvSpPr>
            <a:spLocks noGrp="1"/>
          </p:cNvSpPr>
          <p:nvPr>
            <p:ph type="title"/>
          </p:nvPr>
        </p:nvSpPr>
        <p:spPr/>
        <p:txBody>
          <a:bodyPr/>
          <a:lstStyle/>
          <a:p>
            <a:r>
              <a:rPr lang="en-US" dirty="0"/>
              <a:t>Pros and Cons of Logistic Regression</a:t>
            </a:r>
          </a:p>
        </p:txBody>
      </p:sp>
    </p:spTree>
    <p:extLst>
      <p:ext uri="{BB962C8B-B14F-4D97-AF65-F5344CB8AC3E}">
        <p14:creationId xmlns:p14="http://schemas.microsoft.com/office/powerpoint/2010/main" val="1191372505"/>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F6C85D-3089-CB35-2B3E-3905FD6F2655}"/>
              </a:ext>
            </a:extLst>
          </p:cNvPr>
          <p:cNvSpPr>
            <a:spLocks noGrp="1"/>
          </p:cNvSpPr>
          <p:nvPr>
            <p:ph type="ctrTitle"/>
          </p:nvPr>
        </p:nvSpPr>
        <p:spPr/>
        <p:txBody>
          <a:bodyPr/>
          <a:lstStyle/>
          <a:p>
            <a:r>
              <a:rPr lang="en-US" dirty="0"/>
              <a:t>Polynomial and Piecewise Poly</a:t>
            </a:r>
          </a:p>
        </p:txBody>
      </p:sp>
      <p:sp>
        <p:nvSpPr>
          <p:cNvPr id="3" name="Subtitle 2">
            <a:extLst>
              <a:ext uri="{FF2B5EF4-FFF2-40B4-BE49-F238E27FC236}">
                <a16:creationId xmlns:a16="http://schemas.microsoft.com/office/drawing/2014/main" id="{8E65184C-6AE5-4A76-4BD0-EA71929E5EE8}"/>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429511982"/>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E8610379-F067-114F-82D2-C1D695AD062E}"/>
                  </a:ext>
                </a:extLst>
              </p:cNvPr>
              <p:cNvSpPr>
                <a:spLocks noGrp="1"/>
              </p:cNvSpPr>
              <p:nvPr>
                <p:ph idx="1"/>
              </p:nvPr>
            </p:nvSpPr>
            <p:spPr/>
            <p:txBody>
              <a:bodyPr>
                <a:normAutofit/>
              </a:bodyPr>
              <a:lstStyle/>
              <a:p>
                <a:r>
                  <a:rPr lang="en-US" dirty="0"/>
                  <a:t>Same as multi-linear regression, except higher degree of parameters also get included.</a:t>
                </a:r>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𝑓</m:t>
                      </m:r>
                      <m:d>
                        <m:dPr>
                          <m:ctrlPr>
                            <a:rPr lang="en-US" i="1">
                              <a:latin typeface="Cambria Math" panose="02040503050406030204" pitchFamily="18" charset="0"/>
                            </a:rPr>
                          </m:ctrlPr>
                        </m:dPr>
                        <m:e>
                          <m:r>
                            <a:rPr lang="en-US" i="1">
                              <a:latin typeface="Cambria Math" panose="02040503050406030204" pitchFamily="18" charset="0"/>
                            </a:rPr>
                            <m:t>𝑥</m:t>
                          </m:r>
                        </m:e>
                      </m:d>
                      <m:r>
                        <a:rPr lang="en-US" i="1">
                          <a:latin typeface="Cambria Math" panose="02040503050406030204" pitchFamily="18" charset="0"/>
                        </a:rPr>
                        <m:t>=</m:t>
                      </m:r>
                      <m:r>
                        <a:rPr lang="en-US" i="1">
                          <a:latin typeface="Cambria Math" panose="02040503050406030204" pitchFamily="18" charset="0"/>
                          <a:ea typeface="Cambria Math" panose="02040503050406030204" pitchFamily="18" charset="0"/>
                        </a:rPr>
                        <m:t>𝛽</m:t>
                      </m:r>
                      <m:r>
                        <a:rPr lang="en-US" i="1" baseline="-25000">
                          <a:latin typeface="Cambria Math" panose="02040503050406030204" pitchFamily="18" charset="0"/>
                          <a:ea typeface="Cambria Math" panose="02040503050406030204" pitchFamily="18" charset="0"/>
                        </a:rPr>
                        <m:t>0</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𝛽</m:t>
                      </m:r>
                      <m:r>
                        <a:rPr lang="en-US" i="1" baseline="-25000">
                          <a:latin typeface="Cambria Math" panose="02040503050406030204" pitchFamily="18" charset="0"/>
                          <a:ea typeface="Cambria Math" panose="02040503050406030204" pitchFamily="18" charset="0"/>
                        </a:rPr>
                        <m:t>1</m:t>
                      </m:r>
                      <m:r>
                        <a:rPr lang="en-US" i="1">
                          <a:latin typeface="Cambria Math" panose="02040503050406030204" pitchFamily="18" charset="0"/>
                          <a:ea typeface="Cambria Math" panose="02040503050406030204" pitchFamily="18" charset="0"/>
                        </a:rPr>
                        <m:t>𝑋</m:t>
                      </m:r>
                      <m:r>
                        <a:rPr lang="en-US" b="0" i="1" smtClean="0">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𝛽</m:t>
                      </m:r>
                      <m:r>
                        <a:rPr lang="en-US" b="0" i="1" baseline="-25000" smtClean="0">
                          <a:latin typeface="Cambria Math" panose="02040503050406030204" pitchFamily="18" charset="0"/>
                          <a:ea typeface="Cambria Math" panose="02040503050406030204" pitchFamily="18" charset="0"/>
                        </a:rPr>
                        <m:t>𝑛</m:t>
                      </m:r>
                      <m:r>
                        <a:rPr lang="en-US" i="1">
                          <a:latin typeface="Cambria Math" panose="02040503050406030204" pitchFamily="18" charset="0"/>
                          <a:ea typeface="Cambria Math" panose="02040503050406030204" pitchFamily="18" charset="0"/>
                        </a:rPr>
                        <m:t>𝑋</m:t>
                      </m:r>
                      <m:r>
                        <a:rPr lang="en-US" b="0" i="1" baseline="30000" smtClean="0">
                          <a:latin typeface="Cambria Math" panose="02040503050406030204" pitchFamily="18" charset="0"/>
                          <a:ea typeface="Cambria Math" panose="02040503050406030204" pitchFamily="18" charset="0"/>
                        </a:rPr>
                        <m:t>𝑛</m:t>
                      </m:r>
                    </m:oMath>
                  </m:oMathPara>
                </a14:m>
                <a:endParaRPr lang="en-US" dirty="0"/>
              </a:p>
              <a:p>
                <a:r>
                  <a:rPr lang="en-US" dirty="0"/>
                  <a:t>Since </a:t>
                </a:r>
                <a14:m>
                  <m:oMath xmlns:m="http://schemas.openxmlformats.org/officeDocument/2006/math">
                    <m:r>
                      <a:rPr lang="en-US" i="1">
                        <a:latin typeface="Cambria Math" panose="02040503050406030204" pitchFamily="18" charset="0"/>
                      </a:rPr>
                      <m:t>𝑓</m:t>
                    </m:r>
                    <m:d>
                      <m:dPr>
                        <m:ctrlPr>
                          <a:rPr lang="en-US" i="1">
                            <a:latin typeface="Cambria Math" panose="02040503050406030204" pitchFamily="18" charset="0"/>
                          </a:rPr>
                        </m:ctrlPr>
                      </m:dPr>
                      <m:e>
                        <m:r>
                          <a:rPr lang="en-US" i="1">
                            <a:latin typeface="Cambria Math" panose="02040503050406030204" pitchFamily="18" charset="0"/>
                          </a:rPr>
                          <m:t>𝑥</m:t>
                        </m:r>
                      </m:e>
                    </m:d>
                  </m:oMath>
                </a14:m>
                <a:r>
                  <a:rPr lang="en-US" dirty="0"/>
                  <a:t> is a linear combination of </a:t>
                </a:r>
                <a14:m>
                  <m:oMath xmlns:m="http://schemas.openxmlformats.org/officeDocument/2006/math">
                    <m:r>
                      <a:rPr lang="en-US" i="1">
                        <a:latin typeface="Cambria Math" panose="02040503050406030204" pitchFamily="18" charset="0"/>
                        <a:ea typeface="Cambria Math" panose="02040503050406030204" pitchFamily="18" charset="0"/>
                      </a:rPr>
                      <m:t>𝛽</m:t>
                    </m:r>
                  </m:oMath>
                </a14:m>
                <a:r>
                  <a:rPr lang="en-US" dirty="0"/>
                  <a:t> values, we can compute pointwise variance of the function – </a:t>
                </a:r>
                <a14:m>
                  <m:oMath xmlns:m="http://schemas.openxmlformats.org/officeDocument/2006/math">
                    <m:r>
                      <m:rPr>
                        <m:sty m:val="p"/>
                      </m:rPr>
                      <a:rPr lang="en-US" b="0" i="0" smtClean="0">
                        <a:latin typeface="Cambria Math" panose="02040503050406030204" pitchFamily="18" charset="0"/>
                      </a:rPr>
                      <m:t>Var</m:t>
                    </m:r>
                    <m:r>
                      <a:rPr lang="en-US" b="0" i="0" smtClean="0">
                        <a:latin typeface="Cambria Math" panose="02040503050406030204" pitchFamily="18" charset="0"/>
                      </a:rPr>
                      <m:t>[</m:t>
                    </m:r>
                    <m:r>
                      <a:rPr lang="en-US" i="1">
                        <a:latin typeface="Cambria Math" panose="02040503050406030204" pitchFamily="18" charset="0"/>
                      </a:rPr>
                      <m:t>𝑓</m:t>
                    </m:r>
                    <m:d>
                      <m:dPr>
                        <m:ctrlPr>
                          <a:rPr lang="en-US" i="1">
                            <a:latin typeface="Cambria Math" panose="02040503050406030204" pitchFamily="18" charset="0"/>
                          </a:rPr>
                        </m:ctrlPr>
                      </m:dPr>
                      <m:e>
                        <m:r>
                          <a:rPr lang="en-US" i="1">
                            <a:latin typeface="Cambria Math" panose="02040503050406030204" pitchFamily="18" charset="0"/>
                          </a:rPr>
                          <m:t>𝑥</m:t>
                        </m:r>
                        <m:r>
                          <a:rPr lang="en-US" b="0" i="1" baseline="-25000" smtClean="0">
                            <a:latin typeface="Cambria Math" panose="02040503050406030204" pitchFamily="18" charset="0"/>
                          </a:rPr>
                          <m:t>0</m:t>
                        </m:r>
                      </m:e>
                    </m:d>
                    <m:r>
                      <a:rPr lang="en-US" b="0" i="1" smtClean="0">
                        <a:latin typeface="Cambria Math" panose="02040503050406030204" pitchFamily="18" charset="0"/>
                      </a:rPr>
                      <m:t>]</m:t>
                    </m:r>
                  </m:oMath>
                </a14:m>
                <a:r>
                  <a:rPr lang="en-US" dirty="0"/>
                  <a:t> and also find confidence interval for prediction at point </a:t>
                </a:r>
                <a14:m>
                  <m:oMath xmlns:m="http://schemas.openxmlformats.org/officeDocument/2006/math">
                    <m:r>
                      <a:rPr lang="en-US" i="1">
                        <a:latin typeface="Cambria Math" panose="02040503050406030204" pitchFamily="18" charset="0"/>
                      </a:rPr>
                      <m:t>𝑥</m:t>
                    </m:r>
                    <m:r>
                      <a:rPr lang="en-US" i="1" baseline="-25000">
                        <a:latin typeface="Cambria Math" panose="02040503050406030204" pitchFamily="18" charset="0"/>
                      </a:rPr>
                      <m:t>0</m:t>
                    </m:r>
                  </m:oMath>
                </a14:m>
                <a:endParaRPr lang="en-US" dirty="0"/>
              </a:p>
              <a:p>
                <a:endParaRPr lang="en-US" dirty="0"/>
              </a:p>
            </p:txBody>
          </p:sp>
        </mc:Choice>
        <mc:Fallback xmlns="">
          <p:sp>
            <p:nvSpPr>
              <p:cNvPr id="2" name="Content Placeholder 1">
                <a:extLst>
                  <a:ext uri="{FF2B5EF4-FFF2-40B4-BE49-F238E27FC236}">
                    <a16:creationId xmlns:a16="http://schemas.microsoft.com/office/drawing/2014/main" id="{E8610379-F067-114F-82D2-C1D695AD062E}"/>
                  </a:ext>
                </a:extLst>
              </p:cNvPr>
              <p:cNvSpPr>
                <a:spLocks noGrp="1" noRot="1" noChangeAspect="1" noMove="1" noResize="1" noEditPoints="1" noAdjustHandles="1" noChangeArrowheads="1" noChangeShapeType="1" noTextEdit="1"/>
              </p:cNvSpPr>
              <p:nvPr>
                <p:ph idx="1"/>
              </p:nvPr>
            </p:nvSpPr>
            <p:spPr>
              <a:blipFill>
                <a:blip r:embed="rId2"/>
                <a:stretch>
                  <a:fillRect t="-1681" r="-2315"/>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79E7FF82-62C4-034C-8CEE-6536FDA2B374}"/>
              </a:ext>
            </a:extLst>
          </p:cNvPr>
          <p:cNvSpPr>
            <a:spLocks noGrp="1"/>
          </p:cNvSpPr>
          <p:nvPr>
            <p:ph type="title"/>
          </p:nvPr>
        </p:nvSpPr>
        <p:spPr/>
        <p:txBody>
          <a:bodyPr/>
          <a:lstStyle/>
          <a:p>
            <a:r>
              <a:rPr lang="en-US" dirty="0"/>
              <a:t>Polynomial Regression</a:t>
            </a:r>
          </a:p>
        </p:txBody>
      </p:sp>
    </p:spTree>
    <p:extLst>
      <p:ext uri="{BB962C8B-B14F-4D97-AF65-F5344CB8AC3E}">
        <p14:creationId xmlns:p14="http://schemas.microsoft.com/office/powerpoint/2010/main" val="1845257440"/>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441464A6-E3BE-1446-97CD-32DE87198EC7}"/>
                  </a:ext>
                </a:extLst>
              </p:cNvPr>
              <p:cNvSpPr>
                <a:spLocks noGrp="1"/>
              </p:cNvSpPr>
              <p:nvPr>
                <p:ph idx="1"/>
              </p:nvPr>
            </p:nvSpPr>
            <p:spPr/>
            <p:txBody>
              <a:bodyPr>
                <a:normAutofit fontScale="92500" lnSpcReduction="20000"/>
              </a:bodyPr>
              <a:lstStyle/>
              <a:p>
                <a:pPr algn="just">
                  <a:buFont typeface="Wingdings" charset="2"/>
                  <a:buChar char="Ø"/>
                </a:pPr>
                <a:r>
                  <a:rPr lang="en-US" dirty="0"/>
                  <a:t>The examples of test versus training MSE’s shows an important tradeoff of choosing a model.</a:t>
                </a:r>
              </a:p>
              <a:p>
                <a:pPr marL="0" indent="0" algn="just">
                  <a:buNone/>
                </a:pPr>
                <a:r>
                  <a:rPr lang="en-US" dirty="0"/>
                  <a:t>	</a:t>
                </a:r>
              </a:p>
              <a:p>
                <a:pPr marL="0" indent="0" algn="just">
                  <a:buNone/>
                </a:pPr>
                <a:r>
                  <a:rPr lang="en-US" dirty="0"/>
                  <a:t>					</a:t>
                </a:r>
                <a:r>
                  <a:rPr lang="en-US" sz="3600" b="1" dirty="0"/>
                  <a:t>Bias  vs  Variance</a:t>
                </a:r>
                <a:r>
                  <a:rPr lang="en-US" dirty="0"/>
                  <a:t> </a:t>
                </a:r>
              </a:p>
              <a:p>
                <a:pPr algn="just">
                  <a:buFont typeface="Wingdings" charset="2"/>
                  <a:buChar char="Ø"/>
                </a:pPr>
                <a:endParaRPr lang="en-US" dirty="0"/>
              </a:p>
              <a:p>
                <a:pPr lvl="1" algn="just">
                  <a:buFont typeface="Wingdings" charset="2"/>
                  <a:buChar char="Ø"/>
                </a:pPr>
                <a:r>
                  <a:rPr lang="en-US" dirty="0"/>
                  <a:t>Variance is variability of the model over different training set</a:t>
                </a:r>
              </a:p>
              <a:p>
                <a:pPr lvl="1" algn="just">
                  <a:buFont typeface="Wingdings" charset="2"/>
                  <a:buChar char="Ø"/>
                </a:pPr>
                <a:r>
                  <a:rPr lang="en-US" dirty="0"/>
                  <a:t>Bias is the expected difference between the model and actual value or </a:t>
                </a:r>
                <a14:m>
                  <m:oMath xmlns:m="http://schemas.openxmlformats.org/officeDocument/2006/math">
                    <m:r>
                      <a:rPr lang="en-US" b="0" i="1" smtClean="0">
                        <a:latin typeface="Cambria Math" panose="02040503050406030204" pitchFamily="18" charset="0"/>
                      </a:rPr>
                      <m:t>𝐸</m:t>
                    </m:r>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𝑓</m:t>
                        </m:r>
                      </m:e>
                    </m:acc>
                    <m:r>
                      <a:rPr lang="en-US" b="0" i="1" smtClean="0">
                        <a:latin typeface="Cambria Math" panose="02040503050406030204" pitchFamily="18" charset="0"/>
                      </a:rPr>
                      <m:t>(</m:t>
                    </m:r>
                    <m:r>
                      <a:rPr lang="en-US" b="0" i="1" smtClean="0">
                        <a:latin typeface="Cambria Math" panose="02040503050406030204" pitchFamily="18" charset="0"/>
                      </a:rPr>
                      <m:t>𝑥</m:t>
                    </m:r>
                    <m:r>
                      <a:rPr lang="en-US" b="0" i="1" baseline="-25000" smtClean="0">
                        <a:latin typeface="Cambria Math" panose="02040503050406030204" pitchFamily="18" charset="0"/>
                      </a:rPr>
                      <m:t>0</m:t>
                    </m:r>
                    <m:r>
                      <a:rPr lang="en-US" b="0" i="1" smtClean="0">
                        <a:latin typeface="Cambria Math" panose="02040503050406030204" pitchFamily="18" charset="0"/>
                      </a:rPr>
                      <m:t>)]−</m:t>
                    </m:r>
                    <m:r>
                      <a:rPr lang="en-US" b="0" i="1" smtClean="0">
                        <a:latin typeface="Cambria Math" panose="02040503050406030204" pitchFamily="18" charset="0"/>
                      </a:rPr>
                      <m:t>𝑓</m:t>
                    </m:r>
                    <m:r>
                      <a:rPr lang="en-US" b="0" i="1" smtClean="0">
                        <a:latin typeface="Cambria Math" panose="02040503050406030204" pitchFamily="18" charset="0"/>
                      </a:rPr>
                      <m:t>(</m:t>
                    </m:r>
                    <m:r>
                      <a:rPr lang="en-US" b="0" i="1" smtClean="0">
                        <a:latin typeface="Cambria Math" panose="02040503050406030204" pitchFamily="18" charset="0"/>
                      </a:rPr>
                      <m:t>𝑥</m:t>
                    </m:r>
                    <m:r>
                      <a:rPr lang="en-US" b="0" i="1" baseline="-25000" smtClean="0">
                        <a:latin typeface="Cambria Math" panose="02040503050406030204" pitchFamily="18" charset="0"/>
                      </a:rPr>
                      <m:t>0</m:t>
                    </m:r>
                    <m:r>
                      <a:rPr lang="en-US" b="0" i="1" smtClean="0">
                        <a:latin typeface="Cambria Math" panose="02040503050406030204" pitchFamily="18" charset="0"/>
                      </a:rPr>
                      <m:t>)</m:t>
                    </m:r>
                  </m:oMath>
                </a14:m>
                <a:endParaRPr lang="en-US" dirty="0"/>
              </a:p>
              <a:p>
                <a:pPr algn="just">
                  <a:buFont typeface="Wingdings" charset="2"/>
                  <a:buChar char="Ø"/>
                </a:pPr>
                <a:r>
                  <a:rPr lang="en-US" dirty="0"/>
                  <a:t>These are two competing choices</a:t>
                </a:r>
              </a:p>
            </p:txBody>
          </p:sp>
        </mc:Choice>
        <mc:Fallback xmlns="">
          <p:sp>
            <p:nvSpPr>
              <p:cNvPr id="2" name="Content Placeholder 1">
                <a:extLst>
                  <a:ext uri="{FF2B5EF4-FFF2-40B4-BE49-F238E27FC236}">
                    <a16:creationId xmlns:a16="http://schemas.microsoft.com/office/drawing/2014/main" id="{441464A6-E3BE-1446-97CD-32DE87198EC7}"/>
                  </a:ext>
                </a:extLst>
              </p:cNvPr>
              <p:cNvSpPr>
                <a:spLocks noGrp="1" noRot="1" noChangeAspect="1" noMove="1" noResize="1" noEditPoints="1" noAdjustHandles="1" noChangeArrowheads="1" noChangeShapeType="1" noTextEdit="1"/>
              </p:cNvSpPr>
              <p:nvPr>
                <p:ph idx="1"/>
              </p:nvPr>
            </p:nvSpPr>
            <p:spPr>
              <a:blipFill>
                <a:blip r:embed="rId2"/>
                <a:stretch>
                  <a:fillRect l="-926" t="-3361" r="-1852"/>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7DEA04F7-680C-4E4F-A9AE-35B3467ABDB7}"/>
              </a:ext>
            </a:extLst>
          </p:cNvPr>
          <p:cNvSpPr>
            <a:spLocks noGrp="1"/>
          </p:cNvSpPr>
          <p:nvPr>
            <p:ph type="title"/>
          </p:nvPr>
        </p:nvSpPr>
        <p:spPr/>
        <p:txBody>
          <a:bodyPr/>
          <a:lstStyle/>
          <a:p>
            <a:r>
              <a:rPr lang="en-US" b="1" dirty="0">
                <a:solidFill>
                  <a:schemeClr val="tx1"/>
                </a:solidFill>
              </a:rPr>
              <a:t>Bias-Variance Trade-off </a:t>
            </a:r>
          </a:p>
        </p:txBody>
      </p:sp>
    </p:spTree>
    <p:extLst>
      <p:ext uri="{BB962C8B-B14F-4D97-AF65-F5344CB8AC3E}">
        <p14:creationId xmlns:p14="http://schemas.microsoft.com/office/powerpoint/2010/main" val="2445575115"/>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8A64E526-2F49-D04E-B6E6-7378F8C93D8B}"/>
                  </a:ext>
                </a:extLst>
              </p:cNvPr>
              <p:cNvSpPr>
                <a:spLocks noGrp="1"/>
              </p:cNvSpPr>
              <p:nvPr>
                <p:ph idx="1"/>
              </p:nvPr>
            </p:nvSpPr>
            <p:spPr>
              <a:xfrm>
                <a:off x="457200" y="783772"/>
                <a:ext cx="8229600" cy="5342392"/>
              </a:xfrm>
            </p:spPr>
            <p:txBody>
              <a:bodyPr>
                <a:normAutofit fontScale="85000" lnSpcReduction="20000"/>
              </a:bodyPr>
              <a:lstStyle/>
              <a:p>
                <a:r>
                  <a:rPr lang="en-US" dirty="0"/>
                  <a:t>Suppose a model </a:t>
                </a:r>
                <a14:m>
                  <m:oMath xmlns:m="http://schemas.openxmlformats.org/officeDocument/2006/math">
                    <m:acc>
                      <m:accPr>
                        <m:chr m:val="̂"/>
                        <m:ctrlPr>
                          <a:rPr lang="en-US" i="1" dirty="0" smtClean="0">
                            <a:latin typeface="Cambria Math" panose="02040503050406030204" pitchFamily="18" charset="0"/>
                          </a:rPr>
                        </m:ctrlPr>
                      </m:accPr>
                      <m:e>
                        <m:r>
                          <a:rPr lang="en-US" b="0" i="1" dirty="0" smtClean="0">
                            <a:latin typeface="Cambria Math" panose="02040503050406030204" pitchFamily="18" charset="0"/>
                          </a:rPr>
                          <m:t>𝑓</m:t>
                        </m:r>
                      </m:e>
                    </m:acc>
                    <m:r>
                      <a:rPr lang="en-US" b="0" i="1" dirty="0" smtClean="0">
                        <a:latin typeface="Cambria Math" panose="02040503050406030204" pitchFamily="18" charset="0"/>
                      </a:rPr>
                      <m:t>(</m:t>
                    </m:r>
                    <m:r>
                      <a:rPr lang="en-US" b="0" i="1" dirty="0" smtClean="0">
                        <a:latin typeface="Cambria Math" panose="02040503050406030204" pitchFamily="18" charset="0"/>
                      </a:rPr>
                      <m:t>𝑥</m:t>
                    </m:r>
                    <m:r>
                      <a:rPr lang="en-US" b="0" i="1" dirty="0" smtClean="0">
                        <a:latin typeface="Cambria Math" panose="02040503050406030204" pitchFamily="18" charset="0"/>
                      </a:rPr>
                      <m:t>)</m:t>
                    </m:r>
                  </m:oMath>
                </a14:m>
                <a:r>
                  <a:rPr lang="en-US" dirty="0"/>
                  <a:t> is fit to a training data, and let </a:t>
                </a:r>
                <a:r>
                  <a:rPr lang="en-US" b="1" i="1" dirty="0"/>
                  <a:t>(x</a:t>
                </a:r>
                <a:r>
                  <a:rPr lang="en-US" b="1" i="1" baseline="-25000" dirty="0"/>
                  <a:t>0</a:t>
                </a:r>
                <a:r>
                  <a:rPr lang="en-US" b="1" i="1" dirty="0"/>
                  <a:t>,y</a:t>
                </a:r>
                <a:r>
                  <a:rPr lang="en-US" b="1" i="1" baseline="-25000" dirty="0"/>
                  <a:t>0</a:t>
                </a:r>
                <a:r>
                  <a:rPr lang="en-US" b="1" i="1" dirty="0"/>
                  <a:t>)</a:t>
                </a:r>
                <a:r>
                  <a:rPr lang="en-US" dirty="0"/>
                  <a:t> be a test observation point.</a:t>
                </a:r>
              </a:p>
              <a:p>
                <a:r>
                  <a:rPr lang="en-US" dirty="0"/>
                  <a:t>If the true model is </a:t>
                </a:r>
                <a14:m>
                  <m:oMath xmlns:m="http://schemas.openxmlformats.org/officeDocument/2006/math">
                    <m:r>
                      <a:rPr lang="en-US" b="0" i="1" smtClean="0">
                        <a:latin typeface="Cambria Math" panose="02040503050406030204" pitchFamily="18" charset="0"/>
                      </a:rPr>
                      <m:t>𝑦</m:t>
                    </m:r>
                    <m:r>
                      <a:rPr lang="en-US" b="0" i="1" smtClean="0">
                        <a:latin typeface="Cambria Math" panose="02040503050406030204" pitchFamily="18" charset="0"/>
                      </a:rPr>
                      <m:t>=</m:t>
                    </m:r>
                    <m:r>
                      <a:rPr lang="en-US" b="0" i="1" smtClean="0">
                        <a:latin typeface="Cambria Math" panose="02040503050406030204" pitchFamily="18" charset="0"/>
                      </a:rPr>
                      <m:t>𝑓</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𝜀</m:t>
                    </m:r>
                    <m:r>
                      <a:rPr lang="en-US" b="0" i="0" smtClean="0">
                        <a:latin typeface="Cambria Math" panose="02040503050406030204" pitchFamily="18" charset="0"/>
                        <a:ea typeface="Cambria Math" panose="02040503050406030204" pitchFamily="18" charset="0"/>
                      </a:rPr>
                      <m:t> </m:t>
                    </m:r>
                  </m:oMath>
                </a14:m>
                <a:r>
                  <a:rPr lang="en-US" dirty="0"/>
                  <a:t>with </a:t>
                </a:r>
                <a:endParaRPr lang="en-US"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𝑓</m:t>
                      </m:r>
                      <m:d>
                        <m:dPr>
                          <m:ctrlPr>
                            <a:rPr lang="en-US" i="1">
                              <a:latin typeface="Cambria Math" panose="02040503050406030204" pitchFamily="18" charset="0"/>
                            </a:rPr>
                          </m:ctrlPr>
                        </m:dPr>
                        <m:e>
                          <m:r>
                            <a:rPr lang="en-US" i="1">
                              <a:latin typeface="Cambria Math" panose="02040503050406030204" pitchFamily="18" charset="0"/>
                            </a:rPr>
                            <m:t>𝑥</m:t>
                          </m:r>
                        </m:e>
                      </m:d>
                      <m:r>
                        <a:rPr lang="en-US" b="0" i="1" smtClean="0">
                          <a:latin typeface="Cambria Math" panose="02040503050406030204" pitchFamily="18" charset="0"/>
                        </a:rPr>
                        <m:t>=</m:t>
                      </m:r>
                      <m:r>
                        <a:rPr lang="en-US" b="0" i="1" smtClean="0">
                          <a:latin typeface="Cambria Math" panose="02040503050406030204" pitchFamily="18" charset="0"/>
                        </a:rPr>
                        <m:t>𝐸</m:t>
                      </m:r>
                      <m:r>
                        <a:rPr lang="en-US" b="0" i="1" smtClean="0">
                          <a:latin typeface="Cambria Math" panose="02040503050406030204" pitchFamily="18" charset="0"/>
                        </a:rPr>
                        <m:t>[</m:t>
                      </m:r>
                      <m:r>
                        <a:rPr lang="en-US" b="0" i="1" smtClean="0">
                          <a:latin typeface="Cambria Math" panose="02040503050406030204" pitchFamily="18" charset="0"/>
                        </a:rPr>
                        <m:t>𝑌</m:t>
                      </m:r>
                      <m:r>
                        <a:rPr lang="en-US" b="0" i="1" smtClean="0">
                          <a:latin typeface="Cambria Math" panose="02040503050406030204" pitchFamily="18" charset="0"/>
                        </a:rPr>
                        <m:t>|</m:t>
                      </m:r>
                      <m:r>
                        <a:rPr lang="en-US" b="0" i="1" smtClean="0">
                          <a:latin typeface="Cambria Math" panose="02040503050406030204" pitchFamily="18" charset="0"/>
                        </a:rPr>
                        <m:t>𝑋</m:t>
                      </m:r>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oMath>
                  </m:oMathPara>
                </a14:m>
                <a:endParaRPr lang="en-US" dirty="0"/>
              </a:p>
              <a:p>
                <a:r>
                  <a:rPr lang="en-US" dirty="0"/>
                  <a:t>Then the expected MSE is</a:t>
                </a:r>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𝐸</m:t>
                      </m:r>
                      <m:d>
                        <m:dPr>
                          <m:begChr m:val="["/>
                          <m:endChr m:val="]"/>
                          <m:ctrlPr>
                            <a:rPr lang="en-US" i="1">
                              <a:latin typeface="Cambria Math" panose="02040503050406030204" pitchFamily="18" charset="0"/>
                            </a:rPr>
                          </m:ctrlPr>
                        </m:dPr>
                        <m:e>
                          <m:d>
                            <m:dPr>
                              <m:ctrlPr>
                                <a:rPr lang="en-US" i="1">
                                  <a:latin typeface="Cambria Math" panose="02040503050406030204" pitchFamily="18" charset="0"/>
                                </a:rPr>
                              </m:ctrlPr>
                            </m:dPr>
                            <m:e>
                              <m:r>
                                <a:rPr lang="en-US" i="1">
                                  <a:latin typeface="Cambria Math" panose="02040503050406030204" pitchFamily="18" charset="0"/>
                                </a:rPr>
                                <m:t>𝑦</m:t>
                              </m:r>
                              <m:r>
                                <a:rPr lang="en-US" i="1" baseline="-25000">
                                  <a:latin typeface="Cambria Math" panose="02040503050406030204" pitchFamily="18" charset="0"/>
                                </a:rPr>
                                <m:t>0</m:t>
                              </m:r>
                              <m:r>
                                <a:rPr lang="en-US" i="1">
                                  <a:latin typeface="Cambria Math" panose="02040503050406030204" pitchFamily="18" charset="0"/>
                                </a:rPr>
                                <m:t>−</m:t>
                              </m:r>
                              <m:r>
                                <a:rPr lang="en-US" i="1">
                                  <a:latin typeface="Cambria Math" panose="02040503050406030204" pitchFamily="18" charset="0"/>
                                </a:rPr>
                                <m:t>𝑓</m:t>
                              </m:r>
                              <m:d>
                                <m:dPr>
                                  <m:ctrlPr>
                                    <a:rPr lang="en-US" i="1">
                                      <a:latin typeface="Cambria Math" panose="02040503050406030204" pitchFamily="18" charset="0"/>
                                    </a:rPr>
                                  </m:ctrlPr>
                                </m:dPr>
                                <m:e>
                                  <m:r>
                                    <a:rPr lang="en-US" i="1">
                                      <a:latin typeface="Cambria Math" panose="02040503050406030204" pitchFamily="18" charset="0"/>
                                    </a:rPr>
                                    <m:t>𝑥</m:t>
                                  </m:r>
                                  <m:r>
                                    <a:rPr lang="en-US" i="1" baseline="-25000">
                                      <a:latin typeface="Cambria Math" panose="02040503050406030204" pitchFamily="18" charset="0"/>
                                    </a:rPr>
                                    <m:t>0</m:t>
                                  </m:r>
                                </m:e>
                              </m:d>
                            </m:e>
                          </m:d>
                          <m:r>
                            <a:rPr lang="en-US" i="1" baseline="30000">
                              <a:latin typeface="Cambria Math" panose="02040503050406030204" pitchFamily="18" charset="0"/>
                            </a:rPr>
                            <m:t>2</m:t>
                          </m:r>
                        </m:e>
                      </m:d>
                      <m:r>
                        <a:rPr lang="en-US" i="1">
                          <a:latin typeface="Cambria Math" panose="02040503050406030204" pitchFamily="18" charset="0"/>
                        </a:rPr>
                        <m:t>=</m:t>
                      </m:r>
                      <m:r>
                        <a:rPr lang="en-US" i="1">
                          <a:latin typeface="Cambria Math" panose="02040503050406030204" pitchFamily="18" charset="0"/>
                        </a:rPr>
                        <m:t>𝑏𝑖𝑎𝑠</m:t>
                      </m:r>
                      <m:r>
                        <a:rPr lang="en-US" i="1" baseline="30000">
                          <a:latin typeface="Cambria Math" panose="02040503050406030204" pitchFamily="18" charset="0"/>
                        </a:rPr>
                        <m:t>2</m:t>
                      </m:r>
                      <m:r>
                        <a:rPr lang="en-US" i="1">
                          <a:latin typeface="Cambria Math" panose="02040503050406030204" pitchFamily="18" charset="0"/>
                        </a:rPr>
                        <m:t>+</m:t>
                      </m:r>
                      <m:r>
                        <a:rPr lang="en-US" i="1">
                          <a:latin typeface="Cambria Math" panose="02040503050406030204" pitchFamily="18" charset="0"/>
                        </a:rPr>
                        <m:t>𝑣𝑎𝑟</m:t>
                      </m:r>
                      <m:d>
                        <m:dPr>
                          <m:begChr m:val="["/>
                          <m:endChr m:val="]"/>
                          <m:ctrlPr>
                            <a:rPr lang="en-US" i="1">
                              <a:latin typeface="Cambria Math" panose="02040503050406030204" pitchFamily="18" charset="0"/>
                            </a:rPr>
                          </m:ctrlPr>
                        </m:dPr>
                        <m:e>
                          <m:acc>
                            <m:accPr>
                              <m:chr m:val="̂"/>
                              <m:ctrlPr>
                                <a:rPr lang="en-US" i="1">
                                  <a:latin typeface="Cambria Math" panose="02040503050406030204" pitchFamily="18" charset="0"/>
                                </a:rPr>
                              </m:ctrlPr>
                            </m:accPr>
                            <m:e>
                              <m:r>
                                <a:rPr lang="en-US" i="1">
                                  <a:latin typeface="Cambria Math" panose="02040503050406030204" pitchFamily="18" charset="0"/>
                                </a:rPr>
                                <m:t>𝑓</m:t>
                              </m:r>
                            </m:e>
                          </m:acc>
                          <m:d>
                            <m:dPr>
                              <m:ctrlPr>
                                <a:rPr lang="en-US" i="1">
                                  <a:latin typeface="Cambria Math" panose="02040503050406030204" pitchFamily="18" charset="0"/>
                                </a:rPr>
                              </m:ctrlPr>
                            </m:dPr>
                            <m:e>
                              <m:r>
                                <a:rPr lang="en-US" i="1">
                                  <a:latin typeface="Cambria Math" panose="02040503050406030204" pitchFamily="18" charset="0"/>
                                </a:rPr>
                                <m:t>𝑥</m:t>
                              </m:r>
                              <m:r>
                                <a:rPr lang="en-US" i="1" baseline="-25000">
                                  <a:latin typeface="Cambria Math" panose="02040503050406030204" pitchFamily="18" charset="0"/>
                                </a:rPr>
                                <m:t>0</m:t>
                              </m:r>
                            </m:e>
                          </m:d>
                        </m:e>
                      </m:d>
                      <m:r>
                        <a:rPr lang="en-US" i="1">
                          <a:latin typeface="Cambria Math" panose="02040503050406030204" pitchFamily="18" charset="0"/>
                        </a:rPr>
                        <m:t>+</m:t>
                      </m:r>
                      <m:r>
                        <a:rPr lang="en-US" i="1">
                          <a:latin typeface="Cambria Math" panose="02040503050406030204" pitchFamily="18" charset="0"/>
                        </a:rPr>
                        <m:t>𝑣𝑎𝑟</m:t>
                      </m:r>
                      <m:r>
                        <a:rPr lang="en-US" i="1">
                          <a:latin typeface="Cambria Math" panose="02040503050406030204" pitchFamily="18" charset="0"/>
                        </a:rPr>
                        <m:t>(</m:t>
                      </m:r>
                      <m:r>
                        <a:rPr lang="en-US" i="1">
                          <a:latin typeface="Cambria Math" panose="02040503050406030204" pitchFamily="18" charset="0"/>
                        </a:rPr>
                        <m:t>𝑛𝑜𝑖𝑠𝑒</m:t>
                      </m:r>
                      <m:r>
                        <a:rPr lang="en-US" i="1">
                          <a:latin typeface="Cambria Math" panose="02040503050406030204" pitchFamily="18" charset="0"/>
                        </a:rPr>
                        <m:t>)</m:t>
                      </m:r>
                    </m:oMath>
                  </m:oMathPara>
                </a14:m>
                <a:endParaRPr lang="en-US" dirty="0"/>
              </a:p>
              <a:p>
                <a:endParaRPr lang="en-US" dirty="0"/>
              </a:p>
              <a:p>
                <a:r>
                  <a:rPr lang="en-US" dirty="0"/>
                  <a:t>Where </a:t>
                </a:r>
                <a:br>
                  <a:rPr lang="en-US" dirty="0"/>
                </a:br>
                <a14:m>
                  <m:oMath xmlns:m="http://schemas.openxmlformats.org/officeDocument/2006/math">
                    <m:r>
                      <a:rPr lang="en-US" b="0" i="1" smtClean="0">
                        <a:latin typeface="Cambria Math" panose="02040503050406030204" pitchFamily="18" charset="0"/>
                      </a:rPr>
                      <m:t>𝑏𝑖𝑎𝑠</m:t>
                    </m:r>
                    <m:r>
                      <a:rPr lang="en-US" b="0" i="1" smtClean="0">
                        <a:latin typeface="Cambria Math" panose="02040503050406030204" pitchFamily="18" charset="0"/>
                      </a:rPr>
                      <m:t> =</m:t>
                    </m:r>
                    <m:r>
                      <a:rPr lang="en-US" b="0" i="1" smtClean="0">
                        <a:latin typeface="Cambria Math" panose="02040503050406030204" pitchFamily="18" charset="0"/>
                      </a:rPr>
                      <m:t>𝐸</m:t>
                    </m:r>
                    <m:d>
                      <m:dPr>
                        <m:begChr m:val="["/>
                        <m:endChr m:val="]"/>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𝑓</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baseline="-25000" smtClean="0">
                                <a:latin typeface="Cambria Math" panose="02040503050406030204" pitchFamily="18" charset="0"/>
                              </a:rPr>
                              <m:t>0</m:t>
                            </m:r>
                          </m:e>
                        </m:d>
                        <m:r>
                          <a:rPr lang="en-US" b="0" i="1" smtClean="0">
                            <a:latin typeface="Cambria Math" panose="02040503050406030204" pitchFamily="18" charset="0"/>
                          </a:rPr>
                          <m:t>−</m:t>
                        </m:r>
                        <m:r>
                          <a:rPr lang="en-US" b="0" i="1" smtClean="0">
                            <a:latin typeface="Cambria Math" panose="02040503050406030204" pitchFamily="18" charset="0"/>
                          </a:rPr>
                          <m:t>𝑓</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baseline="-25000" smtClean="0">
                                <a:latin typeface="Cambria Math" panose="02040503050406030204" pitchFamily="18" charset="0"/>
                              </a:rPr>
                              <m:t>0</m:t>
                            </m:r>
                          </m:e>
                        </m:d>
                      </m:e>
                    </m:d>
                    <m:r>
                      <a:rPr lang="en-US" i="1">
                        <a:latin typeface="Cambria Math" panose="02040503050406030204" pitchFamily="18" charset="0"/>
                      </a:rPr>
                      <m:t>=</m:t>
                    </m:r>
                    <m:r>
                      <a:rPr lang="en-US" i="1">
                        <a:latin typeface="Cambria Math" panose="02040503050406030204" pitchFamily="18" charset="0"/>
                      </a:rPr>
                      <m:t>𝐸</m:t>
                    </m:r>
                    <m:d>
                      <m:dPr>
                        <m:begChr m:val="["/>
                        <m:endChr m:val="]"/>
                        <m:ctrlPr>
                          <a:rPr lang="en-US" i="1" smtClean="0">
                            <a:latin typeface="Cambria Math" panose="02040503050406030204" pitchFamily="18" charset="0"/>
                          </a:rPr>
                        </m:ctrlPr>
                      </m:dPr>
                      <m:e>
                        <m:acc>
                          <m:accPr>
                            <m:chr m:val="̂"/>
                            <m:ctrlPr>
                              <a:rPr lang="en-US" i="1">
                                <a:latin typeface="Cambria Math" panose="02040503050406030204" pitchFamily="18" charset="0"/>
                              </a:rPr>
                            </m:ctrlPr>
                          </m:accPr>
                          <m:e>
                            <m:r>
                              <a:rPr lang="en-US" i="1">
                                <a:latin typeface="Cambria Math" panose="02040503050406030204" pitchFamily="18" charset="0"/>
                              </a:rPr>
                              <m:t>𝑓</m:t>
                            </m:r>
                          </m:e>
                        </m:acc>
                        <m:d>
                          <m:dPr>
                            <m:ctrlPr>
                              <a:rPr lang="en-US" i="1">
                                <a:latin typeface="Cambria Math" panose="02040503050406030204" pitchFamily="18" charset="0"/>
                              </a:rPr>
                            </m:ctrlPr>
                          </m:dPr>
                          <m:e>
                            <m:r>
                              <a:rPr lang="en-US" i="1">
                                <a:latin typeface="Cambria Math" panose="02040503050406030204" pitchFamily="18" charset="0"/>
                              </a:rPr>
                              <m:t>𝑥</m:t>
                            </m:r>
                            <m:r>
                              <a:rPr lang="en-US" i="1" baseline="-25000">
                                <a:latin typeface="Cambria Math" panose="02040503050406030204" pitchFamily="18" charset="0"/>
                              </a:rPr>
                              <m:t>0</m:t>
                            </m:r>
                          </m:e>
                        </m:d>
                      </m:e>
                    </m:d>
                    <m:r>
                      <a:rPr lang="en-US" i="1">
                        <a:latin typeface="Cambria Math" panose="02040503050406030204" pitchFamily="18" charset="0"/>
                      </a:rPr>
                      <m:t>−</m:t>
                    </m:r>
                    <m:r>
                      <a:rPr lang="en-US" i="1">
                        <a:latin typeface="Cambria Math" panose="02040503050406030204" pitchFamily="18" charset="0"/>
                      </a:rPr>
                      <m:t>𝑓</m:t>
                    </m:r>
                    <m:d>
                      <m:dPr>
                        <m:ctrlPr>
                          <a:rPr lang="en-US" i="1">
                            <a:latin typeface="Cambria Math" panose="02040503050406030204" pitchFamily="18" charset="0"/>
                          </a:rPr>
                        </m:ctrlPr>
                      </m:dPr>
                      <m:e>
                        <m:r>
                          <a:rPr lang="en-US" i="1">
                            <a:latin typeface="Cambria Math" panose="02040503050406030204" pitchFamily="18" charset="0"/>
                          </a:rPr>
                          <m:t>𝑥</m:t>
                        </m:r>
                        <m:r>
                          <a:rPr lang="en-US" i="1" baseline="-25000">
                            <a:latin typeface="Cambria Math" panose="02040503050406030204" pitchFamily="18" charset="0"/>
                          </a:rPr>
                          <m:t>0</m:t>
                        </m:r>
                      </m:e>
                    </m:d>
                  </m:oMath>
                </a14:m>
                <a:endParaRPr lang="en-US" dirty="0"/>
              </a:p>
              <a:p>
                <a:pPr marL="0" indent="0">
                  <a:buNone/>
                </a:pPr>
                <a:r>
                  <a:rPr lang="en-US" dirty="0"/>
                  <a:t>		</a:t>
                </a:r>
                <a14:m>
                  <m:oMath xmlns:m="http://schemas.openxmlformats.org/officeDocument/2006/math">
                    <m:r>
                      <a:rPr lang="en-US" i="1">
                        <a:latin typeface="Cambria Math" panose="02040503050406030204" pitchFamily="18" charset="0"/>
                      </a:rPr>
                      <m:t>𝑣𝑎𝑟</m:t>
                    </m:r>
                    <m:d>
                      <m:dPr>
                        <m:begChr m:val="["/>
                        <m:endChr m:val="]"/>
                        <m:ctrlPr>
                          <a:rPr lang="en-US" i="1">
                            <a:latin typeface="Cambria Math" panose="02040503050406030204" pitchFamily="18" charset="0"/>
                          </a:rPr>
                        </m:ctrlPr>
                      </m:dPr>
                      <m:e>
                        <m:acc>
                          <m:accPr>
                            <m:chr m:val="̂"/>
                            <m:ctrlPr>
                              <a:rPr lang="en-US" i="1">
                                <a:latin typeface="Cambria Math" panose="02040503050406030204" pitchFamily="18" charset="0"/>
                              </a:rPr>
                            </m:ctrlPr>
                          </m:accPr>
                          <m:e>
                            <m:r>
                              <a:rPr lang="en-US" i="1">
                                <a:latin typeface="Cambria Math" panose="02040503050406030204" pitchFamily="18" charset="0"/>
                              </a:rPr>
                              <m:t>𝑓</m:t>
                            </m:r>
                          </m:e>
                        </m:acc>
                        <m:d>
                          <m:dPr>
                            <m:ctrlPr>
                              <a:rPr lang="en-US" i="1">
                                <a:latin typeface="Cambria Math" panose="02040503050406030204" pitchFamily="18" charset="0"/>
                              </a:rPr>
                            </m:ctrlPr>
                          </m:dPr>
                          <m:e>
                            <m:r>
                              <a:rPr lang="en-US" i="1">
                                <a:latin typeface="Cambria Math" panose="02040503050406030204" pitchFamily="18" charset="0"/>
                              </a:rPr>
                              <m:t>𝑥</m:t>
                            </m:r>
                            <m:r>
                              <a:rPr lang="en-US" i="1" baseline="-25000">
                                <a:latin typeface="Cambria Math" panose="02040503050406030204" pitchFamily="18" charset="0"/>
                              </a:rPr>
                              <m:t>0</m:t>
                            </m:r>
                          </m:e>
                        </m:d>
                      </m:e>
                    </m:d>
                    <m:r>
                      <a:rPr lang="en-US" b="0" i="1" smtClean="0">
                        <a:latin typeface="Cambria Math" panose="02040503050406030204" pitchFamily="18" charset="0"/>
                      </a:rPr>
                      <m:t>=</m:t>
                    </m:r>
                    <m:r>
                      <a:rPr lang="en-US" i="1">
                        <a:latin typeface="Cambria Math" panose="02040503050406030204" pitchFamily="18" charset="0"/>
                      </a:rPr>
                      <m:t>𝐸</m:t>
                    </m:r>
                    <m:d>
                      <m:dPr>
                        <m:begChr m:val="["/>
                        <m:endChr m:val="]"/>
                        <m:ctrlPr>
                          <a:rPr lang="en-US" i="1">
                            <a:latin typeface="Cambria Math" panose="02040503050406030204" pitchFamily="18" charset="0"/>
                          </a:rPr>
                        </m:ctrlPr>
                      </m:dPr>
                      <m:e>
                        <m:acc>
                          <m:accPr>
                            <m:chr m:val="̂"/>
                            <m:ctrlPr>
                              <a:rPr lang="en-US" i="1">
                                <a:latin typeface="Cambria Math" panose="02040503050406030204" pitchFamily="18" charset="0"/>
                              </a:rPr>
                            </m:ctrlPr>
                          </m:accPr>
                          <m:e>
                            <m:r>
                              <a:rPr lang="en-US" i="1">
                                <a:latin typeface="Cambria Math" panose="02040503050406030204" pitchFamily="18" charset="0"/>
                              </a:rPr>
                              <m:t>𝑓</m:t>
                            </m:r>
                          </m:e>
                        </m:acc>
                        <m:d>
                          <m:dPr>
                            <m:ctrlPr>
                              <a:rPr lang="en-US" i="1">
                                <a:latin typeface="Cambria Math" panose="02040503050406030204" pitchFamily="18" charset="0"/>
                              </a:rPr>
                            </m:ctrlPr>
                          </m:dPr>
                          <m:e>
                            <m:r>
                              <a:rPr lang="en-US" i="1">
                                <a:latin typeface="Cambria Math" panose="02040503050406030204" pitchFamily="18" charset="0"/>
                              </a:rPr>
                              <m:t>𝑥</m:t>
                            </m:r>
                            <m:r>
                              <a:rPr lang="en-US" i="1" baseline="-25000">
                                <a:latin typeface="Cambria Math" panose="02040503050406030204" pitchFamily="18" charset="0"/>
                              </a:rPr>
                              <m:t>0</m:t>
                            </m:r>
                          </m:e>
                        </m:d>
                        <m:r>
                          <a:rPr lang="en-US" i="1">
                            <a:latin typeface="Cambria Math" panose="02040503050406030204" pitchFamily="18" charset="0"/>
                          </a:rPr>
                          <m:t>−</m:t>
                        </m:r>
                        <m:r>
                          <a:rPr lang="en-US" b="0" i="1" smtClean="0">
                            <a:latin typeface="Cambria Math" panose="02040503050406030204" pitchFamily="18" charset="0"/>
                          </a:rPr>
                          <m:t>𝑦</m:t>
                        </m:r>
                        <m:r>
                          <a:rPr lang="en-US" b="0" i="1" baseline="-25000" smtClean="0">
                            <a:latin typeface="Cambria Math" panose="02040503050406030204" pitchFamily="18" charset="0"/>
                          </a:rPr>
                          <m:t>0</m:t>
                        </m:r>
                      </m:e>
                    </m:d>
                  </m:oMath>
                </a14:m>
                <a:r>
                  <a:rPr lang="en-US" baseline="30000" dirty="0"/>
                  <a:t>2</a:t>
                </a:r>
              </a:p>
              <a:p>
                <a:pPr marL="0" indent="0">
                  <a:buNone/>
                </a:pPr>
                <a:endParaRPr lang="en-US" dirty="0"/>
              </a:p>
              <a:p>
                <a:r>
                  <a:rPr lang="en-US" dirty="0"/>
                  <a:t>Typically as the flexibility of the model increases, its variance increases, and its bias decreases. </a:t>
                </a:r>
              </a:p>
            </p:txBody>
          </p:sp>
        </mc:Choice>
        <mc:Fallback xmlns="">
          <p:sp>
            <p:nvSpPr>
              <p:cNvPr id="2" name="Content Placeholder 1">
                <a:extLst>
                  <a:ext uri="{FF2B5EF4-FFF2-40B4-BE49-F238E27FC236}">
                    <a16:creationId xmlns:a16="http://schemas.microsoft.com/office/drawing/2014/main" id="{8A64E526-2F49-D04E-B6E6-7378F8C93D8B}"/>
                  </a:ext>
                </a:extLst>
              </p:cNvPr>
              <p:cNvSpPr>
                <a:spLocks noGrp="1" noRot="1" noChangeAspect="1" noMove="1" noResize="1" noEditPoints="1" noAdjustHandles="1" noChangeArrowheads="1" noChangeShapeType="1" noTextEdit="1"/>
              </p:cNvSpPr>
              <p:nvPr>
                <p:ph idx="1"/>
              </p:nvPr>
            </p:nvSpPr>
            <p:spPr>
              <a:xfrm>
                <a:off x="457200" y="783772"/>
                <a:ext cx="8229600" cy="5342392"/>
              </a:xfrm>
              <a:blipFill>
                <a:blip r:embed="rId2"/>
                <a:stretch>
                  <a:fillRect t="-2370" b="-2133"/>
                </a:stretch>
              </a:blipFill>
            </p:spPr>
            <p:txBody>
              <a:bodyPr/>
              <a:lstStyle/>
              <a:p>
                <a:r>
                  <a:rPr lang="en-US">
                    <a:noFill/>
                  </a:rPr>
                  <a:t> </a:t>
                </a:r>
              </a:p>
            </p:txBody>
          </p:sp>
        </mc:Fallback>
      </mc:AlternateContent>
    </p:spTree>
    <p:extLst>
      <p:ext uri="{BB962C8B-B14F-4D97-AF65-F5344CB8AC3E}">
        <p14:creationId xmlns:p14="http://schemas.microsoft.com/office/powerpoint/2010/main" val="246785303"/>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Chart, scatter chart&#10;&#10;Description automatically generated">
            <a:extLst>
              <a:ext uri="{FF2B5EF4-FFF2-40B4-BE49-F238E27FC236}">
                <a16:creationId xmlns:a16="http://schemas.microsoft.com/office/drawing/2014/main" id="{53DAB255-47C8-D543-B48C-241DFA3C395C}"/>
              </a:ext>
            </a:extLst>
          </p:cNvPr>
          <p:cNvPicPr>
            <a:picLocks noGrp="1" noChangeAspect="1"/>
          </p:cNvPicPr>
          <p:nvPr>
            <p:ph idx="1"/>
          </p:nvPr>
        </p:nvPicPr>
        <p:blipFill>
          <a:blip r:embed="rId2"/>
          <a:stretch>
            <a:fillRect/>
          </a:stretch>
        </p:blipFill>
        <p:spPr>
          <a:xfrm>
            <a:off x="3714793" y="1480457"/>
            <a:ext cx="5229667" cy="4144509"/>
          </a:xfrm>
          <a:noFill/>
        </p:spPr>
      </p:pic>
      <p:sp>
        <p:nvSpPr>
          <p:cNvPr id="6" name="TextBox 5">
            <a:extLst>
              <a:ext uri="{FF2B5EF4-FFF2-40B4-BE49-F238E27FC236}">
                <a16:creationId xmlns:a16="http://schemas.microsoft.com/office/drawing/2014/main" id="{01ECE410-17AC-214D-A874-B15227F05188}"/>
              </a:ext>
            </a:extLst>
          </p:cNvPr>
          <p:cNvSpPr txBox="1"/>
          <p:nvPr/>
        </p:nvSpPr>
        <p:spPr>
          <a:xfrm>
            <a:off x="3494313" y="6268281"/>
            <a:ext cx="7151915" cy="413657"/>
          </a:xfrm>
          <a:prstGeom prst="rect">
            <a:avLst/>
          </a:prstGeom>
        </p:spPr>
        <p:txBody>
          <a:bodyPr vert="horz" wrap="none" lIns="91440" tIns="45720" rIns="91440" bIns="45720" rtlCol="0">
            <a:normAutofit/>
          </a:bodyPr>
          <a:lstStyle/>
          <a:p>
            <a:r>
              <a:rPr lang="en-US" sz="1400" dirty="0">
                <a:solidFill>
                  <a:prstClr val="black"/>
                </a:solidFill>
                <a:latin typeface="Source Sans Pro Light"/>
                <a:cs typeface="Source Sans Pro Light"/>
              </a:rPr>
              <a:t>Ref: </a:t>
            </a:r>
            <a:r>
              <a:rPr lang="en-US" sz="1400" dirty="0"/>
              <a:t>In-depth introduction to machine learning, by T. Hastie and R. </a:t>
            </a:r>
            <a:r>
              <a:rPr lang="en-US" sz="1400" dirty="0" err="1"/>
              <a:t>Tibshirani</a:t>
            </a:r>
            <a:endParaRPr lang="en-US" sz="1400" dirty="0"/>
          </a:p>
          <a:p>
            <a:endParaRPr lang="en-US" sz="2000" dirty="0">
              <a:solidFill>
                <a:prstClr val="black"/>
              </a:solidFill>
              <a:latin typeface="Source Sans Pro Light"/>
              <a:cs typeface="Source Sans Pro Light"/>
            </a:endParaRPr>
          </a:p>
        </p:txBody>
      </p:sp>
      <p:sp>
        <p:nvSpPr>
          <p:cNvPr id="7" name="TextBox 6">
            <a:extLst>
              <a:ext uri="{FF2B5EF4-FFF2-40B4-BE49-F238E27FC236}">
                <a16:creationId xmlns:a16="http://schemas.microsoft.com/office/drawing/2014/main" id="{4ACDA075-A123-5347-9D26-4984E439C755}"/>
              </a:ext>
            </a:extLst>
          </p:cNvPr>
          <p:cNvSpPr txBox="1"/>
          <p:nvPr/>
        </p:nvSpPr>
        <p:spPr>
          <a:xfrm>
            <a:off x="457200" y="1600200"/>
            <a:ext cx="4038600" cy="4525963"/>
          </a:xfrm>
          <a:prstGeom prst="rect">
            <a:avLst/>
          </a:prstGeom>
        </p:spPr>
        <p:txBody>
          <a:bodyPr vert="horz" lIns="91440" tIns="45720" rIns="91440" bIns="45720" rtlCol="0">
            <a:normAutofit/>
          </a:bodyPr>
          <a:lstStyle/>
          <a:p>
            <a:pPr>
              <a:spcBef>
                <a:spcPct val="20000"/>
              </a:spcBef>
              <a:buClr>
                <a:schemeClr val="accent4"/>
              </a:buClr>
              <a:buSzPct val="75000"/>
            </a:pPr>
            <a:r>
              <a:rPr lang="en-US" sz="2800" dirty="0">
                <a:latin typeface="Source Sans Pro Light"/>
              </a:rPr>
              <a:t>Spline</a:t>
            </a:r>
          </a:p>
          <a:p>
            <a:pPr marL="457200" indent="-457200">
              <a:spcBef>
                <a:spcPct val="20000"/>
              </a:spcBef>
              <a:buClr>
                <a:schemeClr val="accent4"/>
              </a:buClr>
              <a:buSzPct val="75000"/>
              <a:buFont typeface="Wingdings" pitchFamily="2" charset="2"/>
              <a:buChar char="Ø"/>
            </a:pPr>
            <a:r>
              <a:rPr lang="en-US" sz="2800" dirty="0">
                <a:latin typeface="Source Sans Pro Light"/>
              </a:rPr>
              <a:t>The value are the same at the junctions</a:t>
            </a:r>
          </a:p>
          <a:p>
            <a:pPr marL="457200" indent="-457200">
              <a:spcBef>
                <a:spcPct val="20000"/>
              </a:spcBef>
              <a:buClr>
                <a:schemeClr val="accent4"/>
              </a:buClr>
              <a:buSzPct val="75000"/>
              <a:buFont typeface="Wingdings" pitchFamily="2" charset="2"/>
              <a:buChar char="Ø"/>
            </a:pPr>
            <a:r>
              <a:rPr lang="en-US" sz="2800" dirty="0">
                <a:latin typeface="Source Sans Pro Light"/>
              </a:rPr>
              <a:t>Also derivatives are the same at the junctions</a:t>
            </a:r>
          </a:p>
          <a:p>
            <a:pPr marL="457200" indent="-457200">
              <a:spcBef>
                <a:spcPct val="20000"/>
              </a:spcBef>
              <a:buClr>
                <a:schemeClr val="accent4"/>
              </a:buClr>
              <a:buSzPct val="75000"/>
              <a:buFont typeface="Wingdings" pitchFamily="2" charset="2"/>
              <a:buChar char="Ø"/>
            </a:pPr>
            <a:endParaRPr lang="en-US" sz="2800" dirty="0">
              <a:latin typeface="Source Sans Pro Light"/>
            </a:endParaRPr>
          </a:p>
        </p:txBody>
      </p:sp>
    </p:spTree>
    <p:extLst>
      <p:ext uri="{BB962C8B-B14F-4D97-AF65-F5344CB8AC3E}">
        <p14:creationId xmlns:p14="http://schemas.microsoft.com/office/powerpoint/2010/main" val="2317878194"/>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DFFB25-180A-8B80-7ECD-177921E4FA23}"/>
              </a:ext>
            </a:extLst>
          </p:cNvPr>
          <p:cNvSpPr>
            <a:spLocks noGrp="1"/>
          </p:cNvSpPr>
          <p:nvPr>
            <p:ph type="ctrTitle"/>
          </p:nvPr>
        </p:nvSpPr>
        <p:spPr/>
        <p:txBody>
          <a:bodyPr/>
          <a:lstStyle/>
          <a:p>
            <a:r>
              <a:rPr lang="en-US" dirty="0"/>
              <a:t>Overfitting and Model Selection</a:t>
            </a:r>
          </a:p>
        </p:txBody>
      </p:sp>
      <p:sp>
        <p:nvSpPr>
          <p:cNvPr id="3" name="Subtitle 2">
            <a:extLst>
              <a:ext uri="{FF2B5EF4-FFF2-40B4-BE49-F238E27FC236}">
                <a16:creationId xmlns:a16="http://schemas.microsoft.com/office/drawing/2014/main" id="{9417BB5E-331E-A700-0522-9F32C7FC7DF5}"/>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296112562"/>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82F5BB5-5662-0F41-8370-1F65BCF63606}"/>
              </a:ext>
            </a:extLst>
          </p:cNvPr>
          <p:cNvSpPr>
            <a:spLocks noGrp="1"/>
          </p:cNvSpPr>
          <p:nvPr>
            <p:ph idx="1"/>
          </p:nvPr>
        </p:nvSpPr>
        <p:spPr/>
        <p:txBody>
          <a:bodyPr/>
          <a:lstStyle/>
          <a:p>
            <a:r>
              <a:rPr lang="en-US" dirty="0"/>
              <a:t>The best model gives us the lowest error over the population and not only training set, </a:t>
            </a:r>
          </a:p>
          <a:p>
            <a:r>
              <a:rPr lang="en-US" dirty="0"/>
              <a:t>So R</a:t>
            </a:r>
            <a:r>
              <a:rPr lang="en-US" baseline="30000" dirty="0"/>
              <a:t>2</a:t>
            </a:r>
            <a:r>
              <a:rPr lang="en-US" dirty="0"/>
              <a:t> or Residual error is not the best parameter</a:t>
            </a:r>
          </a:p>
          <a:p>
            <a:pPr lvl="1"/>
            <a:r>
              <a:rPr lang="en-US" dirty="0"/>
              <a:t>Might results to overfitting!</a:t>
            </a:r>
          </a:p>
        </p:txBody>
      </p:sp>
      <p:sp>
        <p:nvSpPr>
          <p:cNvPr id="3" name="Title 2">
            <a:extLst>
              <a:ext uri="{FF2B5EF4-FFF2-40B4-BE49-F238E27FC236}">
                <a16:creationId xmlns:a16="http://schemas.microsoft.com/office/drawing/2014/main" id="{05C44511-10AC-1E41-8332-37BD1B588F9C}"/>
              </a:ext>
            </a:extLst>
          </p:cNvPr>
          <p:cNvSpPr>
            <a:spLocks noGrp="1"/>
          </p:cNvSpPr>
          <p:nvPr>
            <p:ph type="title"/>
          </p:nvPr>
        </p:nvSpPr>
        <p:spPr/>
        <p:txBody>
          <a:bodyPr/>
          <a:lstStyle/>
          <a:p>
            <a:r>
              <a:rPr lang="en-US" dirty="0"/>
              <a:t>Choosing the Optimum Model</a:t>
            </a:r>
          </a:p>
        </p:txBody>
      </p:sp>
    </p:spTree>
    <p:extLst>
      <p:ext uri="{BB962C8B-B14F-4D97-AF65-F5344CB8AC3E}">
        <p14:creationId xmlns:p14="http://schemas.microsoft.com/office/powerpoint/2010/main" val="3020188606"/>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A9A00D37-A1A5-8D4D-857E-CC355E819884}"/>
                  </a:ext>
                </a:extLst>
              </p:cNvPr>
              <p:cNvSpPr>
                <a:spLocks noGrp="1"/>
              </p:cNvSpPr>
              <p:nvPr>
                <p:ph idx="1"/>
              </p:nvPr>
            </p:nvSpPr>
            <p:spPr>
              <a:xfrm>
                <a:off x="457200" y="1295400"/>
                <a:ext cx="8229600" cy="4830763"/>
              </a:xfrm>
            </p:spPr>
            <p:txBody>
              <a:bodyPr>
                <a:normAutofit fontScale="62500" lnSpcReduction="20000"/>
              </a:bodyPr>
              <a:lstStyle/>
              <a:p>
                <a:r>
                  <a:rPr lang="en-US" b="1" u="sng" dirty="0"/>
                  <a:t>Mallow’s Cp</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𝐶</m:t>
                      </m:r>
                      <m:r>
                        <a:rPr lang="en-US" b="0" i="1" baseline="-25000" smtClean="0">
                          <a:latin typeface="Cambria Math" panose="02040503050406030204" pitchFamily="18" charset="0"/>
                        </a:rPr>
                        <m:t>𝑝</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𝑛</m:t>
                          </m:r>
                        </m:den>
                      </m:f>
                      <m:r>
                        <a:rPr lang="en-US" b="0" i="1" smtClean="0">
                          <a:latin typeface="Cambria Math" panose="02040503050406030204" pitchFamily="18" charset="0"/>
                        </a:rPr>
                        <m:t>[</m:t>
                      </m:r>
                      <m:r>
                        <a:rPr lang="en-US" b="0" i="1" smtClean="0">
                          <a:latin typeface="Cambria Math" panose="02040503050406030204" pitchFamily="18" charset="0"/>
                        </a:rPr>
                        <m:t>𝑅𝑒𝑠𝑆𝑆</m:t>
                      </m:r>
                      <m:r>
                        <a:rPr lang="en-US" b="0" i="1" smtClean="0">
                          <a:latin typeface="Cambria Math" panose="02040503050406030204" pitchFamily="18" charset="0"/>
                        </a:rPr>
                        <m:t>+2(</m:t>
                      </m:r>
                      <m:r>
                        <a:rPr lang="en-US" b="0" i="1" smtClean="0">
                          <a:latin typeface="Cambria Math" panose="02040503050406030204" pitchFamily="18" charset="0"/>
                        </a:rPr>
                        <m:t>𝑘</m:t>
                      </m:r>
                      <m:r>
                        <a:rPr lang="en-US" b="0" i="1" smtClean="0">
                          <a:latin typeface="Cambria Math" panose="02040503050406030204" pitchFamily="18" charset="0"/>
                        </a:rPr>
                        <m:t>+1)</m:t>
                      </m:r>
                      <m:r>
                        <a:rPr lang="en-US" b="0" i="1" smtClean="0">
                          <a:latin typeface="Cambria Math" panose="02040503050406030204" pitchFamily="18" charset="0"/>
                          <a:ea typeface="Cambria Math" panose="02040503050406030204" pitchFamily="18" charset="0"/>
                        </a:rPr>
                        <m:t>𝜎</m:t>
                      </m:r>
                      <m:r>
                        <a:rPr lang="en-US" b="0" i="1" baseline="30000" smtClean="0">
                          <a:latin typeface="Cambria Math" panose="02040503050406030204" pitchFamily="18" charset="0"/>
                          <a:ea typeface="Cambria Math" panose="02040503050406030204" pitchFamily="18" charset="0"/>
                        </a:rPr>
                        <m:t>2</m:t>
                      </m:r>
                      <m:r>
                        <a:rPr lang="en-US" b="0" i="1" smtClean="0">
                          <a:latin typeface="Cambria Math" panose="02040503050406030204" pitchFamily="18" charset="0"/>
                        </a:rPr>
                        <m:t>]</m:t>
                      </m:r>
                    </m:oMath>
                  </m:oMathPara>
                </a14:m>
                <a:endParaRPr lang="en-US" dirty="0"/>
              </a:p>
              <a:p>
                <a:pPr marL="0" indent="0">
                  <a:buNone/>
                </a:pPr>
                <a:r>
                  <a:rPr lang="en-US" dirty="0"/>
                  <a:t>In which</a:t>
                </a:r>
              </a:p>
              <a:p>
                <a:pPr marL="971550" lvl="1" indent="-514350">
                  <a:buFont typeface="+mj-lt"/>
                  <a:buAutoNum type="alphaLcPeriod"/>
                </a:pPr>
                <a:r>
                  <a:rPr lang="en-US" dirty="0"/>
                  <a:t>k: number of predictors used in the model</a:t>
                </a:r>
              </a:p>
              <a:p>
                <a:pPr marL="971550" lvl="1" indent="-514350">
                  <a:buFont typeface="+mj-lt"/>
                  <a:buAutoNum type="alphaLcPeriod"/>
                </a:pPr>
                <a14:m>
                  <m:oMath xmlns:m="http://schemas.openxmlformats.org/officeDocument/2006/math">
                    <m:r>
                      <a:rPr lang="en-US" i="1">
                        <a:latin typeface="Cambria Math" panose="02040503050406030204" pitchFamily="18" charset="0"/>
                        <a:ea typeface="Cambria Math" panose="02040503050406030204" pitchFamily="18" charset="0"/>
                      </a:rPr>
                      <m:t>𝜎</m:t>
                    </m:r>
                    <m:r>
                      <a:rPr lang="en-US" i="1" baseline="30000">
                        <a:latin typeface="Cambria Math" panose="02040503050406030204" pitchFamily="18" charset="0"/>
                        <a:ea typeface="Cambria Math" panose="02040503050406030204" pitchFamily="18" charset="0"/>
                      </a:rPr>
                      <m:t>2</m:t>
                    </m:r>
                  </m:oMath>
                </a14:m>
                <a:r>
                  <a:rPr lang="en-US" dirty="0"/>
                  <a:t>: is standard deviation of total error for the full model</a:t>
                </a:r>
              </a:p>
              <a:p>
                <a:pPr marL="971550" lvl="1" indent="-514350">
                  <a:buFont typeface="+mj-lt"/>
                  <a:buAutoNum type="alphaLcPeriod"/>
                </a:pPr>
                <a:r>
                  <a:rPr lang="en-US" dirty="0" err="1"/>
                  <a:t>ResSS</a:t>
                </a:r>
                <a:r>
                  <a:rPr lang="en-US" dirty="0"/>
                  <a:t>: residual error sum square of the model – training SS</a:t>
                </a:r>
              </a:p>
              <a:p>
                <a:pPr marL="971550" lvl="1" indent="-514350">
                  <a:buFont typeface="+mj-lt"/>
                  <a:buAutoNum type="alphaLcPeriod"/>
                </a:pPr>
                <a:r>
                  <a:rPr lang="en-US" dirty="0"/>
                  <a:t>n: number of samples</a:t>
                </a:r>
              </a:p>
              <a:p>
                <a:pPr marL="0" indent="0">
                  <a:buNone/>
                </a:pPr>
                <a:r>
                  <a:rPr lang="en-US" dirty="0"/>
                  <a:t>Note: Cp gets written different ways, but all fundamentally the same.</a:t>
                </a:r>
              </a:p>
              <a:p>
                <a:r>
                  <a:rPr lang="en-US" b="1" u="sng" dirty="0"/>
                  <a:t>BIC (or Bayesian Information Criterion)</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𝐵𝐼𝐶</m:t>
                      </m:r>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1</m:t>
                          </m:r>
                        </m:num>
                        <m:den>
                          <m:r>
                            <a:rPr lang="en-US" i="1">
                              <a:latin typeface="Cambria Math" panose="02040503050406030204" pitchFamily="18" charset="0"/>
                            </a:rPr>
                            <m:t>𝑛</m:t>
                          </m:r>
                        </m:den>
                      </m:f>
                      <m:r>
                        <a:rPr lang="en-US" b="0" i="1" smtClean="0">
                          <a:latin typeface="Cambria Math" panose="02040503050406030204" pitchFamily="18" charset="0"/>
                        </a:rPr>
                        <m:t>[</m:t>
                      </m:r>
                      <m:r>
                        <a:rPr lang="en-US" i="1">
                          <a:latin typeface="Cambria Math" panose="02040503050406030204" pitchFamily="18" charset="0"/>
                        </a:rPr>
                        <m:t>𝑅𝑒𝑠𝑆𝑆</m:t>
                      </m:r>
                      <m:r>
                        <a:rPr lang="en-US" i="1">
                          <a:latin typeface="Cambria Math" panose="02040503050406030204" pitchFamily="18" charset="0"/>
                        </a:rPr>
                        <m:t>+</m:t>
                      </m:r>
                      <m:r>
                        <m:rPr>
                          <m:sty m:val="p"/>
                        </m:rPr>
                        <a:rPr lang="en-US" b="0" i="0" smtClean="0">
                          <a:latin typeface="Cambria Math" panose="02040503050406030204" pitchFamily="18" charset="0"/>
                        </a:rPr>
                        <m:t>l</m:t>
                      </m:r>
                      <m:r>
                        <a:rPr lang="en-US" b="0" i="1" smtClean="0">
                          <a:latin typeface="Cambria Math" panose="02040503050406030204" pitchFamily="18" charset="0"/>
                        </a:rPr>
                        <m:t>𝑛</m:t>
                      </m:r>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m:t>
                      </m:r>
                      <m:r>
                        <a:rPr lang="en-US" i="1">
                          <a:latin typeface="Cambria Math" panose="02040503050406030204" pitchFamily="18" charset="0"/>
                        </a:rPr>
                        <m:t>𝑘</m:t>
                      </m:r>
                      <m:r>
                        <a:rPr lang="en-US" b="0" i="1" smtClean="0">
                          <a:latin typeface="Cambria Math" panose="02040503050406030204" pitchFamily="18" charset="0"/>
                        </a:rPr>
                        <m:t>+1)</m:t>
                      </m:r>
                      <m:r>
                        <a:rPr lang="en-US" i="1">
                          <a:latin typeface="Cambria Math" panose="02040503050406030204" pitchFamily="18" charset="0"/>
                          <a:ea typeface="Cambria Math" panose="02040503050406030204" pitchFamily="18" charset="0"/>
                        </a:rPr>
                        <m:t>𝜎</m:t>
                      </m:r>
                      <m:r>
                        <a:rPr lang="en-US" i="1" baseline="30000">
                          <a:latin typeface="Cambria Math" panose="02040503050406030204" pitchFamily="18" charset="0"/>
                          <a:ea typeface="Cambria Math" panose="02040503050406030204" pitchFamily="18" charset="0"/>
                        </a:rPr>
                        <m:t>2</m:t>
                      </m:r>
                      <m:r>
                        <a:rPr lang="en-US" b="0" i="1" smtClean="0">
                          <a:latin typeface="Cambria Math" panose="02040503050406030204" pitchFamily="18" charset="0"/>
                        </a:rPr>
                        <m:t>]</m:t>
                      </m:r>
                    </m:oMath>
                  </m:oMathPara>
                </a14:m>
                <a:endParaRPr lang="en-US" dirty="0"/>
              </a:p>
              <a:p>
                <a:pPr marL="0" indent="0">
                  <a:buNone/>
                </a:pPr>
                <a:r>
                  <a:rPr lang="en-US" dirty="0"/>
                  <a:t>In which </a:t>
                </a:r>
                <a:r>
                  <a:rPr lang="en-US" i="1" dirty="0"/>
                  <a:t>n</a:t>
                </a:r>
                <a:r>
                  <a:rPr lang="en-US" dirty="0"/>
                  <a:t> is # of observations, and </a:t>
                </a:r>
                <a:r>
                  <a:rPr lang="en-US" i="1" dirty="0"/>
                  <a:t>k</a:t>
                </a:r>
                <a:r>
                  <a:rPr lang="en-US" dirty="0"/>
                  <a:t> is # of parameters. </a:t>
                </a:r>
              </a:p>
              <a:p>
                <a:pPr marL="0" indent="0">
                  <a:buNone/>
                </a:pPr>
                <a:r>
                  <a:rPr lang="en-US" dirty="0"/>
                  <a:t>Note: for </a:t>
                </a:r>
                <a:r>
                  <a:rPr lang="en-US" b="1" i="1" u="sng" dirty="0"/>
                  <a:t>n &gt; 7 </a:t>
                </a:r>
                <a:r>
                  <a:rPr lang="en-US" dirty="0"/>
                  <a:t>we have  </a:t>
                </a:r>
                <a:r>
                  <a:rPr lang="en-US" b="1" i="1" u="sng" dirty="0"/>
                  <a:t>ln(n) &gt; 2</a:t>
                </a:r>
                <a:r>
                  <a:rPr lang="en-US" dirty="0"/>
                  <a:t>. </a:t>
                </a:r>
              </a:p>
              <a:p>
                <a:pPr marL="0" indent="0">
                  <a:buNone/>
                </a:pPr>
                <a:r>
                  <a:rPr lang="en-US" dirty="0"/>
                  <a:t>Therefore, BIC penalizes more variables more. </a:t>
                </a:r>
              </a:p>
            </p:txBody>
          </p:sp>
        </mc:Choice>
        <mc:Fallback xmlns="">
          <p:sp>
            <p:nvSpPr>
              <p:cNvPr id="2" name="Content Placeholder 1">
                <a:extLst>
                  <a:ext uri="{FF2B5EF4-FFF2-40B4-BE49-F238E27FC236}">
                    <a16:creationId xmlns:a16="http://schemas.microsoft.com/office/drawing/2014/main" id="{A9A00D37-A1A5-8D4D-857E-CC355E819884}"/>
                  </a:ext>
                </a:extLst>
              </p:cNvPr>
              <p:cNvSpPr>
                <a:spLocks noGrp="1" noRot="1" noChangeAspect="1" noMove="1" noResize="1" noEditPoints="1" noAdjustHandles="1" noChangeArrowheads="1" noChangeShapeType="1" noTextEdit="1"/>
              </p:cNvSpPr>
              <p:nvPr>
                <p:ph idx="1"/>
              </p:nvPr>
            </p:nvSpPr>
            <p:spPr>
              <a:xfrm>
                <a:off x="457200" y="1295400"/>
                <a:ext cx="8229600" cy="4830763"/>
              </a:xfrm>
              <a:blipFill>
                <a:blip r:embed="rId3"/>
                <a:stretch>
                  <a:fillRect l="-772" t="-2100"/>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E9883C3C-0DED-DA48-8A90-85B7038E777A}"/>
              </a:ext>
            </a:extLst>
          </p:cNvPr>
          <p:cNvSpPr>
            <a:spLocks noGrp="1"/>
          </p:cNvSpPr>
          <p:nvPr>
            <p:ph type="title"/>
          </p:nvPr>
        </p:nvSpPr>
        <p:spPr/>
        <p:txBody>
          <a:bodyPr/>
          <a:lstStyle/>
          <a:p>
            <a:r>
              <a:rPr lang="en-US" dirty="0"/>
              <a:t>Assessing a Model </a:t>
            </a:r>
          </a:p>
        </p:txBody>
      </p:sp>
    </p:spTree>
    <p:extLst>
      <p:ext uri="{BB962C8B-B14F-4D97-AF65-F5344CB8AC3E}">
        <p14:creationId xmlns:p14="http://schemas.microsoft.com/office/powerpoint/2010/main" val="760417581"/>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492615A-690B-8F4E-B803-959AEE14E023}"/>
              </a:ext>
            </a:extLst>
          </p:cNvPr>
          <p:cNvSpPr>
            <a:spLocks noGrp="1"/>
          </p:cNvSpPr>
          <p:nvPr>
            <p:ph idx="1"/>
          </p:nvPr>
        </p:nvSpPr>
        <p:spPr/>
        <p:txBody>
          <a:bodyPr/>
          <a:lstStyle/>
          <a:p>
            <a:r>
              <a:rPr lang="en-US" dirty="0"/>
              <a:t>With large set of parameters, best subset selection is not feasible – Too large!</a:t>
            </a:r>
          </a:p>
          <a:p>
            <a:endParaRPr lang="en-US" dirty="0"/>
          </a:p>
        </p:txBody>
      </p:sp>
      <p:sp>
        <p:nvSpPr>
          <p:cNvPr id="3" name="Title 2">
            <a:extLst>
              <a:ext uri="{FF2B5EF4-FFF2-40B4-BE49-F238E27FC236}">
                <a16:creationId xmlns:a16="http://schemas.microsoft.com/office/drawing/2014/main" id="{AE202966-77DE-4745-9DD6-2950C14200A2}"/>
              </a:ext>
            </a:extLst>
          </p:cNvPr>
          <p:cNvSpPr>
            <a:spLocks noGrp="1"/>
          </p:cNvSpPr>
          <p:nvPr>
            <p:ph type="title"/>
          </p:nvPr>
        </p:nvSpPr>
        <p:spPr/>
        <p:txBody>
          <a:bodyPr/>
          <a:lstStyle/>
          <a:p>
            <a:r>
              <a:rPr lang="en-US" dirty="0"/>
              <a:t>Stepwise Selection</a:t>
            </a:r>
          </a:p>
        </p:txBody>
      </p:sp>
    </p:spTree>
    <p:extLst>
      <p:ext uri="{BB962C8B-B14F-4D97-AF65-F5344CB8AC3E}">
        <p14:creationId xmlns:p14="http://schemas.microsoft.com/office/powerpoint/2010/main" val="668498319"/>
      </p:ext>
    </p:extLst>
  </p:cSld>
  <p:clrMapOvr>
    <a:masterClrMapping/>
  </p:clrMapOvr>
</p:sld>
</file>

<file path=ppt/theme/theme1.xml><?xml version="1.0" encoding="utf-8"?>
<a:theme xmlns:a="http://schemas.openxmlformats.org/drawingml/2006/main" name="PPT-Template_1-10-2014">
  <a:themeElements>
    <a:clrScheme name="Custom 4">
      <a:dk1>
        <a:sysClr val="windowText" lastClr="000000"/>
      </a:dk1>
      <a:lt1>
        <a:sysClr val="window" lastClr="FFFFFF"/>
      </a:lt1>
      <a:dk2>
        <a:srgbClr val="004A74"/>
      </a:dk2>
      <a:lt2>
        <a:srgbClr val="FED292"/>
      </a:lt2>
      <a:accent1>
        <a:srgbClr val="E5E0DB"/>
      </a:accent1>
      <a:accent2>
        <a:srgbClr val="887F79"/>
      </a:accent2>
      <a:accent3>
        <a:srgbClr val="C2BDB9"/>
      </a:accent3>
      <a:accent4>
        <a:srgbClr val="00A1E1"/>
      </a:accent4>
      <a:accent5>
        <a:srgbClr val="F69386"/>
      </a:accent5>
      <a:accent6>
        <a:srgbClr val="FF6B00"/>
      </a:accent6>
      <a:hlink>
        <a:srgbClr val="FF6B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bodyPr vert="horz" lIns="91440" tIns="45720" rIns="91440" bIns="45720" rtlCol="0">
        <a:normAutofit/>
      </a:bodyPr>
      <a:lstStyle>
        <a:defPPr>
          <a:defRPr sz="2000" dirty="0" smtClean="0">
            <a:solidFill>
              <a:prstClr val="black"/>
            </a:solidFill>
            <a:latin typeface="Source Sans Pro Light"/>
            <a:cs typeface="Source Sans Pro Light"/>
          </a:defRPr>
        </a:defPPr>
      </a:lstStyle>
    </a:txDef>
  </a:objectDefaults>
  <a:extraClrSchemeLst/>
</a:theme>
</file>

<file path=ppt/theme/theme2.xml><?xml version="1.0" encoding="utf-8"?>
<a:theme xmlns:a="http://schemas.openxmlformats.org/drawingml/2006/main" name="4_Office Theme">
  <a:themeElements>
    <a:clrScheme name="Custom 4">
      <a:dk1>
        <a:sysClr val="windowText" lastClr="000000"/>
      </a:dk1>
      <a:lt1>
        <a:sysClr val="window" lastClr="FFFFFF"/>
      </a:lt1>
      <a:dk2>
        <a:srgbClr val="004A74"/>
      </a:dk2>
      <a:lt2>
        <a:srgbClr val="FED292"/>
      </a:lt2>
      <a:accent1>
        <a:srgbClr val="E5E0DB"/>
      </a:accent1>
      <a:accent2>
        <a:srgbClr val="887F79"/>
      </a:accent2>
      <a:accent3>
        <a:srgbClr val="C2BDB9"/>
      </a:accent3>
      <a:accent4>
        <a:srgbClr val="00A1E1"/>
      </a:accent4>
      <a:accent5>
        <a:srgbClr val="F69386"/>
      </a:accent5>
      <a:accent6>
        <a:srgbClr val="FF6B00"/>
      </a:accent6>
      <a:hlink>
        <a:srgbClr val="FF6B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bodyPr vert="horz" lIns="91440" tIns="45720" rIns="91440" bIns="45720" rtlCol="0">
        <a:normAutofit/>
      </a:bodyPr>
      <a:lstStyle>
        <a:defPPr>
          <a:defRPr sz="2000" dirty="0" smtClean="0">
            <a:solidFill>
              <a:prstClr val="black"/>
            </a:solidFill>
            <a:latin typeface="Source Sans Pro Light"/>
            <a:cs typeface="Source Sans Pro Light"/>
          </a:defRPr>
        </a:defPPr>
      </a:lstStyle>
    </a:txDef>
  </a:objectDefaults>
  <a:extraClrSchemeLst/>
</a:theme>
</file>

<file path=ppt/theme/theme3.xml><?xml version="1.0" encoding="utf-8"?>
<a:theme xmlns:a="http://schemas.openxmlformats.org/drawingml/2006/main" name="3_Office Theme">
  <a:themeElements>
    <a:clrScheme name="Custom 4">
      <a:dk1>
        <a:sysClr val="windowText" lastClr="000000"/>
      </a:dk1>
      <a:lt1>
        <a:sysClr val="window" lastClr="FFFFFF"/>
      </a:lt1>
      <a:dk2>
        <a:srgbClr val="004A74"/>
      </a:dk2>
      <a:lt2>
        <a:srgbClr val="FED292"/>
      </a:lt2>
      <a:accent1>
        <a:srgbClr val="E5E0DB"/>
      </a:accent1>
      <a:accent2>
        <a:srgbClr val="887F79"/>
      </a:accent2>
      <a:accent3>
        <a:srgbClr val="C2BDB9"/>
      </a:accent3>
      <a:accent4>
        <a:srgbClr val="00A1E1"/>
      </a:accent4>
      <a:accent5>
        <a:srgbClr val="F69386"/>
      </a:accent5>
      <a:accent6>
        <a:srgbClr val="FF6B00"/>
      </a:accent6>
      <a:hlink>
        <a:srgbClr val="FF6B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bodyPr vert="horz" lIns="91440" tIns="45720" rIns="91440" bIns="45720" rtlCol="0">
        <a:normAutofit/>
      </a:bodyPr>
      <a:lstStyle>
        <a:defPPr>
          <a:defRPr sz="2000" dirty="0" smtClean="0">
            <a:solidFill>
              <a:prstClr val="black"/>
            </a:solidFill>
            <a:latin typeface="Source Sans Pro Light"/>
            <a:cs typeface="Source Sans Pro Light"/>
          </a:defRPr>
        </a:defPPr>
      </a:lstStyle>
    </a:txDef>
  </a:objectDefaults>
  <a:extraClrSchemeLst/>
</a:theme>
</file>

<file path=ppt/theme/theme4.xml><?xml version="1.0" encoding="utf-8"?>
<a:theme xmlns:a="http://schemas.openxmlformats.org/drawingml/2006/main" name="2_Office Theme">
  <a:themeElements>
    <a:clrScheme name="Custom 4">
      <a:dk1>
        <a:sysClr val="windowText" lastClr="000000"/>
      </a:dk1>
      <a:lt1>
        <a:sysClr val="window" lastClr="FFFFFF"/>
      </a:lt1>
      <a:dk2>
        <a:srgbClr val="004A74"/>
      </a:dk2>
      <a:lt2>
        <a:srgbClr val="FED292"/>
      </a:lt2>
      <a:accent1>
        <a:srgbClr val="E5E0DB"/>
      </a:accent1>
      <a:accent2>
        <a:srgbClr val="887F79"/>
      </a:accent2>
      <a:accent3>
        <a:srgbClr val="C2BDB9"/>
      </a:accent3>
      <a:accent4>
        <a:srgbClr val="00A1E1"/>
      </a:accent4>
      <a:accent5>
        <a:srgbClr val="F69386"/>
      </a:accent5>
      <a:accent6>
        <a:srgbClr val="FF6B00"/>
      </a:accent6>
      <a:hlink>
        <a:srgbClr val="FF6B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5.xml><?xml version="1.0" encoding="utf-8"?>
<a:theme xmlns:a="http://schemas.openxmlformats.org/drawingml/2006/main" name="5_Office Theme">
  <a:themeElements>
    <a:clrScheme name="Custom 4">
      <a:dk1>
        <a:sysClr val="windowText" lastClr="000000"/>
      </a:dk1>
      <a:lt1>
        <a:sysClr val="window" lastClr="FFFFFF"/>
      </a:lt1>
      <a:dk2>
        <a:srgbClr val="004A74"/>
      </a:dk2>
      <a:lt2>
        <a:srgbClr val="FED292"/>
      </a:lt2>
      <a:accent1>
        <a:srgbClr val="E5E0DB"/>
      </a:accent1>
      <a:accent2>
        <a:srgbClr val="887F79"/>
      </a:accent2>
      <a:accent3>
        <a:srgbClr val="C2BDB9"/>
      </a:accent3>
      <a:accent4>
        <a:srgbClr val="00A1E1"/>
      </a:accent4>
      <a:accent5>
        <a:srgbClr val="F69386"/>
      </a:accent5>
      <a:accent6>
        <a:srgbClr val="FF6B00"/>
      </a:accent6>
      <a:hlink>
        <a:srgbClr val="FF6B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11141</TotalTime>
  <Words>3371</Words>
  <Application>Microsoft Macintosh PowerPoint</Application>
  <PresentationFormat>On-screen Show (4:3)</PresentationFormat>
  <Paragraphs>436</Paragraphs>
  <Slides>107</Slides>
  <Notes>16</Notes>
  <HiddenSlides>0</HiddenSlides>
  <MMClips>0</MMClips>
  <ScaleCrop>false</ScaleCrop>
  <HeadingPairs>
    <vt:vector size="8" baseType="variant">
      <vt:variant>
        <vt:lpstr>Fonts Used</vt:lpstr>
      </vt:variant>
      <vt:variant>
        <vt:i4>7</vt:i4>
      </vt:variant>
      <vt:variant>
        <vt:lpstr>Theme</vt:lpstr>
      </vt:variant>
      <vt:variant>
        <vt:i4>5</vt:i4>
      </vt:variant>
      <vt:variant>
        <vt:lpstr>Embedded OLE Servers</vt:lpstr>
      </vt:variant>
      <vt:variant>
        <vt:i4>1</vt:i4>
      </vt:variant>
      <vt:variant>
        <vt:lpstr>Slide Titles</vt:lpstr>
      </vt:variant>
      <vt:variant>
        <vt:i4>107</vt:i4>
      </vt:variant>
    </vt:vector>
  </HeadingPairs>
  <TitlesOfParts>
    <vt:vector size="120" baseType="lpstr">
      <vt:lpstr>Arial</vt:lpstr>
      <vt:lpstr>Calibri</vt:lpstr>
      <vt:lpstr>Cambria Math</vt:lpstr>
      <vt:lpstr>Source Sans Pro</vt:lpstr>
      <vt:lpstr>Source Sans Pro Light</vt:lpstr>
      <vt:lpstr>Verdana</vt:lpstr>
      <vt:lpstr>Wingdings</vt:lpstr>
      <vt:lpstr>PPT-Template_1-10-2014</vt:lpstr>
      <vt:lpstr>4_Office Theme</vt:lpstr>
      <vt:lpstr>3_Office Theme</vt:lpstr>
      <vt:lpstr>2_Office Theme</vt:lpstr>
      <vt:lpstr>5_Office Theme</vt:lpstr>
      <vt:lpstr>Equation</vt:lpstr>
      <vt:lpstr>Examples Data Analysis and Visualization</vt:lpstr>
      <vt:lpstr>Text Book</vt:lpstr>
      <vt:lpstr>Important RV – Standardization of Normal Distribution</vt:lpstr>
      <vt:lpstr>Example 1 – Normal Distribution</vt:lpstr>
      <vt:lpstr>Example 1 - answer</vt:lpstr>
      <vt:lpstr>Central Limit Theorem and Normal Distribution</vt:lpstr>
      <vt:lpstr>Example 2 – T-test</vt:lpstr>
      <vt:lpstr>Example 2 - answer</vt:lpstr>
      <vt:lpstr>T-Test with df 2 &amp; 8</vt:lpstr>
      <vt:lpstr>Confidence Interval based on Sample</vt:lpstr>
      <vt:lpstr>Confidence Interval </vt:lpstr>
      <vt:lpstr>Confidence intervals for proportion</vt:lpstr>
      <vt:lpstr>Two Sample Test/Procedure</vt:lpstr>
      <vt:lpstr>Two Sample Test/Procedure</vt:lpstr>
      <vt:lpstr>Confidence Interval</vt:lpstr>
      <vt:lpstr>Terminology </vt:lpstr>
      <vt:lpstr>Significant Test Recipe</vt:lpstr>
      <vt:lpstr>PowerPoint Presentation</vt:lpstr>
      <vt:lpstr>PowerPoint Presentation</vt:lpstr>
      <vt:lpstr>Test statistics</vt:lpstr>
      <vt:lpstr>Corrolation</vt:lpstr>
      <vt:lpstr>PowerPoint Presentation</vt:lpstr>
      <vt:lpstr>PowerPoint Presentation</vt:lpstr>
      <vt:lpstr>PowerPoint Presentation</vt:lpstr>
      <vt:lpstr>Linear Regression</vt:lpstr>
      <vt:lpstr>PowerPoint Presentation</vt:lpstr>
      <vt:lpstr>PowerPoint Presentation</vt:lpstr>
      <vt:lpstr>PowerPoint Presentation</vt:lpstr>
      <vt:lpstr>PowerPoint Presentation</vt:lpstr>
      <vt:lpstr>R2 Issues</vt:lpstr>
      <vt:lpstr>PowerPoint Presentation</vt:lpstr>
      <vt:lpstr>Another way of writing R2</vt:lpstr>
      <vt:lpstr>One parameter – Linear Regression </vt:lpstr>
      <vt:lpstr>PowerPoint Presentation</vt:lpstr>
      <vt:lpstr>PowerPoint Presentation</vt:lpstr>
      <vt:lpstr>PowerPoint Presentation</vt:lpstr>
      <vt:lpstr>PowerPoint Presentation</vt:lpstr>
      <vt:lpstr>Example – Predicting Stock value of company X based on PE</vt:lpstr>
      <vt:lpstr>Example – Predicting Stock value of company X based on PE</vt:lpstr>
      <vt:lpstr>Example – Age vs Cholesterol</vt:lpstr>
      <vt:lpstr>Example cont.</vt:lpstr>
      <vt:lpstr>Example cont.</vt:lpstr>
      <vt:lpstr>PowerPoint Presentation</vt:lpstr>
      <vt:lpstr>Slope confidence interval</vt:lpstr>
      <vt:lpstr>Multiple Linear Regression</vt:lpstr>
      <vt:lpstr>Multiple Linear Regression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 – Test Testing for Significance of Multiple Parameter</vt:lpstr>
      <vt:lpstr>General F function</vt:lpstr>
      <vt:lpstr>PowerPoint Presentation</vt:lpstr>
      <vt:lpstr>PowerPoint Presentation</vt:lpstr>
      <vt:lpstr>F- test example2</vt:lpstr>
      <vt:lpstr>Answer to Example 2</vt:lpstr>
      <vt:lpstr>F-Test Example 3</vt:lpstr>
      <vt:lpstr>F-Test Example 3 - Solution</vt:lpstr>
      <vt:lpstr>PowerPoint Presentation</vt:lpstr>
      <vt:lpstr>Example: Predicting grades </vt:lpstr>
      <vt:lpstr>Example: Improving prediction</vt:lpstr>
      <vt:lpstr>Example: Improving prediction further</vt:lpstr>
      <vt:lpstr>PowerPoint Presentation</vt:lpstr>
      <vt:lpstr>Multi Linear Regression –Numerical Solution</vt:lpstr>
      <vt:lpstr>PowerPoint Presentation</vt:lpstr>
      <vt:lpstr>Two sample test</vt:lpstr>
      <vt:lpstr>Two Sample Test/Procedure</vt:lpstr>
      <vt:lpstr>Confidence Interval</vt:lpstr>
      <vt:lpstr>ANOVA</vt:lpstr>
      <vt:lpstr>PowerPoint Presentation</vt:lpstr>
      <vt:lpstr>PowerPoint Presentation</vt:lpstr>
      <vt:lpstr>PowerPoint Presentation</vt:lpstr>
      <vt:lpstr>PowerPoint Presentation</vt:lpstr>
      <vt:lpstr>PowerPoint Presentation</vt:lpstr>
      <vt:lpstr>Error Type</vt:lpstr>
      <vt:lpstr>PowerPoint Presentation</vt:lpstr>
      <vt:lpstr>PowerPoint Presentation</vt:lpstr>
      <vt:lpstr>PowerPoint Presentation</vt:lpstr>
      <vt:lpstr>ANOVA vs Regression</vt:lpstr>
      <vt:lpstr>PowerPoint Presentation</vt:lpstr>
      <vt:lpstr>ANCOVA</vt:lpstr>
      <vt:lpstr>PowerPoint Presentation</vt:lpstr>
      <vt:lpstr>PowerPoint Presentation</vt:lpstr>
      <vt:lpstr>PowerPoint Presentation</vt:lpstr>
      <vt:lpstr>Two Way ANOVA</vt:lpstr>
      <vt:lpstr>PowerPoint Presentation</vt:lpstr>
      <vt:lpstr>PowerPoint Presentation</vt:lpstr>
      <vt:lpstr>Classification</vt:lpstr>
      <vt:lpstr>Logistic Function Is a Good Fit</vt:lpstr>
      <vt:lpstr>Logistic Regression &amp; Case Control Sampling</vt:lpstr>
      <vt:lpstr>PowerPoint Presentation</vt:lpstr>
      <vt:lpstr>PowerPoint Presentation</vt:lpstr>
      <vt:lpstr>PowerPoint Presentation</vt:lpstr>
      <vt:lpstr>PowerPoint Presentation</vt:lpstr>
      <vt:lpstr>Pros and Cons of Logistic Regression</vt:lpstr>
      <vt:lpstr>Polynomial and Piecewise Poly</vt:lpstr>
      <vt:lpstr>Polynomial Regression</vt:lpstr>
      <vt:lpstr>Bias-Variance Trade-off </vt:lpstr>
      <vt:lpstr>PowerPoint Presentation</vt:lpstr>
      <vt:lpstr>PowerPoint Presentation</vt:lpstr>
      <vt:lpstr>Overfitting and Model Selection</vt:lpstr>
      <vt:lpstr>Choosing the Optimum Model</vt:lpstr>
      <vt:lpstr>Assessing a Model </vt:lpstr>
      <vt:lpstr>Stepwise Selection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Data Analysis and Visualization</dc:title>
  <dc:creator>Farshid Alizadeh Shabdiz</dc:creator>
  <cp:lastModifiedBy>Farshid Alizadeh Shabdiz</cp:lastModifiedBy>
  <cp:revision>164</cp:revision>
  <dcterms:created xsi:type="dcterms:W3CDTF">2021-01-23T20:53:28Z</dcterms:created>
  <dcterms:modified xsi:type="dcterms:W3CDTF">2023-04-26T18:13:28Z</dcterms:modified>
</cp:coreProperties>
</file>