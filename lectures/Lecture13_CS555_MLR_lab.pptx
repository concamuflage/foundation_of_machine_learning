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17"/>
  </p:notesMasterIdLst>
  <p:handoutMasterIdLst>
    <p:handoutMasterId r:id="rId18"/>
  </p:handoutMasterIdLst>
  <p:sldIdLst>
    <p:sldId id="630" r:id="rId6"/>
    <p:sldId id="1004" r:id="rId7"/>
    <p:sldId id="256" r:id="rId8"/>
    <p:sldId id="257" r:id="rId9"/>
    <p:sldId id="258" r:id="rId10"/>
    <p:sldId id="1005" r:id="rId11"/>
    <p:sldId id="259" r:id="rId12"/>
    <p:sldId id="260" r:id="rId13"/>
    <p:sldId id="261" r:id="rId14"/>
    <p:sldId id="262" r:id="rId15"/>
    <p:sldId id="263" r:id="rId16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70" autoAdjust="0"/>
    <p:restoredTop sz="86395" autoAdjust="0"/>
  </p:normalViewPr>
  <p:slideViewPr>
    <p:cSldViewPr snapToGrid="0" snapToObjects="1">
      <p:cViewPr varScale="1">
        <p:scale>
          <a:sx n="110" d="100"/>
          <a:sy n="110" d="100"/>
        </p:scale>
        <p:origin x="1544" y="168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F24F4-3247-2B4F-AACD-C457ED29B7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3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760301"/>
            <a:chOff x="-3" y="6179278"/>
            <a:chExt cx="9158706" cy="760301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12229" y="6314023"/>
              <a:ext cx="4461482" cy="62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 userDrawn="1"/>
        </p:nvSpPr>
        <p:spPr>
          <a:xfrm>
            <a:off x="493229" y="6314023"/>
            <a:ext cx="4461482" cy="44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0BAA5-DBB9-7A4B-A9FE-B89B27DAD475}"/>
              </a:ext>
            </a:extLst>
          </p:cNvPr>
          <p:cNvSpPr txBox="1"/>
          <p:nvPr userDrawn="1"/>
        </p:nvSpPr>
        <p:spPr>
          <a:xfrm>
            <a:off x="2097157" y="651013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26AB9-E969-B14D-AB5F-12B30E87F44D}"/>
              </a:ext>
            </a:extLst>
          </p:cNvPr>
          <p:cNvSpPr txBox="1"/>
          <p:nvPr userDrawn="1"/>
        </p:nvSpPr>
        <p:spPr>
          <a:xfrm>
            <a:off x="2892287" y="653994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70CF7-CB2B-D341-85D1-DA8995C8F78B}"/>
              </a:ext>
            </a:extLst>
          </p:cNvPr>
          <p:cNvSpPr txBox="1"/>
          <p:nvPr userDrawn="1"/>
        </p:nvSpPr>
        <p:spPr>
          <a:xfrm>
            <a:off x="1828800" y="654988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B4D20-55F7-304C-B1B1-0E28EE1C7B7E}"/>
              </a:ext>
            </a:extLst>
          </p:cNvPr>
          <p:cNvSpPr txBox="1"/>
          <p:nvPr userDrawn="1"/>
        </p:nvSpPr>
        <p:spPr>
          <a:xfrm>
            <a:off x="1967948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8CC00E-C97E-7E4C-B48E-34F403E52B28}"/>
              </a:ext>
            </a:extLst>
          </p:cNvPr>
          <p:cNvSpPr txBox="1"/>
          <p:nvPr userDrawn="1"/>
        </p:nvSpPr>
        <p:spPr>
          <a:xfrm>
            <a:off x="1858617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647141" y="6436314"/>
            <a:ext cx="8384305" cy="288628"/>
            <a:chOff x="647141" y="6436314"/>
            <a:chExt cx="8384305" cy="288628"/>
          </a:xfrm>
        </p:grpSpPr>
        <p:pic>
          <p:nvPicPr>
            <p:cNvPr id="16" name="Picture 15" descr="logo-2.png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 userDrawn="1"/>
          </p:nvSpPr>
          <p:spPr>
            <a:xfrm>
              <a:off x="64714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740898" cy="1470394"/>
          </a:xfrm>
        </p:spPr>
        <p:txBody>
          <a:bodyPr>
            <a:normAutofit/>
          </a:bodyPr>
          <a:lstStyle/>
          <a:p>
            <a:r>
              <a:rPr lang="en-US" dirty="0"/>
              <a:t>Examples</a:t>
            </a:r>
            <a:br>
              <a:rPr lang="en-US" dirty="0"/>
            </a:br>
            <a:r>
              <a:rPr lang="en-US" dirty="0"/>
              <a:t>Data Analysis and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Fall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5D72C-45F9-FB4B-9F32-769A6721A690}"/>
              </a:ext>
            </a:extLst>
          </p:cNvPr>
          <p:cNvSpPr txBox="1"/>
          <p:nvPr/>
        </p:nvSpPr>
        <p:spPr>
          <a:xfrm>
            <a:off x="2379785" y="667043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92615A-690B-8F4E-B803-959AEE14E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“</a:t>
            </a:r>
            <a:r>
              <a:rPr lang="en-US" dirty="0" err="1"/>
              <a:t>mtcars</a:t>
            </a:r>
            <a:r>
              <a:rPr lang="en-US" dirty="0"/>
              <a:t>” dataset, embedded into R.</a:t>
            </a:r>
          </a:p>
          <a:p>
            <a:r>
              <a:rPr lang="en-US" dirty="0"/>
              <a:t>Use Confidence value of 95%.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202966-77DE-4745-9DD6-2950C1420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66849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How can we model the relationship between mpg and weight (</a:t>
            </a:r>
            <a:r>
              <a:rPr dirty="0" err="1"/>
              <a:t>wt</a:t>
            </a:r>
            <a:r>
              <a:rPr dirty="0"/>
              <a:t>) using a simple linear regression?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How can we extend the simple model to include multiple predictors for mpg?</a:t>
            </a:r>
            <a:r>
              <a:rPr lang="en-US" dirty="0"/>
              <a:t> As a function of </a:t>
            </a:r>
          </a:p>
          <a:p>
            <a:pPr lvl="1"/>
            <a:r>
              <a:rPr dirty="0" err="1"/>
              <a:t>wt</a:t>
            </a:r>
            <a:r>
              <a:rPr dirty="0"/>
              <a:t> + hp + </a:t>
            </a:r>
            <a:r>
              <a:rPr dirty="0" err="1"/>
              <a:t>disp</a:t>
            </a:r>
            <a:r>
              <a:rPr dirty="0"/>
              <a:t> + </a:t>
            </a:r>
            <a:r>
              <a:rPr dirty="0" err="1"/>
              <a:t>cyl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</a:t>
            </a:r>
            <a:r>
              <a:rPr dirty="0"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Question:</a:t>
            </a:r>
          </a:p>
          <a:p>
            <a:r>
              <a:rPr dirty="0"/>
              <a:t>Which predictors should be included in the multiple linear regression model stepwise</a:t>
            </a:r>
            <a:r>
              <a:rPr lang="en-US" dirty="0"/>
              <a:t> backward</a:t>
            </a:r>
            <a:r>
              <a:rPr dirty="0"/>
              <a:t> selection?</a:t>
            </a:r>
            <a:endParaRPr lang="en-US" dirty="0"/>
          </a:p>
          <a:p>
            <a:pPr lvl="1"/>
            <a:r>
              <a:rPr lang="en-US" dirty="0"/>
              <a:t>mpg ~ </a:t>
            </a:r>
            <a:r>
              <a:rPr lang="en-US" dirty="0" err="1"/>
              <a:t>wt</a:t>
            </a:r>
            <a:r>
              <a:rPr lang="en-US" dirty="0"/>
              <a:t> + hp + </a:t>
            </a:r>
            <a:r>
              <a:rPr lang="en-US" dirty="0" err="1"/>
              <a:t>disp</a:t>
            </a:r>
            <a:r>
              <a:rPr lang="en-US" dirty="0"/>
              <a:t> + drat + </a:t>
            </a:r>
            <a:r>
              <a:rPr lang="en-US" dirty="0" err="1"/>
              <a:t>qsec</a:t>
            </a:r>
            <a:r>
              <a:rPr lang="en-US" dirty="0"/>
              <a:t> + </a:t>
            </a:r>
            <a:r>
              <a:rPr lang="en-US" dirty="0" err="1"/>
              <a:t>cyl</a:t>
            </a:r>
            <a:r>
              <a:rPr lang="en-US" dirty="0"/>
              <a:t> + am</a:t>
            </a:r>
          </a:p>
          <a:p>
            <a:pPr lvl="1"/>
            <a:r>
              <a:rPr lang="en-US" dirty="0"/>
              <a:t>You can run this manually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1C29-2ECC-EE47-7350-875539C2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E0A0-47BC-EB17-B3C2-A8580472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</a:t>
            </a:r>
            <a:r>
              <a:rPr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BB6B-CDF6-35E1-ECDD-0CD269B76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Question:</a:t>
            </a:r>
          </a:p>
          <a:p>
            <a:r>
              <a:rPr dirty="0"/>
              <a:t>Which predictors should be included in the multiple linear regression model using AIC-based stepwise selection?</a:t>
            </a:r>
            <a:endParaRPr lang="en-US" dirty="0"/>
          </a:p>
          <a:p>
            <a:pPr lvl="1"/>
            <a:r>
              <a:rPr lang="en-US" dirty="0"/>
              <a:t>mpg ~ </a:t>
            </a:r>
            <a:r>
              <a:rPr lang="en-US" dirty="0" err="1"/>
              <a:t>wt</a:t>
            </a:r>
            <a:r>
              <a:rPr lang="en-US" dirty="0"/>
              <a:t> + hp + </a:t>
            </a:r>
            <a:r>
              <a:rPr lang="en-US" dirty="0" err="1"/>
              <a:t>disp</a:t>
            </a:r>
            <a:r>
              <a:rPr lang="en-US" dirty="0"/>
              <a:t> + drat + </a:t>
            </a:r>
            <a:r>
              <a:rPr lang="en-US" dirty="0" err="1"/>
              <a:t>qsec</a:t>
            </a:r>
            <a:r>
              <a:rPr lang="en-US" dirty="0"/>
              <a:t> + </a:t>
            </a:r>
            <a:r>
              <a:rPr lang="en-US" dirty="0" err="1"/>
              <a:t>cyl</a:t>
            </a:r>
            <a:r>
              <a:rPr lang="en-US" dirty="0"/>
              <a:t> + am</a:t>
            </a:r>
          </a:p>
          <a:p>
            <a:pPr lvl="1"/>
            <a:endParaRPr lang="en-US" dirty="0"/>
          </a:p>
          <a:p>
            <a:r>
              <a:rPr lang="en-US" dirty="0"/>
              <a:t>Use function:</a:t>
            </a:r>
          </a:p>
          <a:p>
            <a:pPr lvl="1"/>
            <a:r>
              <a:rPr dirty="0"/>
              <a:t>step(</a:t>
            </a:r>
            <a:r>
              <a:rPr dirty="0" err="1"/>
              <a:t>lm</a:t>
            </a:r>
            <a:r>
              <a:rPr dirty="0"/>
              <a:t>(mpg ~ </a:t>
            </a:r>
            <a:r>
              <a:rPr dirty="0" err="1"/>
              <a:t>wt</a:t>
            </a:r>
            <a:r>
              <a:rPr dirty="0"/>
              <a:t> + hp + </a:t>
            </a:r>
            <a:r>
              <a:rPr dirty="0" err="1"/>
              <a:t>disp</a:t>
            </a:r>
            <a:r>
              <a:rPr dirty="0"/>
              <a:t> + drat + </a:t>
            </a:r>
            <a:r>
              <a:rPr dirty="0" err="1"/>
              <a:t>qsec</a:t>
            </a:r>
            <a:r>
              <a:rPr dirty="0"/>
              <a:t> + </a:t>
            </a:r>
            <a:r>
              <a:rPr dirty="0" err="1"/>
              <a:t>cyl</a:t>
            </a:r>
            <a:r>
              <a:rPr dirty="0"/>
              <a:t> + am, data=</a:t>
            </a:r>
            <a:r>
              <a:rPr dirty="0" err="1"/>
              <a:t>df</a:t>
            </a:r>
            <a:r>
              <a:rPr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806307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Question:</a:t>
            </a:r>
          </a:p>
          <a:p>
            <a:r>
              <a:rPr dirty="0"/>
              <a:t>How does ridge regression shrink coefficients and handle multicollinearity in the mpg model?</a:t>
            </a:r>
            <a:endParaRPr lang="en-US" dirty="0"/>
          </a:p>
          <a:p>
            <a:pPr lvl="1"/>
            <a:r>
              <a:rPr lang="en-US" dirty="0"/>
              <a:t>mpg ~ </a:t>
            </a:r>
            <a:r>
              <a:rPr lang="en-US" dirty="0" err="1"/>
              <a:t>wt</a:t>
            </a:r>
            <a:r>
              <a:rPr lang="en-US" dirty="0"/>
              <a:t> + hp + </a:t>
            </a:r>
            <a:r>
              <a:rPr lang="en-US" dirty="0" err="1"/>
              <a:t>disp</a:t>
            </a:r>
            <a:r>
              <a:rPr lang="en-US" dirty="0"/>
              <a:t> + drat + </a:t>
            </a:r>
            <a:r>
              <a:rPr lang="en-US" dirty="0" err="1"/>
              <a:t>qsec</a:t>
            </a:r>
            <a:r>
              <a:rPr lang="en-US" dirty="0"/>
              <a:t> + </a:t>
            </a:r>
            <a:r>
              <a:rPr lang="en-US" dirty="0" err="1"/>
              <a:t>cyl</a:t>
            </a:r>
            <a:r>
              <a:rPr lang="en-US" dirty="0"/>
              <a:t> + am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glmnet</a:t>
            </a:r>
            <a:r>
              <a:rPr lang="en-US" dirty="0"/>
              <a:t> function with alpha=0</a:t>
            </a:r>
          </a:p>
          <a:p>
            <a:pPr lvl="1"/>
            <a:r>
              <a:rPr lang="en-US" dirty="0"/>
              <a:t>Use lambda = 1</a:t>
            </a:r>
          </a:p>
          <a:p>
            <a:pPr lvl="1"/>
            <a:endParaRPr lang="en-US" dirty="0"/>
          </a:p>
          <a:p>
            <a:r>
              <a:rPr lang="en-US" dirty="0"/>
              <a:t>Extra</a:t>
            </a:r>
          </a:p>
          <a:p>
            <a:pPr lvl="1"/>
            <a:r>
              <a:rPr lang="en-US" dirty="0"/>
              <a:t>Choose the best lambda?  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Lasso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Question:</a:t>
            </a:r>
          </a:p>
          <a:p>
            <a:r>
              <a:rPr dirty="0"/>
              <a:t>Which predictors are selected by lasso regression when predicting mpg?</a:t>
            </a:r>
          </a:p>
          <a:p>
            <a:pPr lvl="1"/>
            <a:r>
              <a:rPr lang="en-US" dirty="0"/>
              <a:t>mpg ~ </a:t>
            </a:r>
            <a:r>
              <a:rPr lang="en-US" dirty="0" err="1"/>
              <a:t>wt</a:t>
            </a:r>
            <a:r>
              <a:rPr lang="en-US" dirty="0"/>
              <a:t> + hp + </a:t>
            </a:r>
            <a:r>
              <a:rPr lang="en-US" dirty="0" err="1"/>
              <a:t>disp</a:t>
            </a:r>
            <a:r>
              <a:rPr lang="en-US" dirty="0"/>
              <a:t> + drat + </a:t>
            </a:r>
            <a:r>
              <a:rPr lang="en-US" dirty="0" err="1"/>
              <a:t>qsec</a:t>
            </a:r>
            <a:r>
              <a:rPr lang="en-US" dirty="0"/>
              <a:t> + </a:t>
            </a:r>
            <a:r>
              <a:rPr lang="en-US" dirty="0" err="1"/>
              <a:t>cyl</a:t>
            </a:r>
            <a:r>
              <a:rPr lang="en-US" dirty="0"/>
              <a:t> + am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glmnet</a:t>
            </a:r>
            <a:r>
              <a:rPr lang="en-US" dirty="0"/>
              <a:t> function with alpha=1</a:t>
            </a:r>
          </a:p>
          <a:p>
            <a:pPr lvl="1"/>
            <a:r>
              <a:rPr lang="en-US" dirty="0"/>
              <a:t>Use lambda = 0.05</a:t>
            </a:r>
          </a:p>
          <a:p>
            <a:pPr lvl="1"/>
            <a:endParaRPr lang="en-US" dirty="0"/>
          </a:p>
          <a:p>
            <a:r>
              <a:rPr lang="en-US" dirty="0"/>
              <a:t>Extra</a:t>
            </a:r>
          </a:p>
          <a:p>
            <a:pPr lvl="1"/>
            <a:r>
              <a:rPr lang="en-US" dirty="0"/>
              <a:t>Choose the best lambda?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Does the effect of weight (</a:t>
            </a:r>
            <a:r>
              <a:rPr dirty="0" err="1"/>
              <a:t>wt</a:t>
            </a:r>
            <a:r>
              <a:rPr dirty="0"/>
              <a:t>) on mpg depend on transmission type (am)?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Include hp and </a:t>
            </a:r>
            <a:r>
              <a:rPr lang="en-US" dirty="0" err="1"/>
              <a:t>cyl</a:t>
            </a:r>
            <a:r>
              <a:rPr lang="en-US" dirty="0"/>
              <a:t> in the model as well.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How can we model a nonlinear relationship between mpg and weight using polynomial regression?</a:t>
            </a:r>
            <a:endParaRPr lang="en-US" dirty="0"/>
          </a:p>
          <a:p>
            <a:pPr lvl="1"/>
            <a:r>
              <a:rPr lang="en-US" dirty="0"/>
              <a:t>Include hp and </a:t>
            </a:r>
            <a:r>
              <a:rPr lang="en-US" dirty="0" err="1"/>
              <a:t>cyl</a:t>
            </a:r>
            <a:r>
              <a:rPr lang="en-US" dirty="0"/>
              <a:t> in your model.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Regularized Polynomial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How does regularization (ridge/lasso) influence a polynomial regression model predicting mpg?</a:t>
            </a:r>
          </a:p>
          <a:p>
            <a:pPr lvl="1"/>
            <a:r>
              <a:rPr lang="en-US" dirty="0"/>
              <a:t>Use </a:t>
            </a:r>
            <a:r>
              <a:rPr dirty="0" err="1"/>
              <a:t>glmnet</a:t>
            </a:r>
            <a:r>
              <a:rPr dirty="0"/>
              <a:t>(</a:t>
            </a:r>
            <a:r>
              <a:rPr dirty="0" err="1"/>
              <a:t>X_poly</a:t>
            </a:r>
            <a:r>
              <a:rPr dirty="0"/>
              <a:t>, </a:t>
            </a:r>
            <a:r>
              <a:rPr dirty="0" err="1"/>
              <a:t>y_poly</a:t>
            </a:r>
            <a:r>
              <a:rPr dirty="0"/>
              <a:t>, alpha=0 or 1)</a:t>
            </a:r>
            <a:endParaRPr lang="en-US" dirty="0"/>
          </a:p>
          <a:p>
            <a:pPr lvl="1"/>
            <a:r>
              <a:rPr lang="en-US" dirty="0"/>
              <a:t>Lambda = 0.82</a:t>
            </a:r>
          </a:p>
          <a:p>
            <a:pPr lvl="1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13836</TotalTime>
  <Words>384</Words>
  <Application>Microsoft Macintosh PowerPoint</Application>
  <PresentationFormat>On-screen Show (4:3)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Source Sans Pro</vt:lpstr>
      <vt:lpstr>Source Sans Pro Light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Examples Data Analysis and Visualization</vt:lpstr>
      <vt:lpstr>Dataset</vt:lpstr>
      <vt:lpstr>Simple Linear Regression</vt:lpstr>
      <vt:lpstr>Multiple Linear Regression</vt:lpstr>
      <vt:lpstr>Backward Model Selection</vt:lpstr>
      <vt:lpstr>AIC Model Selection</vt:lpstr>
      <vt:lpstr>Ridge Regression</vt:lpstr>
      <vt:lpstr>Lasso Regression</vt:lpstr>
      <vt:lpstr>Interaction Model</vt:lpstr>
      <vt:lpstr>Polynomial Regression</vt:lpstr>
      <vt:lpstr>Regularized Polynomial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Data Analysis and Visualization</dc:title>
  <dc:creator>Farshid Alizadeh Shabdiz</dc:creator>
  <cp:lastModifiedBy>Alizadeh-Shabdiz, Farshid</cp:lastModifiedBy>
  <cp:revision>166</cp:revision>
  <dcterms:created xsi:type="dcterms:W3CDTF">2021-01-23T20:53:28Z</dcterms:created>
  <dcterms:modified xsi:type="dcterms:W3CDTF">2025-12-01T16:02:39Z</dcterms:modified>
</cp:coreProperties>
</file>